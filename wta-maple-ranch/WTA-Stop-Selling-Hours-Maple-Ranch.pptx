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4"/>
  </p:notesMasterIdLst>
  <p:sldIdLst>
    <p:sldId id="256" r:id="rId21"/>
    <p:sldId id="257" r:id="rId22"/>
    <p:sldId id="258" r:id="rId23"/>
    <p:sldId id="259" r:id="rId24"/>
    <p:sldId id="260" r:id="rId25"/>
    <p:sldId id="261" r:id="rId26"/>
    <p:sldId id="262" r:id="rId27"/>
    <p:sldId id="263" r:id="rId28"/>
    <p:sldId id="264" r:id="rId29"/>
    <p:sldId id="265" r:id="rId30"/>
    <p:sldId id="266" r:id="rId31"/>
    <p:sldId id="267" r:id="rId32"/>
    <p:sldId id="268" r:id="rId33"/>
    <p:sldId id="269" r:id="rId34"/>
    <p:sldId id="270" r:id="rId35"/>
    <p:sldId id="271" r:id="rId36"/>
    <p:sldId id="272" r:id="rId37"/>
    <p:sldId id="273" r:id="rId38"/>
    <p:sldId id="274" r:id="rId39"/>
    <p:sldId id="275" r:id="rId40"/>
    <p:sldId id="276" r:id="rId41"/>
    <p:sldId id="277" r:id="rId42"/>
    <p:sldId id="278" r:id="rId43"/>
  </p:sldIdLst>
  <p:sldSz cx="12192000" cy="6858000"/>
  <p:notesSz cx="6858000" cy="9144000"/>
  <p:embeddedFontLst>
    <p:embeddedFont>
      <p:font typeface="DM Sans 14pt" pitchFamily="2" charset="77"/>
      <p:regular r:id="rId45"/>
      <p:bold r:id="rId46"/>
      <p:italic r:id="rId47"/>
      <p:boldItalic r:id="rId48"/>
    </p:embeddedFont>
    <p:embeddedFont>
      <p:font typeface="DM Sans 14pt ExtraLight" pitchFamily="2" charset="77"/>
      <p:regular r:id="rId49"/>
      <p:bold r:id="rId50"/>
      <p:italic r:id="rId51"/>
      <p:boldItalic r:id="rId52"/>
    </p:embeddedFont>
    <p:embeddedFont>
      <p:font typeface="DM Sans 14pt SemiBold" pitchFamily="2" charset="77"/>
      <p:regular r:id="rId53"/>
      <p:bold r:id="rId54"/>
      <p:italic r:id="rId55"/>
      <p:boldItalic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vocation" id="{262D1113-3DD3-48F7-9C03-B594AE86458F}">
          <p14:sldIdLst>
            <p14:sldId id="256"/>
            <p14:sldId id="257"/>
            <p14:sldId id="258"/>
          </p14:sldIdLst>
        </p14:section>
        <p14:section name="Part 1 – Agency Economics 101" id="{4285E220-B32B-4ADA-BFD2-1DEC9C8CBF9A}">
          <p14:sldIdLst>
            <p14:sldId id="259"/>
            <p14:sldId id="260"/>
            <p14:sldId id="261"/>
            <p14:sldId id="262"/>
            <p14:sldId id="263"/>
          </p14:sldIdLst>
        </p14:section>
        <p14:section name="Part 2 – WTA in Action" id="{0FED26A9-A8DC-4633-8733-52060AB83DA8}">
          <p14:sldIdLst>
            <p14:sldId id="264"/>
            <p14:sldId id="265"/>
            <p14:sldId id="266"/>
            <p14:sldId id="267"/>
            <p14:sldId id="268"/>
          </p14:sldIdLst>
        </p14:section>
        <p14:section name="Part 3 – The Commercial Operating System" id="{7597EF53-1B95-4129-8A49-E81B235E67F7}">
          <p14:sldIdLst>
            <p14:sldId id="269"/>
            <p14:sldId id="270"/>
            <p14:sldId id="271"/>
            <p14:sldId id="272"/>
            <p14:sldId id="273"/>
            <p14:sldId id="274"/>
            <p14:sldId id="275"/>
            <p14:sldId id="276"/>
          </p14:sldIdLst>
        </p14:section>
        <p14:section name="The Wrap &amp; Q&amp;A" id="{9FA61DD8-664F-4650-9978-F514CB4B3757}">
          <p14:sldIdLst>
            <p14:sldId id="277"/>
            <p14:sldId id="27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D55B8A-9775-9915-1964-B7C74E4B60E3}" name="Jamal Gamby" initials="JG" userId="S::jgamby@wtads.com::5844a654-2af3-43f6-8f21-56b20bc5146d" providerId="AD"/>
  <p188:author id="{2831CAC7-FB86-12C4-C206-7797C3572331}" name="Dusty Sumner" initials="DS" userId="11d97796253fa49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33B2F"/>
    <a:srgbClr val="D45B2F"/>
    <a:srgbClr val="15223D"/>
    <a:srgbClr val="193F7F"/>
    <a:srgbClr val="FBFBFB"/>
    <a:srgbClr val="183968"/>
    <a:srgbClr val="102B52"/>
    <a:srgbClr val="0F2647"/>
    <a:srgbClr val="0F2B47"/>
    <a:srgbClr val="EAF3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CE39DD-36BC-FF2F-E6AD-B866F889ABC2}" v="2" dt="2026-02-03T21:35:17.628"/>
    <p1510:client id="{4EF6CB7C-0429-6447-86E0-9DD9B165E51C}" v="1" dt="2026-02-03T21:36:44.8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85"/>
    <p:restoredTop sz="94475"/>
  </p:normalViewPr>
  <p:slideViewPr>
    <p:cSldViewPr snapToGrid="0">
      <p:cViewPr varScale="1">
        <p:scale>
          <a:sx n="99" d="100"/>
          <a:sy n="99" d="100"/>
        </p:scale>
        <p:origin x="208" y="51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4.xml"/><Relationship Id="rId25" Type="http://schemas.openxmlformats.org/officeDocument/2006/relationships/slide" Target="slides/slide5.xml"/><Relationship Id="rId26" Type="http://schemas.openxmlformats.org/officeDocument/2006/relationships/slide" Target="slides/slide6.xml"/><Relationship Id="rId27" Type="http://schemas.openxmlformats.org/officeDocument/2006/relationships/slide" Target="slides/slide7.xml"/><Relationship Id="rId28" Type="http://schemas.openxmlformats.org/officeDocument/2006/relationships/slide" Target="slides/slide8.xml"/><Relationship Id="rId29" Type="http://schemas.openxmlformats.org/officeDocument/2006/relationships/slide" Target="slides/slide9.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13.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16.xml"/><Relationship Id="rId37" Type="http://schemas.openxmlformats.org/officeDocument/2006/relationships/slide" Target="slides/slide17.xml"/><Relationship Id="rId38" Type="http://schemas.openxmlformats.org/officeDocument/2006/relationships/slide" Target="slides/slide18.xml"/><Relationship Id="rId39" Type="http://schemas.openxmlformats.org/officeDocument/2006/relationships/slide" Target="slides/slide19.xml"/><Relationship Id="rId40" Type="http://schemas.openxmlformats.org/officeDocument/2006/relationships/slide" Target="slides/slide20.xml"/><Relationship Id="rId41" Type="http://schemas.openxmlformats.org/officeDocument/2006/relationships/slide" Target="slides/slide21.xml"/><Relationship Id="rId42" Type="http://schemas.openxmlformats.org/officeDocument/2006/relationships/slide" Target="slides/slide22.xml"/><Relationship Id="rId43" Type="http://schemas.openxmlformats.org/officeDocument/2006/relationships/slide" Target="slides/slide23.xml"/><Relationship Id="rId44" Type="http://schemas.openxmlformats.org/officeDocument/2006/relationships/notesMaster" Target="notesMasters/notesMaster1.xml"/><Relationship Id="rId45" Type="http://schemas.openxmlformats.org/officeDocument/2006/relationships/font" Target="fonts/font1.fntdata"/><Relationship Id="rId46" Type="http://schemas.openxmlformats.org/officeDocument/2006/relationships/font" Target="fonts/font2.fntdata"/><Relationship Id="rId47" Type="http://schemas.openxmlformats.org/officeDocument/2006/relationships/font" Target="fonts/font3.fntdata"/><Relationship Id="rId48" Type="http://schemas.openxmlformats.org/officeDocument/2006/relationships/font" Target="fonts/font4.fntdata"/><Relationship Id="rId49" Type="http://schemas.openxmlformats.org/officeDocument/2006/relationships/font" Target="fonts/font5.fntdata"/><Relationship Id="rId50" Type="http://schemas.openxmlformats.org/officeDocument/2006/relationships/font" Target="fonts/font6.fntdata"/><Relationship Id="rId51" Type="http://schemas.openxmlformats.org/officeDocument/2006/relationships/font" Target="fonts/font7.fntdata"/><Relationship Id="rId52" Type="http://schemas.openxmlformats.org/officeDocument/2006/relationships/font" Target="fonts/font8.fntdata"/><Relationship Id="rId53" Type="http://schemas.openxmlformats.org/officeDocument/2006/relationships/font" Target="fonts/font9.fntdata"/><Relationship Id="rId54" Type="http://schemas.openxmlformats.org/officeDocument/2006/relationships/font" Target="fonts/font10.fntdata"/><Relationship Id="rId55" Type="http://schemas.openxmlformats.org/officeDocument/2006/relationships/font" Target="fonts/font11.fntdata"/><Relationship Id="rId56" Type="http://schemas.openxmlformats.org/officeDocument/2006/relationships/font" Target="fonts/font12.fntdata"/><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 Id="rId61" Type="http://schemas.microsoft.com/office/2015/10/relationships/revisionInfo" Target="revisionInfo.xml"/><Relationship Id="rId6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B3B7BE-F32F-764A-95E5-78B318E533E9}" type="datetimeFigureOut">
              <a:rPr lang="en-US" smtClean="0"/>
              <a:t>3/12/26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EE6C3D-B459-CA43-8E1D-9E102752FDAD}" type="slidenum">
              <a:rPr lang="en-US" smtClean="0"/>
              <a:t>‹#›</a:t>
            </a:fld>
            <a:endParaRPr lang="en-US"/>
          </a:p>
        </p:txBody>
      </p:sp>
    </p:spTree>
    <p:extLst>
      <p:ext uri="{BB962C8B-B14F-4D97-AF65-F5344CB8AC3E}">
        <p14:creationId xmlns:p14="http://schemas.microsoft.com/office/powerpoint/2010/main" val="1462425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 – 02:00]  (2 min)</a:t>
            </a:r>
          </a:p>
          <a:p/>
          <a:p/>
          <a:p>
            <a:r>
              <a:t>OPEN — set the stage.</a:t>
            </a:r>
          </a:p>
          <a:p>
            <a:r>
              <a:t>• Thank Eric and the WTA leadership team for commissioning this work. This session is the start of how WTA will create, capture and scale value in FY2027.</a:t>
            </a:r>
          </a:p>
          <a:p>
            <a:r>
              <a:t>• Introduce yourself briefly: 20+ years in agency finance and commercial leadership across holding-company, independent and PE-backed agencies.</a:t>
            </a:r>
          </a:p>
          <a:p>
            <a:r>
              <a:t>• Frame the why: this is about how WTA creates, captures and scales value, and an elevation in how the agency values its own expertise, internally and externally.</a:t>
            </a:r>
          </a:p>
          <a:p>
            <a:r>
              <a:t>• Audience: WTA executives and select agency leadership. This session consolidates the finance, portfolio and commercial-model foundations into one hour.</a:t>
            </a:r>
          </a:p>
          <a:p/>
          <a:p>
            <a:r>
              <a:t>THE HOOK (deliver slowly):</a:t>
            </a:r>
          </a:p>
          <a:p>
            <a:r>
              <a:t>"You nailed the pitch. The creative was brilliant. And then procurement spent three weeks negotiating 25% of an Associate Creative Director.</a:t>
            </a:r>
          </a:p>
          <a:p>
            <a:r>
              <a:t>That's not a creative problem. That's a commercial model problem."</a:t>
            </a:r>
          </a:p>
          <a:p/>
          <a:p>
            <a:r>
              <a:t>Pause. Then: "For the next 60 minutes we're going to fix the commercial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 – 02:30]  (0.5 min)</a:t>
            </a:r>
          </a:p>
          <a:p/>
          <a:p/>
          <a:p>
            <a:r>
              <a:t>Quick roadmap — don't linger.</a:t>
            </a:r>
          </a:p>
          <a:p>
            <a:r>
              <a:t>"We'll start with why the market is breaking the hourly model, build a shared financial vocabulary with Eric's team, show you what that means for how you run your portfolio, and then introduce the new commercial model and how we roll it 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[02:30 – 05:00]  (2.5 min)</a:t>
            </a:r>
          </a:p>
          <a:p/>
          <a:p/>
          <a:p>
            <a:r>
              <a:t>Three pressures are colliding at the same time — none of them are going away.</a:t>
            </a:r>
          </a:p>
          <a:p/>
          <a:p>
            <a:r>
              <a:t>1. Economic scrutiny — every dollar is questioned. Clients want transparency and predictable ROI from agency partners.</a:t>
            </a:r>
          </a:p>
          <a:p>
            <a:r>
              <a:t>2. Procurement influence — rate cards get treated as commodities to grind down. Time is no longer a defensible pricing unit when procurement compares us line by line with every other vendor.</a:t>
            </a:r>
          </a:p>
          <a:p>
            <a:r>
              <a:t>3. AI &amp; technology disruption — the time it takes to deliver brilliance is compressing.</a:t>
            </a:r>
          </a:p>
          <a:p/>
          <a:p>
            <a:r>
              <a:t>KEY LINE: "When AI and modern expertise allow your team to do in two hours what used to take twenty, selling by the hour means efficiency is financial suicide."</a:t>
            </a:r>
          </a:p>
          <a:p/>
          <a:p>
            <a:r>
              <a:t>Transition: "Today, we shift from selling labor inputs to pricing packaged impact. But first, we need a shared language for how this agency actually makes money."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[05:00 – 05:30]  (0.5 min)</a:t>
            </a:r>
          </a:p>
          <a:p/>
          <a:p/>
          <a:p>
            <a:r>
              <a:t>Frame Part 1: "This is the universal financial vocabulary. It's aligned with Eric's finance team, so when you talk to Finance — and when Finance talks to you — we mean exactly the same thing by every term."</a:t>
            </a:r>
          </a:p>
          <a:p>
            <a:r>
              <a:t>(Before Maple Ranch: Eric to review terminology on the next four slides for consistency with WTA reporting.)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[05:30 – 08:30]  (3 min)</a:t>
            </a:r>
          </a:p>
          <a:p/>
          <a:p/>
          <a:p>
            <a:r>
              <a:t>Clarify terminology — this is the most common misunderstanding in agency finance.</a:t>
            </a:r>
          </a:p>
          <a:p/>
          <a:p>
            <a:r>
              <a:t>• Gross Billings: everything we invoice the client.</a:t>
            </a:r>
          </a:p>
          <a:p>
            <a:r>
              <a:t>• Pass-through / out-of-pocket: media spend, third-party production, research, travel. We bill it and the client reimburses it — but it was never ours. It flows through.</a:t>
            </a:r>
          </a:p>
          <a:p>
            <a:r>
              <a:t>• Net Revenue (Net Sales): what remains after pass-through. This is our true revenue baseline — every margin metric we discuss today is a percentage of Net Revenue, never of billings.</a:t>
            </a:r>
          </a:p>
          <a:p/>
          <a:p>
            <a:r>
              <a:t>Illustrative example: bill a client $1.0M, of which $400K is media and production pass-through → our Net Revenue is $600K.</a:t>
            </a:r>
          </a:p>
          <a:p/>
          <a:p>
            <a:r>
              <a:t>Ask the room: "On your biggest account, do you know the split between billings and Net Revenue?"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[08:30 – 12:00]  (3.5 min)</a:t>
            </a:r>
          </a:p>
          <a:p/>
          <a:p/>
          <a:p>
            <a:r>
              <a:t>Two kinds of cost — and only one of them is yours.</a:t>
            </a:r>
          </a:p>
          <a:p/>
          <a:p>
            <a:r>
              <a:t>DIRECT COSTS (in your control):</a:t>
            </a:r>
          </a:p>
          <a:p>
            <a:r>
              <a:t>• Direct labor — the salary, payroll taxes and benefits of the billable talent working on your accounts. Practically: % of a person's time on your client × their total compensation. Staffing decisions ARE cost decisions.</a:t>
            </a:r>
          </a:p>
          <a:p>
            <a:r>
              <a:t>• Non-billable client OOPs — whatever the client contract says we can't bill: local travel, entertainment, presentations, overtime meals/cars, unapproved travel — and write-offs (including reserves on aged WIP and A/R).</a:t>
            </a:r>
          </a:p>
          <a:p/>
          <a:p>
            <a:r>
              <a:t>INDIRECT COSTS / OVERHEAD (Finance's control): rent, IT infrastructure, admin, HR, legal, executive, new-business/pitch costs.</a:t>
            </a:r>
          </a:p>
          <a:p/>
          <a:p>
            <a:r>
              <a:t>KEY LINE: "Eric and the finance team manage the overhead. Your mandate as account leaders is managing the direct margin of your client engagements."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 – 16:00]  (4 min)</a:t>
            </a:r>
          </a:p>
          <a:p/>
          <a:p/>
          <a:p>
            <a:r>
              <a:t>This is the one metric that tells you whether an engagement is healthy.</a:t>
            </a:r>
          </a:p>
          <a:p/>
          <a:p>
            <a:r>
              <a:t>Direct Margin = Net Revenue − Direct Costs (direct labor + non-billable client OOPs). Express it as a % of Net Revenue.</a:t>
            </a:r>
          </a:p>
          <a:p/>
          <a:p>
            <a:r>
              <a:t>WTA benchmark: 55%–62% Direct Margin. Operating profit goal: 20%–25% net.</a:t>
            </a:r>
          </a:p>
          <a:p/>
          <a:p>
            <a:r>
              <a:t>Make the math simple: "For every $100K of Net Revenue, your direct labor and non-billable expenses should not exceed $38K–$45K."</a:t>
            </a:r>
          </a:p>
          <a:p>
            <a:r>
              <a:t>Walk the bar on the right: at the 55% floor, $45K of direct cost leaves $55K of direct margin. Overhead takes roughly $35K of that, leaving the $20K operating profit that hits our goal. Slip below the floor and profit is the first thing to go — overhead doesn't shrink because one account ran hot.</a:t>
            </a:r>
          </a:p>
          <a:p/>
          <a:p>
            <a:r>
              <a:t>KEY LINE: "When account leads consistently protect a 55%+ Direct Margin, the agency hits its profit goals — and that's what funds bonuses, raises, hiring and creative investment."</a:t>
            </a:r>
          </a:p>
          <a:p/>
          <a:p>
            <a:r>
              <a:t>(Eric: confirm the ~35% overhead illustration matches WTA's actual overhead ratio.)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[16:00 – 20:00]  (4 min)</a:t>
            </a:r>
          </a:p>
          <a:p/>
          <a:p/>
          <a:p>
            <a:r>
              <a:t>Make it interactive: show the three profiles and ask the room, "Which account would you rather run?" Let a few people answer before revealing the margins.</a:t>
            </a:r>
          </a:p>
          <a:p/>
          <a:p>
            <a:r>
              <a:t>• Account Alpha: $2.0M Net Revenue, $1.0M direct labor → 50% Direct Margin — below the 55% floor → 14% operating margin.</a:t>
            </a:r>
          </a:p>
          <a:p>
            <a:r>
              <a:t>• Account Gamma: $1.0M Net Revenue, $450K direct labor → 55% Direct Margin — right at the floor → 19% operating margin.</a:t>
            </a:r>
          </a:p>
          <a:p>
            <a:r>
              <a:t>• Account Beta: $250K Net Revenue, $100K direct labor → 60% Direct Margin — inside the band → 24% operating margin.</a:t>
            </a:r>
          </a:p>
          <a:p>
            <a:r>
              <a:t>(Overhead is allocated at the same ~35.6% of Net Revenue to each account in this example.)</a:t>
            </a:r>
          </a:p>
          <a:p/>
          <a:p>
            <a:r>
              <a:t>KEY LINE: "Account Alpha brings in 8x more top line than Beta, but Beta converts nearly double the profit percentage. In WTA's new operating model, we reward margin health and commercial discipline — not just top-line volume."</a:t>
            </a:r>
          </a:p>
          <a:p/>
          <a:p>
            <a:r>
              <a:t>Then the agency-total line: one large, under-margined account drags the whole agency to 17% — below our 20% goal — even though two of three accounts are healthy.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[20:00 – 20:30]  (0.5 min)</a:t>
            </a:r>
          </a:p>
          <a:p/>
          <a:p/>
          <a:p>
            <a:r>
              <a:t>"Now that we share the vocabulary, let's talk about who owns these numbers. The answer is: you do — with Finance and Operations right alongside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[20:30 – 24:00]  (3.5 min)</a:t>
            </a:r>
          </a:p>
          <a:p/>
          <a:p/>
          <a:p>
            <a:r>
              <a:t>The shift in mindset for account leads — and for Finance.</a:t>
            </a:r>
          </a:p>
          <a:p/>
          <a:p>
            <a:r>
              <a:t>• Account leads move from being passive recipients of quarterly finance reports to being active general managers of their client portfolio's margin. Revenue forecast and profitability targets are the gateway to evaluating the financial health of every client and portfolio — and you own them.</a:t>
            </a:r>
          </a:p>
          <a:p>
            <a:r>
              <a:t>• Finance changes too: no longer an auditing body checking timesheets after the fact, but your strategic co-pilot — helping you price, scope and structure growth before it's sold.</a:t>
            </a:r>
          </a:p>
          <a:p/>
          <a:p>
            <a:r>
              <a:t>There is cross-functional support behind every metric: Finance, Operations / resource management and project management partner with you on each account. Encourage every lead to meet their finance partner regularly — at minimum monthly.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[24:00 – 30:00]  (6 min)</a:t>
            </a:r>
          </a:p>
          <a:p/>
          <a:p/>
          <a:p>
            <a:r>
              <a:t>These are the levers that move Direct Margin. Walk each one with a real example from the room if you can.</a:t>
            </a:r>
          </a:p>
          <a:p/>
          <a:p>
            <a:r>
              <a:t>1. Pricing with buffer — never discount without pulling scope. If the budget is lower, offer options: reduce deliverables, explain the value at the full price, or show a higher-value option worth finding funding for. Fixed fees carry a baseline buffer of at least 10%.</a:t>
            </a:r>
          </a:p>
          <a:p>
            <a:r>
              <a:t>2. Staff mix &amp; seniority alignment — match talent level to task complexity. Senior people on commodity production is the fastest way to burn margin. Monitor staff mix against the agreed staff plan.</a:t>
            </a:r>
          </a:p>
          <a:p>
            <a:r>
              <a:t>3. Aggressive scope-creep management — know what's in and out of scope; flag out-of-scope requests the moment they happen; swap deliverables (keep the fee flat) or add deliverables and increase the fee. Never absorb unbilled hours. Document everything.</a:t>
            </a:r>
          </a:p>
          <a:p>
            <a:r>
              <a:t>4. Contract &amp; terms hygiene — signed estimate/SOW and PO before kickoff, every time (production included). This is how we eliminate WIP write-offs and aged receivables.</a:t>
            </a:r>
          </a:p>
          <a:p>
            <a:r>
              <a:t>5. Dynamic utilization planning — partner with resource management to keep the pipeline visible, so people move to other work during client delays and project gaps instead of sitting under-utilized.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[30:00 – 34:00]  (4 min)</a:t>
            </a:r>
          </a:p>
          <a:p/>
          <a:p/>
          <a:p>
            <a:r>
              <a:t>Introduce the more sophisticated way WTA will report growth and forecast targets.</a:t>
            </a:r>
          </a:p>
          <a:p/>
          <a:p>
            <a:r>
              <a:t>KEY LINE: "Top-down sets our annual ambition. Bottoms-up is how you drive it month by month. Eric's team needs your ground-level visibility into pipeline likelihoods, renewal dates and scope expansions to deploy agency resources accurately."</a:t>
            </a:r>
          </a:p>
          <a:p/>
          <a:p>
            <a:r>
              <a:t>Why it matters: accurate forecasts drive hiring and freelance approvals, resource allocation and whether the agency hits its profit target. A forecast that only changes at quarter-end is a surprise, not a forecast.</a:t>
            </a:r>
          </a:p>
          <a:p/>
          <a:p>
            <a:r>
              <a:t>The hybrid: leadership sets FY2027 targets by portfolio; account leads own the client-level forecast inside it and manage it dynamically as accounts move.</a:t>
            </a:r>
          </a:p>
          <a:p>
            <a:r>
              <a:t>(Confirm with Eric: WTA's forecast cadence and the tools account leads will update.)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[34:00 – 38:00]  (4 min)</a:t>
            </a:r>
          </a:p>
          <a:p/>
          <a:p/>
          <a:p>
            <a:r>
              <a:t>Every account in your portfolio gets a designation — and each designation has a different commercial posture and margin expectation.</a:t>
            </a:r>
          </a:p>
          <a:p/>
          <a:p>
            <a:r>
              <a:t>• Growth accounts: proactive upsells; introduce new solution sets.</a:t>
            </a:r>
          </a:p>
          <a:p>
            <a:r>
              <a:t>• Maintenance accounts: standardize scope, drive operational efficiency, defend margin.</a:t>
            </a:r>
          </a:p>
          <a:p>
            <a:r>
              <a:t>• Attrition / declining accounts: manage resource reallocation deliberately to protect margin — move people before the revenue disappears, not after.</a:t>
            </a:r>
          </a:p>
          <a:p>
            <a:r>
              <a:t>• New business: Standardized Solution Sets from proposal day one.</a:t>
            </a:r>
          </a:p>
          <a:p/>
          <a:p>
            <a:r>
              <a:t>Exercise to suggest for after the session: each account lead tags every client in their portfolio with one of these four before FY2027 planning.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[38:00 – 38:30]  (0.5 min)</a:t>
            </a:r>
          </a:p>
          <a:p/>
          <a:p/>
          <a:p>
            <a:r>
              <a:t>"Everything so far has been about managing margin inside today's model. Now let's change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[38:30 – 40:00]  (1.5 min)</a:t>
            </a:r>
          </a:p>
          <a:p/>
          <a:p/>
          <a:p>
            <a:r>
              <a:t>Define the term before we go deeper. A Commercial Operating System is the framework through which an agency consistently creates, prices, sells, contracts, delivers and measures value.</a:t>
            </a:r>
          </a:p>
          <a:p/>
          <a:p>
            <a:r>
              <a:t>Most agencies have invested heavily in how they deliver client work. Far fewer have invested in how they sell, package, price, contract and govern that work. The result is a commercial model that evolves organically: services get more customized, pricing varies client to client, proposals take longer, and profitability depends on individual judgment.</a:t>
            </a:r>
          </a:p>
          <a:p/>
          <a:p>
            <a:r>
              <a:t>KEY LINE: "The shift is from individual pricing judgment to a repeatable, governed commercial system — one that aligns strategy, pricing, finance, growth, account leadership and operations."</a:t>
            </a:r>
          </a:p>
          <a:p/>
          <a:p>
            <a:r>
              <a:t>Keep this brisk; the next slides show what it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[40:00 – 42:30]  (2.5 min)</a:t>
            </a:r>
          </a:p>
          <a:p/>
          <a:p/>
          <a:p>
            <a:r>
              <a:t>Today WTA largely sells time and materials and retainers. The evolved model sells defined products.</a:t>
            </a:r>
          </a:p>
          <a:p/>
          <a:p>
            <a:r>
              <a:t>Old model: "Here is a grid of 17 FTEs across 5 departments at a $190 blended rate."</a:t>
            </a:r>
          </a:p>
          <a:p>
            <a:r>
              <a:t>New model: "Here are three standardized, modular Solution Sets with defined outcomes and fixed pricing."</a:t>
            </a:r>
          </a:p>
          <a:p/>
          <a:p>
            <a:r>
              <a:t>CRITICAL CLARIFICATION — say all three explicitly; this is where people get confused:</a:t>
            </a:r>
          </a:p>
          <a:p>
            <a:r>
              <a:t>• It is NOT pay-for-performance or contingency risk.</a:t>
            </a:r>
          </a:p>
          <a:p>
            <a:r>
              <a:t>• It is NOT an unbundled, discounted à la carte menu.</a:t>
            </a:r>
          </a:p>
          <a:p>
            <a:r>
              <a:t>• It IS pre-packaged agency expertise with explicit boundaries.</a:t>
            </a:r>
          </a:p>
          <a:p/>
          <a:p>
            <a:r>
              <a:t>We can still customize to each client's needs — we just don't reinvent the wheel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[42:30 – 46:00]  (3.5 min)</a:t>
            </a:r>
          </a:p>
          <a:p/>
          <a:p/>
          <a:p>
            <a:r>
              <a:t>1. Define the Unit — what is the client actually buying? A campaign, a platform, a monthly stewardship. Clients don't care about 25% of an ACD, FTE counts, utilization rates or our staffing plan. They care about what their investment delivers.</a:t>
            </a:r>
          </a:p>
          <a:p>
            <a:r>
              <a:t>2. Define the Product — document exact inclusions and explicit exclusions: volume, platforms, asset types, cadence, rounds of revision, client responsibilities. "Ambiguity is where margin bleeds." Every undefined element is a future scope dispute.</a:t>
            </a:r>
          </a:p>
          <a:p>
            <a:r>
              <a:t>3. Price the Product — use historical effort to inform cost, but set the price on market value and client impact. Time informs pricing; it does not define it.</a:t>
            </a:r>
          </a:p>
          <a:p>
            <a:r>
              <a:t>4. Build the Offering — clear, decision-ready, menu-style proposals: product, scope definition, price per unit, quantity. Everything the client needs to decide in one view.</a:t>
            </a:r>
          </a:p>
          <a:p/>
          <a:p>
            <a:r>
              <a:t>Who participates: account leadership shapes the product from the client's perspective; commercial finance ensures it's clear, complete, priced consistently and protects margin.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[46:00 – 48:30]  (2.5 min)</a:t>
            </a:r>
          </a:p>
          <a:p/>
          <a:p/>
          <a:p>
            <a:r>
              <a:t>Illustrative retail parallel (coordinate the WTA framing with Abby before the session). Keep the prospect and agency unnamed.</a:t>
            </a:r>
          </a:p>
          <a:p/>
          <a:p>
            <a:r>
              <a:t>The setup: a large retail prospect issued a complex, multi-year RFP — no stated budget, shifting priorities, multiple initiatives, and a strong incumbent with deep relationships. On paper, unwinnable.</a:t>
            </a:r>
          </a:p>
          <a:p/>
          <a:p>
            <a:r>
              <a:t>The first response was the classic one: three FTE-based staffing options at a $190 blended hourly rate, over 19 months — $7.4M, $8.4M and $10.1M; 17 to 26 FTEs.</a:t>
            </a:r>
          </a:p>
          <a:p/>
          <a:p>
            <a:r>
              <a:t>The trap: no defined outcomes, no scope guardrails, no way for the client to know what they were actually buying. Procurement got bogged down auditing hours. Pricing drove to hours, not value.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[48:30 – 51:30]  (3 min)</a:t>
            </a:r>
          </a:p>
          <a:p/>
          <a:p/>
          <a:p>
            <a:r>
              <a:t>The rework: three products, each independently purchasable. The client builds its own portfolio.</a:t>
            </a:r>
          </a:p>
          <a:p/>
          <a:p>
            <a:r>
              <a:t>• Pulse Campaigns — targeted digital activation across 2 platforms, $75,000 per campaign. The client dials volume up or down; zero hourly renegotiation.</a:t>
            </a:r>
          </a:p>
          <a:p>
            <a:r>
              <a:t>• Milestone Activations — full multi-channel brand moments with full creative production, $500,000 per activation.</a:t>
            </a:r>
          </a:p>
          <a:p>
            <a:r>
              <a:t>• Monthly Strategic Stewardship — ongoing continuity, reporting and strategic advisory, $25,000 per month. No separate SOW required.</a:t>
            </a:r>
          </a:p>
          <a:p/>
          <a:p>
            <a:r>
              <a:t>The outcome: the underdog won — displacing a long-standing incumbent.</a:t>
            </a:r>
          </a:p>
          <a:p/>
          <a:p>
            <a:r>
              <a:t>KEY LINE: "The creative was great, but the commercial model was the deciding factor. The client had total budget predictability, and the agency had zero staffing debates."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[51:30 – 53:00]  (1.5 min)</a:t>
            </a:r>
          </a:p>
          <a:p/>
          <a:p/>
          <a:p>
            <a:r>
              <a:t>For the client: total clarity on what they're buying, flexibility to adjust volume without re-contracting, and budget certainty.</a:t>
            </a:r>
          </a:p>
          <a:p/>
          <a:p>
            <a:r>
              <a:t>For WTA account leads:</a:t>
            </a:r>
          </a:p>
          <a:p>
            <a:r>
              <a:t>• Faster speed to sale — no custom staffing plan built from scratch for every proposal.</a:t>
            </a:r>
          </a:p>
          <a:p>
            <a:r>
              <a:t>• No timesheet arguments with clients — we talk about outcomes, not hours.</a:t>
            </a:r>
          </a:p>
          <a:p>
            <a:r>
              <a:t>• Clear change orders — inclusions and exclusions are already written down, so out-of-scope is obvious to everyone.</a:t>
            </a:r>
          </a:p>
          <a:p>
            <a:r>
              <a:t>• Delivery teams execute proven solution sets instead of reinventing the wheel; repeating the same products builds deeper expertise, and there's no translation gap between what's in the contract and what gets executed.</a:t>
            </a:r>
          </a:p>
          <a:p/>
          <a:p>
            <a:r>
              <a:t>Bottom row is a PLACEHOLDER for a supporting case study and its results. Add or remove before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[53:00 – 55:00]  (2 min)</a:t>
            </a:r>
          </a:p>
          <a:p/>
          <a:p/>
          <a:p>
            <a:r>
              <a:t>We are starting with new business, and phasing the model into existing clients deliberately — client by client, with a strategic plan for when and how to introduce it.</a:t>
            </a:r>
          </a:p>
          <a:p/>
          <a:p>
            <a:r>
              <a:t>• Phase 1 (immediate / Q4): inbound RFPs and new business lead with Solution Sets.</a:t>
            </a:r>
          </a:p>
          <a:p>
            <a:r>
              <a:t>• Phase 2 (FY2027 planning): identify which existing client contracts transition during their annual renewal cycles, with a plan per client.</a:t>
            </a:r>
          </a:p>
          <a:p>
            <a:r>
              <a:t>• Phase 3 (January 1, 2027): full adoption across budgeting, forecasting and portfolio management.</a:t>
            </a:r>
          </a:p>
          <a:p/>
          <a:p>
            <a:r>
              <a:t>ENABLEMENT: reassure the room that account leads will be supported through implementation, so no one has to invent pricing from scratch.</a:t>
            </a:r>
          </a:p>
          <a:p/>
          <a:p>
            <a:r>
              <a:t>FINANCIAL GUARDRAIL (Eric's domain): timesheets are still required internally as the legal and audit record that measures direct labor cost and margin. We simply stop using them as the public pricing mechanism for clients.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[55:00 – 57:00]  (2 min)</a:t>
            </a:r>
          </a:p>
          <a:p/>
          <a:p/>
          <a:p>
            <a:r>
              <a:t>If you remember nothing else from today, remember these three.</a:t>
            </a:r>
          </a:p>
          <a:p/>
          <a:p>
            <a:r>
              <a:t>1. Direct Margin (55%–62%) is your primary health metric.</a:t>
            </a:r>
          </a:p>
          <a:p>
            <a:r>
              <a:t>2. Time informs our cost — it does not define our price. (Timesheets stay: they're how we measure cost and margin internally.)</a:t>
            </a:r>
          </a:p>
          <a:p>
            <a:r>
              <a:t>3. Just because our team can do something doesn't mean we should sell it without a defined scope. Productization creates focus; focus creates margin.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[57:00 – 60:00]  (3 min)</a:t>
            </a:r>
          </a:p>
          <a:p/>
          <a:p/>
          <a:p>
            <a:r>
              <a:t>Closing line before handing over: "Agencies shouldn't compete on how many hours they sell. They should compete on how effectively they create value — and how intentionally they capture it."</a:t>
            </a:r>
          </a:p>
          <a:p/>
          <a:p>
            <a:r>
              <a:t>Invite Eric (CFO) and commercial leadership to share brief closing remarks.</a:t>
            </a:r>
          </a:p>
          <a:p>
            <a:r>
              <a:t>Then open the floor to account leads for tactical questions.</a:t>
            </a:r>
          </a:p>
          <a:p/>
          <a:p>
            <a:r>
              <a:t>Likely questions to be ready for:</a:t>
            </a:r>
          </a:p>
          <a:p>
            <a:r>
              <a:t>• "Do we still fill out timesheets?" — Yes. Internally they measure cost and margin and are our legal/audit record; they're just no longer the client's price tag.</a:t>
            </a:r>
          </a:p>
          <a:p>
            <a:r>
              <a:t>• "What happens to my existing retainer clients?" — Nothing changes overnight. Phase 2 builds a client-by-client transition plan around renewal dates.</a:t>
            </a:r>
          </a:p>
          <a:p>
            <a:r>
              <a:t>• "What if a client insists on hours?" — We can still show effort internally to inform cost; the conversation we lead with is products and outcomes.</a:t>
            </a:r>
          </a:p>
          <a:p>
            <a:r>
              <a:t>• "Who sets the prices?" — Account leadership and commercial finance together, using shared pricing tools and a common product catalog.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red and blue background&#10;&#10;AI-generated content may be incorrect.">
            <a:extLst>
              <a:ext uri="{FF2B5EF4-FFF2-40B4-BE49-F238E27FC236}">
                <a16:creationId xmlns:a16="http://schemas.microsoft.com/office/drawing/2014/main" id="{ED22A472-765B-8798-F965-FF69E5965D2E}"/>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352A9EB-3CF8-51F1-2063-043EA0FE911C}"/>
              </a:ext>
            </a:extLst>
          </p:cNvPr>
          <p:cNvSpPr>
            <a:spLocks noGrp="1"/>
          </p:cNvSpPr>
          <p:nvPr>
            <p:ph type="title"/>
          </p:nvPr>
        </p:nvSpPr>
        <p:spPr>
          <a:xfrm>
            <a:off x="431315" y="2058839"/>
            <a:ext cx="7168978" cy="2238268"/>
          </a:xfrm>
        </p:spPr>
        <p:txBody>
          <a:bodyPr anchor="ctr"/>
          <a:lstStyle>
            <a:lvl1pPr>
              <a:defRPr sz="7500">
                <a:solidFill>
                  <a:schemeClr val="bg2"/>
                </a:solidFill>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7A125ED5-C775-CD9C-E69F-AA658DBE2CA4}"/>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2BF5880E-9786-96C3-F13E-98C9BB74775C}"/>
              </a:ext>
            </a:extLst>
          </p:cNvPr>
          <p:cNvPicPr>
            <a:picLocks noChangeAspect="1"/>
          </p:cNvPicPr>
          <p:nvPr userDrawn="1"/>
        </p:nvPicPr>
        <p:blipFill>
          <a:blip r:embed="rId4"/>
          <a:stretch>
            <a:fillRect/>
          </a:stretch>
        </p:blipFill>
        <p:spPr>
          <a:xfrm>
            <a:off x="10808329" y="6212665"/>
            <a:ext cx="927312" cy="377794"/>
          </a:xfrm>
          <a:prstGeom prst="rect">
            <a:avLst/>
          </a:prstGeom>
        </p:spPr>
      </p:pic>
      <p:sp>
        <p:nvSpPr>
          <p:cNvPr id="14" name="Picture Placeholder 27">
            <a:extLst>
              <a:ext uri="{FF2B5EF4-FFF2-40B4-BE49-F238E27FC236}">
                <a16:creationId xmlns:a16="http://schemas.microsoft.com/office/drawing/2014/main" id="{D92D9D9C-1D36-34F3-5B48-B16E06FD4C53}"/>
              </a:ext>
            </a:extLst>
          </p:cNvPr>
          <p:cNvSpPr>
            <a:spLocks noGrp="1"/>
          </p:cNvSpPr>
          <p:nvPr>
            <p:ph type="pic" sz="quarter" idx="12"/>
          </p:nvPr>
        </p:nvSpPr>
        <p:spPr>
          <a:xfrm>
            <a:off x="477624" y="939653"/>
            <a:ext cx="2187575" cy="741363"/>
          </a:xfrm>
          <a:prstGeom prst="rect">
            <a:avLst/>
          </a:prstGeom>
          <a:pattFill prst="wdUpDiag">
            <a:fgClr>
              <a:schemeClr val="tx1">
                <a:lumMod val="75000"/>
              </a:schemeClr>
            </a:fgClr>
            <a:bgClr>
              <a:schemeClr val="tx1">
                <a:lumMod val="50000"/>
              </a:schemeClr>
            </a:bgClr>
          </a:pattFill>
        </p:spPr>
        <p:txBody>
          <a:bodyPr/>
          <a:lstStyle/>
          <a:p>
            <a:endParaRPr lang="en-US"/>
          </a:p>
        </p:txBody>
      </p:sp>
      <p:sp>
        <p:nvSpPr>
          <p:cNvPr id="17" name="Date Placeholder 16">
            <a:extLst>
              <a:ext uri="{FF2B5EF4-FFF2-40B4-BE49-F238E27FC236}">
                <a16:creationId xmlns:a16="http://schemas.microsoft.com/office/drawing/2014/main" id="{B3BEA272-34B1-2940-5BAE-745754719C86}"/>
              </a:ext>
            </a:extLst>
          </p:cNvPr>
          <p:cNvSpPr>
            <a:spLocks noGrp="1"/>
          </p:cNvSpPr>
          <p:nvPr>
            <p:ph type="dt" sz="half" idx="13"/>
          </p:nvPr>
        </p:nvSpPr>
        <p:spPr/>
        <p:txBody>
          <a:bodyPr/>
          <a:lstStyle/>
          <a:p>
            <a:fld id="{C21E5767-6BB6-8347-966B-265950A71D0F}" type="datetime1">
              <a:rPr lang="en-US" smtClean="0"/>
              <a:t>3/12/26</a:t>
            </a:fld>
            <a:endParaRPr lang="en-US" dirty="0"/>
          </a:p>
        </p:txBody>
      </p:sp>
      <p:sp>
        <p:nvSpPr>
          <p:cNvPr id="20" name="Footer Placeholder 3">
            <a:extLst>
              <a:ext uri="{FF2B5EF4-FFF2-40B4-BE49-F238E27FC236}">
                <a16:creationId xmlns:a16="http://schemas.microsoft.com/office/drawing/2014/main" id="{0E62FB1D-5C95-528B-B85F-F4D4B4E9C9A0}"/>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21" name="Slide Number Placeholder 4">
            <a:extLst>
              <a:ext uri="{FF2B5EF4-FFF2-40B4-BE49-F238E27FC236}">
                <a16:creationId xmlns:a16="http://schemas.microsoft.com/office/drawing/2014/main" id="{2FC2235C-2650-9F83-B2F9-DF15866D3837}"/>
              </a:ext>
            </a:extLst>
          </p:cNvPr>
          <p:cNvSpPr>
            <a:spLocks noGrp="1"/>
          </p:cNvSpPr>
          <p:nvPr>
            <p:ph type="sldNum" sz="quarter" idx="14"/>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Tree>
    <p:extLst>
      <p:ext uri="{BB962C8B-B14F-4D97-AF65-F5344CB8AC3E}">
        <p14:creationId xmlns:p14="http://schemas.microsoft.com/office/powerpoint/2010/main" val="30382397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Section Header">
    <p:bg>
      <p:bgPr>
        <a:solidFill>
          <a:schemeClr val="accent1"/>
        </a:solidFill>
        <a:effectLst/>
      </p:bgPr>
    </p:bg>
    <p:spTree>
      <p:nvGrpSpPr>
        <p:cNvPr id="1" name=""/>
        <p:cNvGrpSpPr/>
        <p:nvPr/>
      </p:nvGrpSpPr>
      <p:grpSpPr>
        <a:xfrm>
          <a:off x="0" y="0"/>
          <a:ext cx="0" cy="0"/>
          <a:chOff x="0" y="0"/>
          <a:chExt cx="0" cy="0"/>
        </a:xfrm>
      </p:grpSpPr>
      <p:pic>
        <p:nvPicPr>
          <p:cNvPr id="7" name="Picture 6" descr="A blue background with lines&#10;&#10;AI-generated content may be incorrect.">
            <a:extLst>
              <a:ext uri="{FF2B5EF4-FFF2-40B4-BE49-F238E27FC236}">
                <a16:creationId xmlns:a16="http://schemas.microsoft.com/office/drawing/2014/main" id="{5AA18186-3B22-ECDA-20EA-266412110236}"/>
              </a:ext>
            </a:extLst>
          </p:cNvPr>
          <p:cNvPicPr>
            <a:picLocks noChangeAspect="1"/>
          </p:cNvPicPr>
          <p:nvPr userDrawn="1"/>
        </p:nvPicPr>
        <p:blipFill>
          <a:blip r:embed="rId2"/>
          <a:stretch>
            <a:fillRect/>
          </a:stretch>
        </p:blipFill>
        <p:spPr>
          <a:xfrm>
            <a:off x="0" y="0"/>
            <a:ext cx="12192000" cy="6858000"/>
          </a:xfrm>
          <a:prstGeom prst="rect">
            <a:avLst/>
          </a:prstGeom>
        </p:spPr>
      </p:pic>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6F65612A-EB47-5BF1-3924-8B101ABD600F}"/>
              </a:ext>
            </a:extLst>
          </p:cNvPr>
          <p:cNvSpPr txBox="1">
            <a:spLocks/>
          </p:cNvSpPr>
          <p:nvPr userDrawn="1"/>
        </p:nvSpPr>
        <p:spPr>
          <a:xfrm>
            <a:off x="3627413" y="1761320"/>
            <a:ext cx="169873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Let’</a:t>
            </a:r>
          </a:p>
        </p:txBody>
      </p:sp>
      <p:sp>
        <p:nvSpPr>
          <p:cNvPr id="14" name="Title 1">
            <a:extLst>
              <a:ext uri="{FF2B5EF4-FFF2-40B4-BE49-F238E27FC236}">
                <a16:creationId xmlns:a16="http://schemas.microsoft.com/office/drawing/2014/main" id="{EDBD1BE7-DCC7-C619-EF31-E84B6225D67B}"/>
              </a:ext>
            </a:extLst>
          </p:cNvPr>
          <p:cNvSpPr txBox="1">
            <a:spLocks/>
          </p:cNvSpPr>
          <p:nvPr userDrawn="1"/>
        </p:nvSpPr>
        <p:spPr>
          <a:xfrm>
            <a:off x="2116212" y="2749541"/>
            <a:ext cx="795957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forward together</a:t>
            </a:r>
          </a:p>
        </p:txBody>
      </p:sp>
      <p:sp>
        <p:nvSpPr>
          <p:cNvPr id="15" name="Title 1">
            <a:extLst>
              <a:ext uri="{FF2B5EF4-FFF2-40B4-BE49-F238E27FC236}">
                <a16:creationId xmlns:a16="http://schemas.microsoft.com/office/drawing/2014/main" id="{FA73980B-52C4-ABE7-0BCE-CA7BC94651E9}"/>
              </a:ext>
            </a:extLst>
          </p:cNvPr>
          <p:cNvSpPr txBox="1">
            <a:spLocks/>
          </p:cNvSpPr>
          <p:nvPr userDrawn="1"/>
        </p:nvSpPr>
        <p:spPr>
          <a:xfrm>
            <a:off x="5601714" y="1761320"/>
            <a:ext cx="2902205"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b="1" i="1" dirty="0">
                <a:solidFill>
                  <a:schemeClr val="accent3"/>
                </a:solidFill>
                <a:latin typeface="DM Sans 14pt SemiBold" pitchFamily="2" charset="77"/>
              </a:rPr>
              <a:t>move</a:t>
            </a:r>
          </a:p>
        </p:txBody>
      </p:sp>
      <p:sp>
        <p:nvSpPr>
          <p:cNvPr id="2" name="Footer Placeholder 3">
            <a:extLst>
              <a:ext uri="{FF2B5EF4-FFF2-40B4-BE49-F238E27FC236}">
                <a16:creationId xmlns:a16="http://schemas.microsoft.com/office/drawing/2014/main" id="{4D5DB054-30D4-8652-CB76-8060EB43685C}"/>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9837B33E-B733-2617-16F7-E1AA08B4875E}"/>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pic>
        <p:nvPicPr>
          <p:cNvPr id="4" name="Picture 3" descr="A close up of a logo&#10;&#10;AI-generated content may be incorrect.">
            <a:extLst>
              <a:ext uri="{FF2B5EF4-FFF2-40B4-BE49-F238E27FC236}">
                <a16:creationId xmlns:a16="http://schemas.microsoft.com/office/drawing/2014/main" id="{13A2274A-F90F-8984-B2BA-2754AEE823A4}"/>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8" name="Title 1">
            <a:extLst>
              <a:ext uri="{FF2B5EF4-FFF2-40B4-BE49-F238E27FC236}">
                <a16:creationId xmlns:a16="http://schemas.microsoft.com/office/drawing/2014/main" id="{670CD494-6AF9-964C-79DB-2F7EF1888542}"/>
              </a:ext>
            </a:extLst>
          </p:cNvPr>
          <p:cNvSpPr txBox="1">
            <a:spLocks/>
          </p:cNvSpPr>
          <p:nvPr userDrawn="1"/>
        </p:nvSpPr>
        <p:spPr>
          <a:xfrm>
            <a:off x="4994493" y="1761320"/>
            <a:ext cx="669641"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s</a:t>
            </a:r>
          </a:p>
        </p:txBody>
      </p:sp>
    </p:spTree>
    <p:extLst>
      <p:ext uri="{BB962C8B-B14F-4D97-AF65-F5344CB8AC3E}">
        <p14:creationId xmlns:p14="http://schemas.microsoft.com/office/powerpoint/2010/main" val="190235091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Section Header">
    <p:bg>
      <p:bgPr>
        <a:solidFill>
          <a:schemeClr val="accent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6F65612A-EB47-5BF1-3924-8B101ABD600F}"/>
              </a:ext>
            </a:extLst>
          </p:cNvPr>
          <p:cNvSpPr txBox="1">
            <a:spLocks/>
          </p:cNvSpPr>
          <p:nvPr userDrawn="1"/>
        </p:nvSpPr>
        <p:spPr>
          <a:xfrm>
            <a:off x="3627413" y="1761320"/>
            <a:ext cx="169873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Let’</a:t>
            </a:r>
          </a:p>
        </p:txBody>
      </p:sp>
      <p:sp>
        <p:nvSpPr>
          <p:cNvPr id="14" name="Title 1">
            <a:extLst>
              <a:ext uri="{FF2B5EF4-FFF2-40B4-BE49-F238E27FC236}">
                <a16:creationId xmlns:a16="http://schemas.microsoft.com/office/drawing/2014/main" id="{EDBD1BE7-DCC7-C619-EF31-E84B6225D67B}"/>
              </a:ext>
            </a:extLst>
          </p:cNvPr>
          <p:cNvSpPr txBox="1">
            <a:spLocks/>
          </p:cNvSpPr>
          <p:nvPr userDrawn="1"/>
        </p:nvSpPr>
        <p:spPr>
          <a:xfrm>
            <a:off x="2116212" y="2749541"/>
            <a:ext cx="795957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forward together</a:t>
            </a:r>
          </a:p>
        </p:txBody>
      </p:sp>
      <p:sp>
        <p:nvSpPr>
          <p:cNvPr id="15" name="Title 1">
            <a:extLst>
              <a:ext uri="{FF2B5EF4-FFF2-40B4-BE49-F238E27FC236}">
                <a16:creationId xmlns:a16="http://schemas.microsoft.com/office/drawing/2014/main" id="{FA73980B-52C4-ABE7-0BCE-CA7BC94651E9}"/>
              </a:ext>
            </a:extLst>
          </p:cNvPr>
          <p:cNvSpPr txBox="1">
            <a:spLocks/>
          </p:cNvSpPr>
          <p:nvPr userDrawn="1"/>
        </p:nvSpPr>
        <p:spPr>
          <a:xfrm>
            <a:off x="5601714" y="1761320"/>
            <a:ext cx="2902205"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b="1" i="1" dirty="0">
                <a:solidFill>
                  <a:schemeClr val="accent3"/>
                </a:solidFill>
                <a:latin typeface="DM Sans 14pt SemiBold" pitchFamily="2" charset="77"/>
              </a:rPr>
              <a:t>move</a:t>
            </a:r>
          </a:p>
        </p:txBody>
      </p:sp>
      <p:sp>
        <p:nvSpPr>
          <p:cNvPr id="2" name="Footer Placeholder 3">
            <a:extLst>
              <a:ext uri="{FF2B5EF4-FFF2-40B4-BE49-F238E27FC236}">
                <a16:creationId xmlns:a16="http://schemas.microsoft.com/office/drawing/2014/main" id="{4D5DB054-30D4-8652-CB76-8060EB43685C}"/>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9837B33E-B733-2617-16F7-E1AA08B4875E}"/>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pic>
        <p:nvPicPr>
          <p:cNvPr id="4" name="Picture 3" descr="A close up of a logo&#10;&#10;AI-generated content may be incorrect.">
            <a:extLst>
              <a:ext uri="{FF2B5EF4-FFF2-40B4-BE49-F238E27FC236}">
                <a16:creationId xmlns:a16="http://schemas.microsoft.com/office/drawing/2014/main" id="{13A2274A-F90F-8984-B2BA-2754AEE823A4}"/>
              </a:ext>
            </a:extLst>
          </p:cNvPr>
          <p:cNvPicPr>
            <a:picLocks noChangeAspect="1"/>
          </p:cNvPicPr>
          <p:nvPr userDrawn="1"/>
        </p:nvPicPr>
        <p:blipFill>
          <a:blip r:embed="rId2"/>
          <a:stretch>
            <a:fillRect/>
          </a:stretch>
        </p:blipFill>
        <p:spPr>
          <a:xfrm>
            <a:off x="10808329" y="6212665"/>
            <a:ext cx="927312" cy="377794"/>
          </a:xfrm>
          <a:prstGeom prst="rect">
            <a:avLst/>
          </a:prstGeom>
        </p:spPr>
      </p:pic>
      <p:sp>
        <p:nvSpPr>
          <p:cNvPr id="8" name="Title 1">
            <a:extLst>
              <a:ext uri="{FF2B5EF4-FFF2-40B4-BE49-F238E27FC236}">
                <a16:creationId xmlns:a16="http://schemas.microsoft.com/office/drawing/2014/main" id="{670CD494-6AF9-964C-79DB-2F7EF1888542}"/>
              </a:ext>
            </a:extLst>
          </p:cNvPr>
          <p:cNvSpPr txBox="1">
            <a:spLocks/>
          </p:cNvSpPr>
          <p:nvPr userDrawn="1"/>
        </p:nvSpPr>
        <p:spPr>
          <a:xfrm>
            <a:off x="4994493" y="1761320"/>
            <a:ext cx="669641"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s</a:t>
            </a:r>
          </a:p>
        </p:txBody>
      </p:sp>
    </p:spTree>
    <p:extLst>
      <p:ext uri="{BB962C8B-B14F-4D97-AF65-F5344CB8AC3E}">
        <p14:creationId xmlns:p14="http://schemas.microsoft.com/office/powerpoint/2010/main" val="1271401606"/>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Section Header">
    <p:bg>
      <p:bgPr>
        <a:gradFill>
          <a:gsLst>
            <a:gs pos="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pic>
        <p:nvPicPr>
          <p:cNvPr id="6" name="Picture 5" descr="A logo of a fire&#10;&#10;AI-generated content may be incorrect.">
            <a:extLst>
              <a:ext uri="{FF2B5EF4-FFF2-40B4-BE49-F238E27FC236}">
                <a16:creationId xmlns:a16="http://schemas.microsoft.com/office/drawing/2014/main" id="{C165C469-8D25-3A9D-5B66-B0163236EB4D}"/>
              </a:ext>
            </a:extLst>
          </p:cNvPr>
          <p:cNvPicPr>
            <a:picLocks noChangeAspect="1"/>
          </p:cNvPicPr>
          <p:nvPr userDrawn="1"/>
        </p:nvPicPr>
        <p:blipFill>
          <a:blip r:embed="rId2"/>
          <a:stretch>
            <a:fillRect/>
          </a:stretch>
        </p:blipFill>
        <p:spPr>
          <a:xfrm>
            <a:off x="5482488" y="368134"/>
            <a:ext cx="922221" cy="1117162"/>
          </a:xfrm>
          <a:prstGeom prst="rect">
            <a:avLst/>
          </a:prstGeom>
        </p:spPr>
      </p:pic>
      <p:sp>
        <p:nvSpPr>
          <p:cNvPr id="9" name="Title Placeholder 1">
            <a:extLst>
              <a:ext uri="{FF2B5EF4-FFF2-40B4-BE49-F238E27FC236}">
                <a16:creationId xmlns:a16="http://schemas.microsoft.com/office/drawing/2014/main" id="{07AF591C-C96D-A256-A3AD-38B8F90021BE}"/>
              </a:ext>
            </a:extLst>
          </p:cNvPr>
          <p:cNvSpPr>
            <a:spLocks noGrp="1"/>
          </p:cNvSpPr>
          <p:nvPr>
            <p:ph type="title" hasCustomPrompt="1"/>
          </p:nvPr>
        </p:nvSpPr>
        <p:spPr>
          <a:xfrm>
            <a:off x="1482363" y="2476729"/>
            <a:ext cx="8922470" cy="2698583"/>
          </a:xfrm>
          <a:prstGeom prst="rect">
            <a:avLst/>
          </a:prstGeom>
        </p:spPr>
        <p:txBody>
          <a:bodyPr vert="horz" lIns="0" tIns="0" rIns="91440" bIns="45720" rtlCol="0" anchor="t" anchorCtr="0">
            <a:noAutofit/>
          </a:bodyPr>
          <a:lstStyle>
            <a:lvl1pPr algn="ctr">
              <a:lnSpc>
                <a:spcPct val="95000"/>
              </a:lnSpc>
              <a:defRPr/>
            </a:lvl1pPr>
          </a:lstStyle>
          <a:p>
            <a:r>
              <a:rPr lang="en-US" dirty="0"/>
              <a:t>Click to add description overview here. Keep it brief and to the point. 1-3 short sentences only. Thank you.</a:t>
            </a:r>
          </a:p>
        </p:txBody>
      </p:sp>
      <p:sp>
        <p:nvSpPr>
          <p:cNvPr id="5" name="Text Placeholder 12">
            <a:extLst>
              <a:ext uri="{FF2B5EF4-FFF2-40B4-BE49-F238E27FC236}">
                <a16:creationId xmlns:a16="http://schemas.microsoft.com/office/drawing/2014/main" id="{5C7A8359-ED87-A1CF-B367-83C35960DC34}"/>
              </a:ext>
            </a:extLst>
          </p:cNvPr>
          <p:cNvSpPr>
            <a:spLocks noGrp="1"/>
          </p:cNvSpPr>
          <p:nvPr>
            <p:ph type="body" sz="quarter" idx="36" hasCustomPrompt="1"/>
          </p:nvPr>
        </p:nvSpPr>
        <p:spPr>
          <a:xfrm>
            <a:off x="4552093" y="1849373"/>
            <a:ext cx="2783009" cy="263277"/>
          </a:xfrm>
        </p:spPr>
        <p:txBody>
          <a:bodyPr wrap="square">
            <a:spAutoFit/>
          </a:bodyPr>
          <a:lstStyle>
            <a:lvl1pPr algn="ctr">
              <a:defRPr sz="1200" b="1" i="1">
                <a:solidFill>
                  <a:schemeClr val="accent3"/>
                </a:solidFill>
              </a:defRPr>
            </a:lvl1pPr>
          </a:lstStyle>
          <a:p>
            <a:pPr lvl="0"/>
            <a:r>
              <a:rPr lang="en-US" dirty="0"/>
              <a:t>Click to add section name</a:t>
            </a:r>
          </a:p>
        </p:txBody>
      </p:sp>
      <p:pic>
        <p:nvPicPr>
          <p:cNvPr id="7" name="Picture 6" descr="A blue and orange logo&#10;&#10;AI-generated content may be incorrect.">
            <a:extLst>
              <a:ext uri="{FF2B5EF4-FFF2-40B4-BE49-F238E27FC236}">
                <a16:creationId xmlns:a16="http://schemas.microsoft.com/office/drawing/2014/main" id="{71C0204F-B67A-BA54-D8C1-47DE6A3632B4}"/>
              </a:ext>
            </a:extLst>
          </p:cNvPr>
          <p:cNvPicPr>
            <a:picLocks noChangeAspect="1"/>
          </p:cNvPicPr>
          <p:nvPr userDrawn="1"/>
        </p:nvPicPr>
        <p:blipFill>
          <a:blip r:embed="rId3"/>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765472749"/>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pic>
        <p:nvPicPr>
          <p:cNvPr id="5" name="Picture 4" descr="A blue and orange logo&#10;&#10;AI-generated content may be incorrect.">
            <a:extLst>
              <a:ext uri="{FF2B5EF4-FFF2-40B4-BE49-F238E27FC236}">
                <a16:creationId xmlns:a16="http://schemas.microsoft.com/office/drawing/2014/main" id="{A6FEC2F5-4915-B7D9-A69E-311074122E44}"/>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4" name="Text Placeholder 12">
            <a:extLst>
              <a:ext uri="{FF2B5EF4-FFF2-40B4-BE49-F238E27FC236}">
                <a16:creationId xmlns:a16="http://schemas.microsoft.com/office/drawing/2014/main" id="{6439953C-0C1F-BDC0-9CE9-DACCCE8AAE20}"/>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38142556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2A9EB-3CF8-51F1-2063-043EA0FE911C}"/>
              </a:ext>
            </a:extLst>
          </p:cNvPr>
          <p:cNvSpPr>
            <a:spLocks noGrp="1"/>
          </p:cNvSpPr>
          <p:nvPr>
            <p:ph type="title"/>
          </p:nvPr>
        </p:nvSpPr>
        <p:spPr>
          <a:xfrm>
            <a:off x="431315" y="2058839"/>
            <a:ext cx="7168978" cy="2238268"/>
          </a:xfrm>
        </p:spPr>
        <p:txBody>
          <a:bodyPr anchor="ctr">
            <a:noAutofit/>
          </a:bodyPr>
          <a:lstStyle>
            <a:lvl1pPr>
              <a:defRPr sz="7500">
                <a:solidFill>
                  <a:schemeClr val="bg2"/>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cxnSp>
        <p:nvCxnSpPr>
          <p:cNvPr id="8" name="Straight Connector 7">
            <a:extLst>
              <a:ext uri="{FF2B5EF4-FFF2-40B4-BE49-F238E27FC236}">
                <a16:creationId xmlns:a16="http://schemas.microsoft.com/office/drawing/2014/main" id="{7A125ED5-C775-CD9C-E69F-AA658DBE2CA4}"/>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2BF5880E-9786-96C3-F13E-98C9BB74775C}"/>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6" name="Text Placeholder 12">
            <a:extLst>
              <a:ext uri="{FF2B5EF4-FFF2-40B4-BE49-F238E27FC236}">
                <a16:creationId xmlns:a16="http://schemas.microsoft.com/office/drawing/2014/main" id="{2843B30C-521E-42B5-0C67-64D59FF1FBE7}"/>
              </a:ext>
            </a:extLst>
          </p:cNvPr>
          <p:cNvSpPr>
            <a:spLocks noGrp="1"/>
          </p:cNvSpPr>
          <p:nvPr>
            <p:ph type="body" sz="quarter" idx="36" hasCustomPrompt="1"/>
          </p:nvPr>
        </p:nvSpPr>
        <p:spPr>
          <a:xfrm>
            <a:off x="446088" y="1681016"/>
            <a:ext cx="3198449" cy="263277"/>
          </a:xfrm>
        </p:spPr>
        <p:txBody>
          <a:bodyPr wrap="square">
            <a:noAutofit/>
          </a:bodyPr>
          <a:lstStyle>
            <a:lvl1pPr algn="l">
              <a:defRPr sz="1200" b="1" i="1">
                <a:solidFill>
                  <a:schemeClr val="bg2"/>
                </a:solidFill>
              </a:defRPr>
            </a:lvl1pPr>
          </a:lstStyle>
          <a:p>
            <a:pPr lvl="0"/>
            <a:r>
              <a:rPr lang="en-US" dirty="0"/>
              <a:t>Click to add section name</a:t>
            </a:r>
          </a:p>
        </p:txBody>
      </p:sp>
    </p:spTree>
    <p:extLst>
      <p:ext uri="{BB962C8B-B14F-4D97-AF65-F5344CB8AC3E}">
        <p14:creationId xmlns:p14="http://schemas.microsoft.com/office/powerpoint/2010/main" val="198948199"/>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08330" y="6226671"/>
            <a:ext cx="919102" cy="363673"/>
          </a:xfrm>
          <a:prstGeom prst="rect">
            <a:avLst/>
          </a:prstGeom>
        </p:spPr>
      </p:pic>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594360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5" name="Text Placeholder 12">
            <a:extLst>
              <a:ext uri="{FF2B5EF4-FFF2-40B4-BE49-F238E27FC236}">
                <a16:creationId xmlns:a16="http://schemas.microsoft.com/office/drawing/2014/main" id="{CA72B742-364A-3506-F874-B928BAC5D2E5}"/>
              </a:ext>
            </a:extLst>
          </p:cNvPr>
          <p:cNvSpPr>
            <a:spLocks noGrp="1"/>
          </p:cNvSpPr>
          <p:nvPr>
            <p:ph type="body" sz="quarter" idx="36" hasCustomPrompt="1"/>
          </p:nvPr>
        </p:nvSpPr>
        <p:spPr>
          <a:xfrm>
            <a:off x="446088" y="387691"/>
            <a:ext cx="3198449"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65915FC5-E519-8131-1739-4E1BA40CC74E}"/>
              </a:ext>
            </a:extLst>
          </p:cNvPr>
          <p:cNvSpPr>
            <a:spLocks noGrp="1"/>
          </p:cNvSpPr>
          <p:nvPr>
            <p:ph type="body" sz="quarter" idx="37" hasCustomPrompt="1"/>
          </p:nvPr>
        </p:nvSpPr>
        <p:spPr>
          <a:xfrm>
            <a:off x="446088" y="883083"/>
            <a:ext cx="4986337" cy="714594"/>
          </a:xfrm>
        </p:spPr>
        <p:txBody>
          <a:bodyPr wrap="square">
            <a:noAutofit/>
          </a:bodyPr>
          <a:lstStyle>
            <a:lvl1pPr algn="l">
              <a:defRPr sz="1800" b="1">
                <a:solidFill>
                  <a:schemeClr val="tx2"/>
                </a:solidFill>
              </a:defRPr>
            </a:lvl1pPr>
          </a:lstStyle>
          <a:p>
            <a:pPr lvl="0"/>
            <a:r>
              <a:rPr lang="en-US" dirty="0"/>
              <a:t>Click to edit slide</a:t>
            </a:r>
          </a:p>
        </p:txBody>
      </p:sp>
      <p:sp>
        <p:nvSpPr>
          <p:cNvPr id="16" name="Text Placeholder 12">
            <a:extLst>
              <a:ext uri="{FF2B5EF4-FFF2-40B4-BE49-F238E27FC236}">
                <a16:creationId xmlns:a16="http://schemas.microsoft.com/office/drawing/2014/main" id="{37C6B9C8-CD36-706E-9899-19BA55C816AF}"/>
              </a:ext>
            </a:extLst>
          </p:cNvPr>
          <p:cNvSpPr>
            <a:spLocks noGrp="1"/>
          </p:cNvSpPr>
          <p:nvPr>
            <p:ph type="body" sz="quarter" idx="38" hasCustomPrompt="1"/>
          </p:nvPr>
        </p:nvSpPr>
        <p:spPr>
          <a:xfrm>
            <a:off x="446087" y="1902022"/>
            <a:ext cx="4986337" cy="3515103"/>
          </a:xfrm>
        </p:spPr>
        <p:txBody>
          <a:bodyPr wrap="square">
            <a:noAutofit/>
          </a:bodyPr>
          <a:lstStyle>
            <a:lvl1pPr algn="l">
              <a:defRPr sz="1400" b="0" i="0">
                <a:solidFill>
                  <a:schemeClr val="tx1"/>
                </a:solidFill>
              </a:defRPr>
            </a:lvl1pPr>
          </a:lstStyle>
          <a:p>
            <a:pPr lvl="0"/>
            <a:r>
              <a:rPr lang="en-US" dirty="0"/>
              <a:t>Click to add text</a:t>
            </a:r>
          </a:p>
        </p:txBody>
      </p:sp>
    </p:spTree>
    <p:extLst>
      <p:ext uri="{BB962C8B-B14F-4D97-AF65-F5344CB8AC3E}">
        <p14:creationId xmlns:p14="http://schemas.microsoft.com/office/powerpoint/2010/main" val="384935869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5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08330" y="6226671"/>
            <a:ext cx="919102" cy="363673"/>
          </a:xfrm>
          <a:prstGeom prst="rect">
            <a:avLst/>
          </a:prstGeom>
        </p:spPr>
      </p:pic>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594360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5" name="Text Placeholder 12">
            <a:extLst>
              <a:ext uri="{FF2B5EF4-FFF2-40B4-BE49-F238E27FC236}">
                <a16:creationId xmlns:a16="http://schemas.microsoft.com/office/drawing/2014/main" id="{CA72B742-364A-3506-F874-B928BAC5D2E5}"/>
              </a:ext>
            </a:extLst>
          </p:cNvPr>
          <p:cNvSpPr>
            <a:spLocks noGrp="1"/>
          </p:cNvSpPr>
          <p:nvPr>
            <p:ph type="body" sz="quarter" idx="36" hasCustomPrompt="1"/>
          </p:nvPr>
        </p:nvSpPr>
        <p:spPr>
          <a:xfrm>
            <a:off x="446088" y="387691"/>
            <a:ext cx="3198449"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65915FC5-E519-8131-1739-4E1BA40CC74E}"/>
              </a:ext>
            </a:extLst>
          </p:cNvPr>
          <p:cNvSpPr>
            <a:spLocks noGrp="1"/>
          </p:cNvSpPr>
          <p:nvPr>
            <p:ph type="body" sz="quarter" idx="37" hasCustomPrompt="1"/>
          </p:nvPr>
        </p:nvSpPr>
        <p:spPr>
          <a:xfrm>
            <a:off x="446088" y="883083"/>
            <a:ext cx="4986337" cy="371833"/>
          </a:xfrm>
        </p:spPr>
        <p:txBody>
          <a:bodyPr wrap="square">
            <a:noAutofit/>
          </a:bodyPr>
          <a:lstStyle>
            <a:lvl1pPr algn="l">
              <a:defRPr sz="1800" b="1">
                <a:solidFill>
                  <a:schemeClr val="tx2"/>
                </a:solidFill>
              </a:defRPr>
            </a:lvl1pPr>
          </a:lstStyle>
          <a:p>
            <a:pPr lvl="0"/>
            <a:r>
              <a:rPr lang="en-US" dirty="0"/>
              <a:t>Click to edit slide</a:t>
            </a:r>
          </a:p>
        </p:txBody>
      </p:sp>
    </p:spTree>
    <p:extLst>
      <p:ext uri="{BB962C8B-B14F-4D97-AF65-F5344CB8AC3E}">
        <p14:creationId xmlns:p14="http://schemas.microsoft.com/office/powerpoint/2010/main" val="175060304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a:t>Add Metadata here in Slide Masster &gt; Insert &gt; Slide Number</a:t>
            </a:r>
            <a:endParaRPr lang="en-US" dirty="0"/>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6" name="Text Placeholder 12">
            <a:extLst>
              <a:ext uri="{FF2B5EF4-FFF2-40B4-BE49-F238E27FC236}">
                <a16:creationId xmlns:a16="http://schemas.microsoft.com/office/drawing/2014/main" id="{075003E9-602D-0ADA-5725-8E55DEB9267B}"/>
              </a:ext>
            </a:extLst>
          </p:cNvPr>
          <p:cNvSpPr>
            <a:spLocks noGrp="1"/>
          </p:cNvSpPr>
          <p:nvPr>
            <p:ph type="body" sz="quarter" idx="36" hasCustomPrompt="1"/>
          </p:nvPr>
        </p:nvSpPr>
        <p:spPr>
          <a:xfrm>
            <a:off x="6728038" y="387691"/>
            <a:ext cx="3199733"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9" name="Text Placeholder 12">
            <a:extLst>
              <a:ext uri="{FF2B5EF4-FFF2-40B4-BE49-F238E27FC236}">
                <a16:creationId xmlns:a16="http://schemas.microsoft.com/office/drawing/2014/main" id="{7EB05F2E-4BE5-9EB7-22F5-A6507CFA0B05}"/>
              </a:ext>
            </a:extLst>
          </p:cNvPr>
          <p:cNvSpPr>
            <a:spLocks noGrp="1"/>
          </p:cNvSpPr>
          <p:nvPr>
            <p:ph type="body" sz="quarter" idx="37" hasCustomPrompt="1"/>
          </p:nvPr>
        </p:nvSpPr>
        <p:spPr>
          <a:xfrm>
            <a:off x="6728038" y="883083"/>
            <a:ext cx="4986337" cy="714594"/>
          </a:xfrm>
        </p:spPr>
        <p:txBody>
          <a:bodyPr wrap="square">
            <a:noAutofit/>
          </a:bodyPr>
          <a:lstStyle>
            <a:lvl1pPr algn="l">
              <a:defRPr sz="1800" b="1">
                <a:solidFill>
                  <a:schemeClr val="tx2"/>
                </a:solidFill>
              </a:defRPr>
            </a:lvl1pPr>
          </a:lstStyle>
          <a:p>
            <a:pPr lvl="0"/>
            <a:r>
              <a:rPr lang="en-US" dirty="0"/>
              <a:t>Click to edit slide</a:t>
            </a:r>
          </a:p>
        </p:txBody>
      </p:sp>
      <p:pic>
        <p:nvPicPr>
          <p:cNvPr id="7" name="Picture 6" descr="A blue and orange logo&#10;&#10;AI-generated content may be incorrect.">
            <a:extLst>
              <a:ext uri="{FF2B5EF4-FFF2-40B4-BE49-F238E27FC236}">
                <a16:creationId xmlns:a16="http://schemas.microsoft.com/office/drawing/2014/main" id="{7C624A33-6E39-A66E-4FE5-10A947A5F02B}"/>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17" name="Text Placeholder 12">
            <a:extLst>
              <a:ext uri="{FF2B5EF4-FFF2-40B4-BE49-F238E27FC236}">
                <a16:creationId xmlns:a16="http://schemas.microsoft.com/office/drawing/2014/main" id="{E2341F54-EC0C-B24C-2BF7-6E86B1CF916B}"/>
              </a:ext>
            </a:extLst>
          </p:cNvPr>
          <p:cNvSpPr>
            <a:spLocks noGrp="1"/>
          </p:cNvSpPr>
          <p:nvPr>
            <p:ph type="body" sz="quarter" idx="38" hasCustomPrompt="1"/>
          </p:nvPr>
        </p:nvSpPr>
        <p:spPr>
          <a:xfrm>
            <a:off x="6728037" y="1902022"/>
            <a:ext cx="4986337" cy="3515103"/>
          </a:xfrm>
        </p:spPr>
        <p:txBody>
          <a:bodyPr wrap="square">
            <a:noAutofit/>
          </a:bodyPr>
          <a:lstStyle>
            <a:lvl1pPr algn="l">
              <a:defRPr sz="1400" b="0" i="0">
                <a:solidFill>
                  <a:schemeClr val="tx1"/>
                </a:solidFill>
              </a:defRPr>
            </a:lvl1pPr>
          </a:lstStyle>
          <a:p>
            <a:pPr lvl="0"/>
            <a:r>
              <a:rPr lang="en-US" dirty="0"/>
              <a:t>Click to add text</a:t>
            </a:r>
          </a:p>
        </p:txBody>
      </p:sp>
    </p:spTree>
    <p:extLst>
      <p:ext uri="{BB962C8B-B14F-4D97-AF65-F5344CB8AC3E}">
        <p14:creationId xmlns:p14="http://schemas.microsoft.com/office/powerpoint/2010/main" val="169843334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6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a:t>Add Metadata here in Slide Masster &gt; Insert &gt; Slide Number</a:t>
            </a:r>
            <a:endParaRPr lang="en-US" dirty="0"/>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6" name="Text Placeholder 12">
            <a:extLst>
              <a:ext uri="{FF2B5EF4-FFF2-40B4-BE49-F238E27FC236}">
                <a16:creationId xmlns:a16="http://schemas.microsoft.com/office/drawing/2014/main" id="{075003E9-602D-0ADA-5725-8E55DEB9267B}"/>
              </a:ext>
            </a:extLst>
          </p:cNvPr>
          <p:cNvSpPr>
            <a:spLocks noGrp="1"/>
          </p:cNvSpPr>
          <p:nvPr>
            <p:ph type="body" sz="quarter" idx="36" hasCustomPrompt="1"/>
          </p:nvPr>
        </p:nvSpPr>
        <p:spPr>
          <a:xfrm>
            <a:off x="6728038" y="387691"/>
            <a:ext cx="3199733"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9" name="Text Placeholder 12">
            <a:extLst>
              <a:ext uri="{FF2B5EF4-FFF2-40B4-BE49-F238E27FC236}">
                <a16:creationId xmlns:a16="http://schemas.microsoft.com/office/drawing/2014/main" id="{7EB05F2E-4BE5-9EB7-22F5-A6507CFA0B05}"/>
              </a:ext>
            </a:extLst>
          </p:cNvPr>
          <p:cNvSpPr>
            <a:spLocks noGrp="1"/>
          </p:cNvSpPr>
          <p:nvPr>
            <p:ph type="body" sz="quarter" idx="37" hasCustomPrompt="1"/>
          </p:nvPr>
        </p:nvSpPr>
        <p:spPr>
          <a:xfrm>
            <a:off x="6728038" y="883083"/>
            <a:ext cx="4986337" cy="714594"/>
          </a:xfrm>
        </p:spPr>
        <p:txBody>
          <a:bodyPr wrap="square">
            <a:noAutofit/>
          </a:bodyPr>
          <a:lstStyle>
            <a:lvl1pPr algn="l">
              <a:defRPr sz="1800" b="1">
                <a:solidFill>
                  <a:schemeClr val="tx2"/>
                </a:solidFill>
              </a:defRPr>
            </a:lvl1pPr>
          </a:lstStyle>
          <a:p>
            <a:pPr lvl="0"/>
            <a:r>
              <a:rPr lang="en-US" dirty="0"/>
              <a:t>Click to edit slide</a:t>
            </a:r>
          </a:p>
        </p:txBody>
      </p:sp>
      <p:pic>
        <p:nvPicPr>
          <p:cNvPr id="7" name="Picture 6" descr="A blue and orange logo&#10;&#10;AI-generated content may be incorrect.">
            <a:extLst>
              <a:ext uri="{FF2B5EF4-FFF2-40B4-BE49-F238E27FC236}">
                <a16:creationId xmlns:a16="http://schemas.microsoft.com/office/drawing/2014/main" id="{7C624A33-6E39-A66E-4FE5-10A947A5F02B}"/>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2991179214"/>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Section Header">
    <p:spTree>
      <p:nvGrpSpPr>
        <p:cNvPr id="1" name=""/>
        <p:cNvGrpSpPr/>
        <p:nvPr/>
      </p:nvGrpSpPr>
      <p:grpSpPr>
        <a:xfrm>
          <a:off x="0" y="0"/>
          <a:ext cx="0" cy="0"/>
          <a:chOff x="0" y="0"/>
          <a:chExt cx="0" cy="0"/>
        </a:xfrm>
      </p:grpSpPr>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1" y="-1"/>
            <a:ext cx="8152011" cy="6857993"/>
          </a:xfrm>
          <a:pattFill prst="wdUpDiag">
            <a:fgClr>
              <a:schemeClr val="tx1">
                <a:lumMod val="75000"/>
              </a:schemeClr>
            </a:fgClr>
            <a:bgClr>
              <a:schemeClr val="tx1">
                <a:lumMod val="50000"/>
              </a:schemeClr>
            </a:bgClr>
          </a:pattFill>
        </p:spPr>
        <p:txBody>
          <a:bodyPr/>
          <a:lstStyle/>
          <a:p>
            <a:endParaRPr lang="en-US"/>
          </a:p>
        </p:txBody>
      </p:sp>
      <p:sp>
        <p:nvSpPr>
          <p:cNvPr id="5" name="Rectangle 4">
            <a:extLst>
              <a:ext uri="{FF2B5EF4-FFF2-40B4-BE49-F238E27FC236}">
                <a16:creationId xmlns:a16="http://schemas.microsoft.com/office/drawing/2014/main" id="{BB043FF6-E4EA-BBB6-A56D-4A8857EF4853}"/>
              </a:ext>
            </a:extLst>
          </p:cNvPr>
          <p:cNvSpPr/>
          <p:nvPr userDrawn="1"/>
        </p:nvSpPr>
        <p:spPr>
          <a:xfrm>
            <a:off x="8152010" y="7"/>
            <a:ext cx="4069080" cy="68579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noAutofit/>
          </a:bodyPr>
          <a:lstStyle/>
          <a:p>
            <a:pPr algn="ctr"/>
            <a:endParaRPr lang="en-US" dirty="0"/>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endParaRPr lang="en-US" dirty="0">
              <a:solidFill>
                <a:schemeClr val="bg2"/>
              </a:solidFill>
            </a:endParaRP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13" name="Picture 12" descr="A white arrow in a circle&#10;&#10;AI-generated content may be incorrect.">
            <a:extLst>
              <a:ext uri="{FF2B5EF4-FFF2-40B4-BE49-F238E27FC236}">
                <a16:creationId xmlns:a16="http://schemas.microsoft.com/office/drawing/2014/main" id="{4B7CC05E-9ECF-A04F-B8B5-AE1B3123D807}"/>
              </a:ext>
            </a:extLst>
          </p:cNvPr>
          <p:cNvPicPr>
            <a:picLocks noChangeAspect="1"/>
          </p:cNvPicPr>
          <p:nvPr userDrawn="1"/>
        </p:nvPicPr>
        <p:blipFill>
          <a:blip r:embed="rId2"/>
          <a:stretch>
            <a:fillRect/>
          </a:stretch>
        </p:blipFill>
        <p:spPr>
          <a:xfrm>
            <a:off x="8611295" y="1770190"/>
            <a:ext cx="307473" cy="307473"/>
          </a:xfrm>
          <a:prstGeom prst="rect">
            <a:avLst/>
          </a:prstGeom>
        </p:spPr>
      </p:pic>
      <p:pic>
        <p:nvPicPr>
          <p:cNvPr id="14" name="Picture 13" descr="A white arrow in a circle&#10;&#10;AI-generated content may be incorrect.">
            <a:extLst>
              <a:ext uri="{FF2B5EF4-FFF2-40B4-BE49-F238E27FC236}">
                <a16:creationId xmlns:a16="http://schemas.microsoft.com/office/drawing/2014/main" id="{C91755A8-93C1-D764-4122-8DF47693897D}"/>
              </a:ext>
            </a:extLst>
          </p:cNvPr>
          <p:cNvPicPr>
            <a:picLocks noChangeAspect="1"/>
          </p:cNvPicPr>
          <p:nvPr userDrawn="1"/>
        </p:nvPicPr>
        <p:blipFill>
          <a:blip r:embed="rId2"/>
          <a:stretch>
            <a:fillRect/>
          </a:stretch>
        </p:blipFill>
        <p:spPr>
          <a:xfrm>
            <a:off x="8611295" y="2936281"/>
            <a:ext cx="307473" cy="307473"/>
          </a:xfrm>
          <a:prstGeom prst="rect">
            <a:avLst/>
          </a:prstGeom>
        </p:spPr>
      </p:pic>
      <p:pic>
        <p:nvPicPr>
          <p:cNvPr id="15" name="Picture 14" descr="A white arrow in a circle&#10;&#10;AI-generated content may be incorrect.">
            <a:extLst>
              <a:ext uri="{FF2B5EF4-FFF2-40B4-BE49-F238E27FC236}">
                <a16:creationId xmlns:a16="http://schemas.microsoft.com/office/drawing/2014/main" id="{60EB8292-D5E4-FA6A-4AB3-F88EAF8BEF42}"/>
              </a:ext>
            </a:extLst>
          </p:cNvPr>
          <p:cNvPicPr>
            <a:picLocks noChangeAspect="1"/>
          </p:cNvPicPr>
          <p:nvPr userDrawn="1"/>
        </p:nvPicPr>
        <p:blipFill>
          <a:blip r:embed="rId2"/>
          <a:stretch>
            <a:fillRect/>
          </a:stretch>
        </p:blipFill>
        <p:spPr>
          <a:xfrm>
            <a:off x="8611295" y="4102372"/>
            <a:ext cx="307473" cy="307473"/>
          </a:xfrm>
          <a:prstGeom prst="rect">
            <a:avLst/>
          </a:prstGeom>
        </p:spPr>
      </p:pic>
      <p:sp>
        <p:nvSpPr>
          <p:cNvPr id="20" name="Text Placeholder 13">
            <a:extLst>
              <a:ext uri="{FF2B5EF4-FFF2-40B4-BE49-F238E27FC236}">
                <a16:creationId xmlns:a16="http://schemas.microsoft.com/office/drawing/2014/main" id="{DE492ED4-0AC5-90D2-6B89-C07A7CBBE3A4}"/>
              </a:ext>
            </a:extLst>
          </p:cNvPr>
          <p:cNvSpPr>
            <a:spLocks noGrp="1"/>
          </p:cNvSpPr>
          <p:nvPr>
            <p:ph type="body" sz="quarter" idx="17" hasCustomPrompt="1"/>
          </p:nvPr>
        </p:nvSpPr>
        <p:spPr>
          <a:xfrm>
            <a:off x="9096869" y="1797186"/>
            <a:ext cx="2793404" cy="849390"/>
          </a:xfrm>
        </p:spPr>
        <p:txBody>
          <a:bodyPr>
            <a:noAutofit/>
          </a:bodyPr>
          <a:lstStyle>
            <a:lvl1pPr>
              <a:defRPr>
                <a:solidFill>
                  <a:schemeClr val="bg2"/>
                </a:solidFill>
              </a:defRPr>
            </a:lvl1pPr>
          </a:lstStyle>
          <a:p>
            <a:pPr lvl="0"/>
            <a:r>
              <a:rPr lang="en-US" dirty="0"/>
              <a:t>Click to add body copy. (keep to 4 lines or less)</a:t>
            </a:r>
          </a:p>
        </p:txBody>
      </p:sp>
      <p:sp>
        <p:nvSpPr>
          <p:cNvPr id="21" name="Text Placeholder 13">
            <a:extLst>
              <a:ext uri="{FF2B5EF4-FFF2-40B4-BE49-F238E27FC236}">
                <a16:creationId xmlns:a16="http://schemas.microsoft.com/office/drawing/2014/main" id="{712D3302-3786-6B3F-96F1-320ADC5AB539}"/>
              </a:ext>
            </a:extLst>
          </p:cNvPr>
          <p:cNvSpPr>
            <a:spLocks noGrp="1"/>
          </p:cNvSpPr>
          <p:nvPr>
            <p:ph type="body" sz="quarter" idx="18" hasCustomPrompt="1"/>
          </p:nvPr>
        </p:nvSpPr>
        <p:spPr>
          <a:xfrm>
            <a:off x="9078713" y="2964819"/>
            <a:ext cx="2793404" cy="849390"/>
          </a:xfrm>
        </p:spPr>
        <p:txBody>
          <a:bodyPr>
            <a:noAutofit/>
          </a:bodyPr>
          <a:lstStyle>
            <a:lvl1pPr>
              <a:defRPr>
                <a:solidFill>
                  <a:schemeClr val="bg2"/>
                </a:solidFill>
              </a:defRPr>
            </a:lvl1pPr>
          </a:lstStyle>
          <a:p>
            <a:pPr lvl="0"/>
            <a:r>
              <a:rPr lang="en-US" dirty="0"/>
              <a:t>Click to add body copy. (keep to 4 lines or less)</a:t>
            </a:r>
          </a:p>
        </p:txBody>
      </p:sp>
      <p:sp>
        <p:nvSpPr>
          <p:cNvPr id="22" name="Text Placeholder 13">
            <a:extLst>
              <a:ext uri="{FF2B5EF4-FFF2-40B4-BE49-F238E27FC236}">
                <a16:creationId xmlns:a16="http://schemas.microsoft.com/office/drawing/2014/main" id="{837066E4-62B0-762C-1572-EBF16B4BB068}"/>
              </a:ext>
            </a:extLst>
          </p:cNvPr>
          <p:cNvSpPr>
            <a:spLocks noGrp="1"/>
          </p:cNvSpPr>
          <p:nvPr>
            <p:ph type="body" sz="quarter" idx="19" hasCustomPrompt="1"/>
          </p:nvPr>
        </p:nvSpPr>
        <p:spPr>
          <a:xfrm>
            <a:off x="9078713" y="4132452"/>
            <a:ext cx="2793404" cy="849390"/>
          </a:xfrm>
        </p:spPr>
        <p:txBody>
          <a:bodyPr>
            <a:noAutofit/>
          </a:bodyPr>
          <a:lstStyle>
            <a:lvl1pPr>
              <a:defRPr>
                <a:solidFill>
                  <a:schemeClr val="bg2"/>
                </a:solidFill>
              </a:defRPr>
            </a:lvl1pPr>
          </a:lstStyle>
          <a:p>
            <a:pPr lvl="0"/>
            <a:r>
              <a:rPr lang="en-US" dirty="0"/>
              <a:t>Click to add body copy. (keep to 4 lines or less)</a:t>
            </a:r>
          </a:p>
        </p:txBody>
      </p:sp>
      <p:sp>
        <p:nvSpPr>
          <p:cNvPr id="4" name="Text Placeholder 12">
            <a:extLst>
              <a:ext uri="{FF2B5EF4-FFF2-40B4-BE49-F238E27FC236}">
                <a16:creationId xmlns:a16="http://schemas.microsoft.com/office/drawing/2014/main" id="{CF600486-A2F1-6764-936B-6264BC810BD9}"/>
              </a:ext>
            </a:extLst>
          </p:cNvPr>
          <p:cNvSpPr>
            <a:spLocks noGrp="1"/>
          </p:cNvSpPr>
          <p:nvPr>
            <p:ph type="body" sz="quarter" idx="36" hasCustomPrompt="1"/>
          </p:nvPr>
        </p:nvSpPr>
        <p:spPr>
          <a:xfrm>
            <a:off x="471955" y="387691"/>
            <a:ext cx="3198708" cy="263277"/>
          </a:xfrm>
        </p:spPr>
        <p:txBody>
          <a:bodyPr wrap="square">
            <a:noAutofit/>
          </a:bodyPr>
          <a:lstStyle>
            <a:lvl1pPr algn="l">
              <a:defRPr sz="1200" b="1" i="1">
                <a:solidFill>
                  <a:schemeClr val="bg2"/>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7B65A4B8-518F-09D8-210C-D8F465C572F0}"/>
              </a:ext>
            </a:extLst>
          </p:cNvPr>
          <p:cNvSpPr>
            <a:spLocks noGrp="1"/>
          </p:cNvSpPr>
          <p:nvPr>
            <p:ph type="body" sz="quarter" idx="37" hasCustomPrompt="1"/>
          </p:nvPr>
        </p:nvSpPr>
        <p:spPr>
          <a:xfrm>
            <a:off x="8623966" y="372054"/>
            <a:ext cx="3304869" cy="1104035"/>
          </a:xfrm>
        </p:spPr>
        <p:txBody>
          <a:bodyPr wrap="square">
            <a:noAutofit/>
          </a:bodyPr>
          <a:lstStyle>
            <a:lvl1pPr algn="l">
              <a:defRPr sz="1800" b="1">
                <a:solidFill>
                  <a:schemeClr val="bg2"/>
                </a:solidFill>
              </a:defRPr>
            </a:lvl1pPr>
          </a:lstStyle>
          <a:p>
            <a:pPr lvl="0"/>
            <a:r>
              <a:rPr lang="en-US" dirty="0"/>
              <a:t>Click to edit slide subhead</a:t>
            </a:r>
          </a:p>
        </p:txBody>
      </p:sp>
      <p:pic>
        <p:nvPicPr>
          <p:cNvPr id="8" name="Picture 7" descr="A close up of a logo&#10;&#10;AI-generated content may be incorrect.">
            <a:extLst>
              <a:ext uri="{FF2B5EF4-FFF2-40B4-BE49-F238E27FC236}">
                <a16:creationId xmlns:a16="http://schemas.microsoft.com/office/drawing/2014/main" id="{A277F3B3-A2D5-507C-B008-3009DCAA41C4}"/>
              </a:ext>
            </a:extLst>
          </p:cNvPr>
          <p:cNvPicPr>
            <a:picLocks noChangeAspect="1"/>
          </p:cNvPicPr>
          <p:nvPr userDrawn="1"/>
        </p:nvPicPr>
        <p:blipFill>
          <a:blip r:embed="rId3"/>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3714903128"/>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Section Header">
    <p:spTree>
      <p:nvGrpSpPr>
        <p:cNvPr id="1" name=""/>
        <p:cNvGrpSpPr/>
        <p:nvPr/>
      </p:nvGrpSpPr>
      <p:grpSpPr>
        <a:xfrm>
          <a:off x="0" y="0"/>
          <a:ext cx="0" cy="0"/>
          <a:chOff x="0" y="0"/>
          <a:chExt cx="0" cy="0"/>
        </a:xfrm>
      </p:grpSpPr>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4069079" y="-1"/>
            <a:ext cx="8152011" cy="6857993"/>
          </a:xfrm>
          <a:pattFill prst="wdUpDiag">
            <a:fgClr>
              <a:schemeClr val="tx1">
                <a:lumMod val="75000"/>
              </a:schemeClr>
            </a:fgClr>
            <a:bgClr>
              <a:schemeClr val="tx1">
                <a:lumMod val="50000"/>
              </a:schemeClr>
            </a:bgClr>
          </a:pattFill>
        </p:spPr>
        <p:txBody>
          <a:bodyPr/>
          <a:lstStyle/>
          <a:p>
            <a:endParaRPr lang="en-US"/>
          </a:p>
        </p:txBody>
      </p:sp>
      <p:sp>
        <p:nvSpPr>
          <p:cNvPr id="5" name="Rectangle 4">
            <a:extLst>
              <a:ext uri="{FF2B5EF4-FFF2-40B4-BE49-F238E27FC236}">
                <a16:creationId xmlns:a16="http://schemas.microsoft.com/office/drawing/2014/main" id="{BB043FF6-E4EA-BBB6-A56D-4A8857EF4853}"/>
              </a:ext>
            </a:extLst>
          </p:cNvPr>
          <p:cNvSpPr/>
          <p:nvPr userDrawn="1"/>
        </p:nvSpPr>
        <p:spPr>
          <a:xfrm>
            <a:off x="-1" y="7"/>
            <a:ext cx="4069080" cy="68579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noAutofit/>
          </a:bodyPr>
          <a:lstStyle/>
          <a:p>
            <a:pPr algn="ctr"/>
            <a:endParaRPr lang="en-US" dirty="0"/>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3848792" cy="200055"/>
          </a:xfrm>
        </p:spPr>
        <p:txBody>
          <a:bodyPr wrap="square">
            <a:spAutoFit/>
          </a:bodyPr>
          <a:lstStyle>
            <a:lvl1pPr>
              <a:defRPr sz="1000">
                <a:solidFill>
                  <a:schemeClr val="bg2"/>
                </a:solidFill>
              </a:defRPr>
            </a:lvl1pPr>
          </a:lstStyle>
          <a:p>
            <a:r>
              <a:rPr lang="en-US" dirty="0"/>
              <a:t>Add Metadata here in Slide Master &gt; Insert &gt; Slide Number</a:t>
            </a:r>
            <a:endParaRPr lang="en-US" dirty="0">
              <a:solidFill>
                <a:schemeClr val="bg2"/>
              </a:solidFill>
            </a:endParaRP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13" name="Picture 12" descr="A white arrow in a circle&#10;&#10;AI-generated content may be incorrect.">
            <a:extLst>
              <a:ext uri="{FF2B5EF4-FFF2-40B4-BE49-F238E27FC236}">
                <a16:creationId xmlns:a16="http://schemas.microsoft.com/office/drawing/2014/main" id="{4B7CC05E-9ECF-A04F-B8B5-AE1B3123D807}"/>
              </a:ext>
            </a:extLst>
          </p:cNvPr>
          <p:cNvPicPr>
            <a:picLocks noChangeAspect="1"/>
          </p:cNvPicPr>
          <p:nvPr userDrawn="1"/>
        </p:nvPicPr>
        <p:blipFill>
          <a:blip r:embed="rId2"/>
          <a:stretch>
            <a:fillRect/>
          </a:stretch>
        </p:blipFill>
        <p:spPr>
          <a:xfrm>
            <a:off x="459284" y="1770190"/>
            <a:ext cx="307473" cy="307473"/>
          </a:xfrm>
          <a:prstGeom prst="rect">
            <a:avLst/>
          </a:prstGeom>
        </p:spPr>
      </p:pic>
      <p:pic>
        <p:nvPicPr>
          <p:cNvPr id="14" name="Picture 13" descr="A white arrow in a circle&#10;&#10;AI-generated content may be incorrect.">
            <a:extLst>
              <a:ext uri="{FF2B5EF4-FFF2-40B4-BE49-F238E27FC236}">
                <a16:creationId xmlns:a16="http://schemas.microsoft.com/office/drawing/2014/main" id="{C91755A8-93C1-D764-4122-8DF47693897D}"/>
              </a:ext>
            </a:extLst>
          </p:cNvPr>
          <p:cNvPicPr>
            <a:picLocks noChangeAspect="1"/>
          </p:cNvPicPr>
          <p:nvPr userDrawn="1"/>
        </p:nvPicPr>
        <p:blipFill>
          <a:blip r:embed="rId2"/>
          <a:stretch>
            <a:fillRect/>
          </a:stretch>
        </p:blipFill>
        <p:spPr>
          <a:xfrm>
            <a:off x="459284" y="2936281"/>
            <a:ext cx="307473" cy="307473"/>
          </a:xfrm>
          <a:prstGeom prst="rect">
            <a:avLst/>
          </a:prstGeom>
        </p:spPr>
      </p:pic>
      <p:pic>
        <p:nvPicPr>
          <p:cNvPr id="15" name="Picture 14" descr="A white arrow in a circle&#10;&#10;AI-generated content may be incorrect.">
            <a:extLst>
              <a:ext uri="{FF2B5EF4-FFF2-40B4-BE49-F238E27FC236}">
                <a16:creationId xmlns:a16="http://schemas.microsoft.com/office/drawing/2014/main" id="{60EB8292-D5E4-FA6A-4AB3-F88EAF8BEF42}"/>
              </a:ext>
            </a:extLst>
          </p:cNvPr>
          <p:cNvPicPr>
            <a:picLocks noChangeAspect="1"/>
          </p:cNvPicPr>
          <p:nvPr userDrawn="1"/>
        </p:nvPicPr>
        <p:blipFill>
          <a:blip r:embed="rId2"/>
          <a:stretch>
            <a:fillRect/>
          </a:stretch>
        </p:blipFill>
        <p:spPr>
          <a:xfrm>
            <a:off x="459284" y="4102372"/>
            <a:ext cx="307473" cy="307473"/>
          </a:xfrm>
          <a:prstGeom prst="rect">
            <a:avLst/>
          </a:prstGeom>
        </p:spPr>
      </p:pic>
      <p:sp>
        <p:nvSpPr>
          <p:cNvPr id="4" name="Text Placeholder 13">
            <a:extLst>
              <a:ext uri="{FF2B5EF4-FFF2-40B4-BE49-F238E27FC236}">
                <a16:creationId xmlns:a16="http://schemas.microsoft.com/office/drawing/2014/main" id="{A7C8010A-1400-657C-8C17-D345F52DB1E3}"/>
              </a:ext>
            </a:extLst>
          </p:cNvPr>
          <p:cNvSpPr>
            <a:spLocks noGrp="1"/>
          </p:cNvSpPr>
          <p:nvPr>
            <p:ph type="body" sz="quarter" idx="17" hasCustomPrompt="1"/>
          </p:nvPr>
        </p:nvSpPr>
        <p:spPr>
          <a:xfrm>
            <a:off x="944065" y="1797186"/>
            <a:ext cx="2793404" cy="849390"/>
          </a:xfrm>
        </p:spPr>
        <p:txBody>
          <a:bodyPr wrap="square">
            <a:noAutofit/>
          </a:bodyPr>
          <a:lstStyle>
            <a:lvl1pPr>
              <a:defRPr>
                <a:solidFill>
                  <a:schemeClr val="bg2"/>
                </a:solidFill>
              </a:defRPr>
            </a:lvl1pPr>
          </a:lstStyle>
          <a:p>
            <a:pPr lvl="0"/>
            <a:r>
              <a:rPr lang="en-US" dirty="0"/>
              <a:t>Click to add body copy. (keep to 4 lines or less)</a:t>
            </a:r>
          </a:p>
        </p:txBody>
      </p:sp>
      <p:sp>
        <p:nvSpPr>
          <p:cNvPr id="6" name="Text Placeholder 13">
            <a:extLst>
              <a:ext uri="{FF2B5EF4-FFF2-40B4-BE49-F238E27FC236}">
                <a16:creationId xmlns:a16="http://schemas.microsoft.com/office/drawing/2014/main" id="{BC709578-793D-21E7-AE41-C04432C69BD8}"/>
              </a:ext>
            </a:extLst>
          </p:cNvPr>
          <p:cNvSpPr>
            <a:spLocks noGrp="1"/>
          </p:cNvSpPr>
          <p:nvPr>
            <p:ph type="body" sz="quarter" idx="18" hasCustomPrompt="1"/>
          </p:nvPr>
        </p:nvSpPr>
        <p:spPr>
          <a:xfrm>
            <a:off x="925909" y="2964819"/>
            <a:ext cx="2793404" cy="849390"/>
          </a:xfrm>
        </p:spPr>
        <p:txBody>
          <a:bodyPr wrap="square">
            <a:noAutofit/>
          </a:bodyPr>
          <a:lstStyle>
            <a:lvl1pPr>
              <a:defRPr>
                <a:solidFill>
                  <a:schemeClr val="bg2"/>
                </a:solidFill>
              </a:defRPr>
            </a:lvl1pPr>
          </a:lstStyle>
          <a:p>
            <a:pPr lvl="0"/>
            <a:r>
              <a:rPr lang="en-US" dirty="0"/>
              <a:t>Click to add body copy. (keep to 4 lines or less)</a:t>
            </a:r>
          </a:p>
        </p:txBody>
      </p:sp>
      <p:sp>
        <p:nvSpPr>
          <p:cNvPr id="7" name="Text Placeholder 13">
            <a:extLst>
              <a:ext uri="{FF2B5EF4-FFF2-40B4-BE49-F238E27FC236}">
                <a16:creationId xmlns:a16="http://schemas.microsoft.com/office/drawing/2014/main" id="{2B7F5707-0D2B-3761-5AA3-E3DA69FBB67A}"/>
              </a:ext>
            </a:extLst>
          </p:cNvPr>
          <p:cNvSpPr>
            <a:spLocks noGrp="1"/>
          </p:cNvSpPr>
          <p:nvPr>
            <p:ph type="body" sz="quarter" idx="19" hasCustomPrompt="1"/>
          </p:nvPr>
        </p:nvSpPr>
        <p:spPr>
          <a:xfrm>
            <a:off x="925909" y="4132452"/>
            <a:ext cx="2793404" cy="849390"/>
          </a:xfrm>
        </p:spPr>
        <p:txBody>
          <a:bodyPr wrap="square">
            <a:noAutofit/>
          </a:bodyPr>
          <a:lstStyle>
            <a:lvl1pPr>
              <a:defRPr>
                <a:solidFill>
                  <a:schemeClr val="bg2"/>
                </a:solidFill>
              </a:defRPr>
            </a:lvl1pPr>
          </a:lstStyle>
          <a:p>
            <a:pPr lvl="0"/>
            <a:r>
              <a:rPr lang="en-US" dirty="0"/>
              <a:t>Click to add body copy. (keep to 4 lines or less)</a:t>
            </a:r>
          </a:p>
        </p:txBody>
      </p:sp>
      <p:sp>
        <p:nvSpPr>
          <p:cNvPr id="9" name="Text Placeholder 12">
            <a:extLst>
              <a:ext uri="{FF2B5EF4-FFF2-40B4-BE49-F238E27FC236}">
                <a16:creationId xmlns:a16="http://schemas.microsoft.com/office/drawing/2014/main" id="{A9BEAC31-F59F-2261-C173-79DB809DF2BC}"/>
              </a:ext>
            </a:extLst>
          </p:cNvPr>
          <p:cNvSpPr>
            <a:spLocks noGrp="1"/>
          </p:cNvSpPr>
          <p:nvPr>
            <p:ph type="body" sz="quarter" idx="36" hasCustomPrompt="1"/>
          </p:nvPr>
        </p:nvSpPr>
        <p:spPr>
          <a:xfrm>
            <a:off x="8628017" y="387691"/>
            <a:ext cx="3204471" cy="263277"/>
          </a:xfrm>
        </p:spPr>
        <p:txBody>
          <a:bodyPr wrap="square">
            <a:noAutofit/>
          </a:bodyPr>
          <a:lstStyle>
            <a:lvl1pPr algn="r">
              <a:defRPr sz="1200" b="1" i="1">
                <a:solidFill>
                  <a:schemeClr val="bg2"/>
                </a:solidFill>
              </a:defRPr>
            </a:lvl1pPr>
          </a:lstStyle>
          <a:p>
            <a:pPr lvl="0"/>
            <a:r>
              <a:rPr lang="en-US" dirty="0"/>
              <a:t>Click to add section name</a:t>
            </a:r>
          </a:p>
        </p:txBody>
      </p:sp>
      <p:sp>
        <p:nvSpPr>
          <p:cNvPr id="11" name="Text Placeholder 12">
            <a:extLst>
              <a:ext uri="{FF2B5EF4-FFF2-40B4-BE49-F238E27FC236}">
                <a16:creationId xmlns:a16="http://schemas.microsoft.com/office/drawing/2014/main" id="{48B87D3F-EE6C-49B5-8A75-CBB435D58EE1}"/>
              </a:ext>
            </a:extLst>
          </p:cNvPr>
          <p:cNvSpPr>
            <a:spLocks noGrp="1"/>
          </p:cNvSpPr>
          <p:nvPr>
            <p:ph type="body" sz="quarter" idx="37" hasCustomPrompt="1"/>
          </p:nvPr>
        </p:nvSpPr>
        <p:spPr>
          <a:xfrm>
            <a:off x="432600" y="372054"/>
            <a:ext cx="3304869" cy="1104035"/>
          </a:xfrm>
        </p:spPr>
        <p:txBody>
          <a:bodyPr wrap="square">
            <a:noAutofit/>
          </a:bodyPr>
          <a:lstStyle>
            <a:lvl1pPr algn="l">
              <a:defRPr sz="1800" b="1">
                <a:solidFill>
                  <a:schemeClr val="bg2"/>
                </a:solidFill>
              </a:defRPr>
            </a:lvl1pPr>
          </a:lstStyle>
          <a:p>
            <a:pPr lvl="0"/>
            <a:r>
              <a:rPr lang="en-US" dirty="0"/>
              <a:t>Click to edit slide subhead</a:t>
            </a:r>
          </a:p>
        </p:txBody>
      </p:sp>
      <p:pic>
        <p:nvPicPr>
          <p:cNvPr id="19" name="Picture 18" descr="A black and white logo&#10;&#10;AI-generated content may be incorrect.">
            <a:extLst>
              <a:ext uri="{FF2B5EF4-FFF2-40B4-BE49-F238E27FC236}">
                <a16:creationId xmlns:a16="http://schemas.microsoft.com/office/drawing/2014/main" id="{CD71504C-024F-501B-86FF-351E5DA37209}"/>
              </a:ext>
            </a:extLst>
          </p:cNvPr>
          <p:cNvPicPr>
            <a:picLocks noChangeAspect="1"/>
          </p:cNvPicPr>
          <p:nvPr userDrawn="1"/>
        </p:nvPicPr>
        <p:blipFill>
          <a:blip r:embed="rId3"/>
          <a:stretch>
            <a:fillRect/>
          </a:stretch>
        </p:blipFill>
        <p:spPr>
          <a:xfrm>
            <a:off x="10802078" y="6212302"/>
            <a:ext cx="947920" cy="377794"/>
          </a:xfrm>
          <a:prstGeom prst="rect">
            <a:avLst/>
          </a:prstGeom>
        </p:spPr>
      </p:pic>
    </p:spTree>
    <p:extLst>
      <p:ext uri="{BB962C8B-B14F-4D97-AF65-F5344CB8AC3E}">
        <p14:creationId xmlns:p14="http://schemas.microsoft.com/office/powerpoint/2010/main" val="1187890717"/>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FB48-CBEF-E5AE-A597-ABCAF1B91CE1}"/>
              </a:ext>
            </a:extLst>
          </p:cNvPr>
          <p:cNvSpPr>
            <a:spLocks noGrp="1"/>
          </p:cNvSpPr>
          <p:nvPr>
            <p:ph type="ctrTitle" hasCustomPrompt="1"/>
          </p:nvPr>
        </p:nvSpPr>
        <p:spPr>
          <a:xfrm>
            <a:off x="1524000" y="1932833"/>
            <a:ext cx="9144000" cy="1195684"/>
          </a:xfrm>
        </p:spPr>
        <p:txBody>
          <a:bodyPr vert="horz" wrap="square" lIns="0" tIns="0" rIns="91440" bIns="45720" rtlCol="0" anchor="t" anchorCtr="0">
            <a:noAutofit/>
          </a:bodyPr>
          <a:lstStyle>
            <a:lvl1pPr algn="ctr">
              <a:defRPr lang="en-US" sz="7500" dirty="0">
                <a:solidFill>
                  <a:schemeClr val="bg2"/>
                </a:solidFill>
              </a:defRPr>
            </a:lvl1pPr>
          </a:lstStyle>
          <a:p>
            <a:pPr lvl="0"/>
            <a:r>
              <a:rPr lang="en-US" dirty="0"/>
              <a:t>Agency Department</a:t>
            </a:r>
          </a:p>
        </p:txBody>
      </p:sp>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CC216A7-7B91-410C-EDEC-FF80DF9A51B0}"/>
              </a:ext>
            </a:extLst>
          </p:cNvPr>
          <p:cNvCxnSpPr>
            <a:cxnSpLocks/>
          </p:cNvCxnSpPr>
          <p:nvPr userDrawn="1"/>
        </p:nvCxnSpPr>
        <p:spPr>
          <a:xfrm>
            <a:off x="5611798" y="3227498"/>
            <a:ext cx="968403"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84930709-BC42-A4A1-7B40-69527BC3E9B5}"/>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4" name="Text Placeholder 13">
            <a:extLst>
              <a:ext uri="{FF2B5EF4-FFF2-40B4-BE49-F238E27FC236}">
                <a16:creationId xmlns:a16="http://schemas.microsoft.com/office/drawing/2014/main" id="{F4F16DD9-BC53-F571-1A34-84B6E49AFE80}"/>
              </a:ext>
            </a:extLst>
          </p:cNvPr>
          <p:cNvSpPr>
            <a:spLocks noGrp="1"/>
          </p:cNvSpPr>
          <p:nvPr>
            <p:ph type="body" sz="quarter" idx="16" hasCustomPrompt="1"/>
          </p:nvPr>
        </p:nvSpPr>
        <p:spPr>
          <a:xfrm>
            <a:off x="1524000" y="3589385"/>
            <a:ext cx="9144000" cy="1592206"/>
          </a:xfrm>
        </p:spPr>
        <p:txBody>
          <a:bodyPr wrap="square">
            <a:noAutofit/>
          </a:bodyPr>
          <a:lstStyle>
            <a:lvl1pPr algn="ctr">
              <a:defRPr>
                <a:solidFill>
                  <a:schemeClr val="bg2"/>
                </a:solidFill>
              </a:defRPr>
            </a:lvl1pPr>
          </a:lstStyle>
          <a:p>
            <a:pPr lvl="0"/>
            <a:r>
              <a:rPr lang="en-US" dirty="0"/>
              <a:t>Click to add body copy.</a:t>
            </a:r>
          </a:p>
        </p:txBody>
      </p:sp>
      <p:sp>
        <p:nvSpPr>
          <p:cNvPr id="5" name="Text Placeholder 12">
            <a:extLst>
              <a:ext uri="{FF2B5EF4-FFF2-40B4-BE49-F238E27FC236}">
                <a16:creationId xmlns:a16="http://schemas.microsoft.com/office/drawing/2014/main" id="{C9392F01-3B10-69E5-E785-B21097D25C17}"/>
              </a:ext>
            </a:extLst>
          </p:cNvPr>
          <p:cNvSpPr>
            <a:spLocks noGrp="1"/>
          </p:cNvSpPr>
          <p:nvPr>
            <p:ph type="body" sz="quarter" idx="36" hasCustomPrompt="1"/>
          </p:nvPr>
        </p:nvSpPr>
        <p:spPr>
          <a:xfrm>
            <a:off x="471955" y="387691"/>
            <a:ext cx="3198708" cy="263277"/>
          </a:xfrm>
        </p:spPr>
        <p:txBody>
          <a:bodyPr wrap="square">
            <a:noAutofit/>
          </a:bodyPr>
          <a:lstStyle>
            <a:lvl1pPr algn="l">
              <a:defRPr sz="1200" b="1" i="1">
                <a:solidFill>
                  <a:schemeClr val="bg2"/>
                </a:solidFill>
              </a:defRPr>
            </a:lvl1pPr>
          </a:lstStyle>
          <a:p>
            <a:pPr lvl="0"/>
            <a:r>
              <a:rPr lang="en-US" dirty="0"/>
              <a:t>Click to add section name</a:t>
            </a:r>
          </a:p>
        </p:txBody>
      </p:sp>
    </p:spTree>
    <p:extLst>
      <p:ext uri="{BB962C8B-B14F-4D97-AF65-F5344CB8AC3E}">
        <p14:creationId xmlns:p14="http://schemas.microsoft.com/office/powerpoint/2010/main" val="311923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84930709-BC42-A4A1-7B40-69527BC3E9B5}"/>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11" name="Text Placeholder 12">
            <a:extLst>
              <a:ext uri="{FF2B5EF4-FFF2-40B4-BE49-F238E27FC236}">
                <a16:creationId xmlns:a16="http://schemas.microsoft.com/office/drawing/2014/main" id="{7F36DDCE-C76F-00FB-965A-CFA0D1651E24}"/>
              </a:ext>
            </a:extLst>
          </p:cNvPr>
          <p:cNvSpPr>
            <a:spLocks noGrp="1"/>
          </p:cNvSpPr>
          <p:nvPr>
            <p:ph type="body" sz="quarter" idx="36" hasCustomPrompt="1"/>
          </p:nvPr>
        </p:nvSpPr>
        <p:spPr>
          <a:xfrm>
            <a:off x="471955" y="387691"/>
            <a:ext cx="3198708" cy="263277"/>
          </a:xfrm>
        </p:spPr>
        <p:txBody>
          <a:bodyPr wrap="square">
            <a:noAutofit/>
          </a:bodyPr>
          <a:lstStyle>
            <a:lvl1pPr algn="l">
              <a:defRPr sz="1200" b="1" i="1">
                <a:solidFill>
                  <a:schemeClr val="bg2"/>
                </a:solidFill>
              </a:defRPr>
            </a:lvl1pPr>
          </a:lstStyle>
          <a:p>
            <a:pPr lvl="0"/>
            <a:r>
              <a:rPr lang="en-US" dirty="0"/>
              <a:t>Click to add section name</a:t>
            </a:r>
          </a:p>
        </p:txBody>
      </p:sp>
    </p:spTree>
    <p:extLst>
      <p:ext uri="{BB962C8B-B14F-4D97-AF65-F5344CB8AC3E}">
        <p14:creationId xmlns:p14="http://schemas.microsoft.com/office/powerpoint/2010/main" val="2581706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descr="A blue background with lines&#10;&#10;AI-generated content may be incorrect.">
            <a:extLst>
              <a:ext uri="{FF2B5EF4-FFF2-40B4-BE49-F238E27FC236}">
                <a16:creationId xmlns:a16="http://schemas.microsoft.com/office/drawing/2014/main" id="{89CCE111-3845-0A14-910C-DCF953A475FD}"/>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A0E7F6AD-89CA-BBB5-2F8A-09D762FFA950}"/>
              </a:ext>
            </a:extLst>
          </p:cNvPr>
          <p:cNvSpPr>
            <a:spLocks noGrp="1"/>
          </p:cNvSpPr>
          <p:nvPr>
            <p:ph type="title" hasCustomPrompt="1"/>
          </p:nvPr>
        </p:nvSpPr>
        <p:spPr>
          <a:xfrm>
            <a:off x="1948030" y="2298929"/>
            <a:ext cx="8051104" cy="2698583"/>
          </a:xfrm>
          <a:prstGeom prst="rect">
            <a:avLst/>
          </a:prstGeom>
        </p:spPr>
        <p:txBody>
          <a:bodyPr vert="horz" wrap="square" lIns="0" tIns="0" rIns="91440" bIns="45720" rtlCol="0" anchor="t" anchorCtr="0">
            <a:noAutofit/>
          </a:bodyPr>
          <a:lstStyle>
            <a:lvl1pPr algn="ctr">
              <a:lnSpc>
                <a:spcPct val="95000"/>
              </a:lnSpc>
              <a:defRPr b="0" i="0">
                <a:solidFill>
                  <a:schemeClr val="bg2"/>
                </a:solidFill>
                <a:latin typeface="DM Sans 14pt ExtraLight" pitchFamily="2" charset="77"/>
              </a:defRPr>
            </a:lvl1pPr>
          </a:lstStyle>
          <a:p>
            <a:r>
              <a:rPr lang="en-US" dirty="0"/>
              <a:t>Click to add description overview here. Keep it brief and to the point. 1-3 short sentences only. Thank you.</a:t>
            </a:r>
          </a:p>
        </p:txBody>
      </p:sp>
      <p:sp>
        <p:nvSpPr>
          <p:cNvPr id="3" name="Text Placeholder 12">
            <a:extLst>
              <a:ext uri="{FF2B5EF4-FFF2-40B4-BE49-F238E27FC236}">
                <a16:creationId xmlns:a16="http://schemas.microsoft.com/office/drawing/2014/main" id="{3723B2DF-E0BA-4D65-C197-ABE546423B71}"/>
              </a:ext>
            </a:extLst>
          </p:cNvPr>
          <p:cNvSpPr>
            <a:spLocks noGrp="1"/>
          </p:cNvSpPr>
          <p:nvPr>
            <p:ph type="body" sz="quarter" idx="37" hasCustomPrompt="1"/>
          </p:nvPr>
        </p:nvSpPr>
        <p:spPr>
          <a:xfrm>
            <a:off x="4372087" y="1671573"/>
            <a:ext cx="3202990" cy="263277"/>
          </a:xfrm>
        </p:spPr>
        <p:txBody>
          <a:bodyPr wrap="none" rIns="0" anchor="ctr">
            <a:noAutofit/>
          </a:bodyPr>
          <a:lstStyle>
            <a:lvl1pPr algn="ctr">
              <a:defRPr sz="1200" b="1" i="1">
                <a:solidFill>
                  <a:schemeClr val="bg1"/>
                </a:solidFill>
              </a:defRPr>
            </a:lvl1pPr>
          </a:lstStyle>
          <a:p>
            <a:pPr lvl="0"/>
            <a:r>
              <a:rPr lang="en-US" dirty="0"/>
              <a:t>Click to Header / Subhead</a:t>
            </a:r>
          </a:p>
        </p:txBody>
      </p:sp>
      <p:pic>
        <p:nvPicPr>
          <p:cNvPr id="4" name="Picture 3" descr="A close up of a logo&#10;&#10;AI-generated content may be incorrect.">
            <a:extLst>
              <a:ext uri="{FF2B5EF4-FFF2-40B4-BE49-F238E27FC236}">
                <a16:creationId xmlns:a16="http://schemas.microsoft.com/office/drawing/2014/main" id="{E846066D-5DBA-5041-980C-B7DC4EF2A595}"/>
              </a:ext>
            </a:extLst>
          </p:cNvPr>
          <p:cNvPicPr>
            <a:picLocks noChangeAspect="1"/>
          </p:cNvPicPr>
          <p:nvPr userDrawn="1"/>
        </p:nvPicPr>
        <p:blipFill>
          <a:blip r:embed="rId4"/>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41172105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descr="A blue background with lines&#10;&#10;AI-generated content may be incorrect.">
            <a:extLst>
              <a:ext uri="{FF2B5EF4-FFF2-40B4-BE49-F238E27FC236}">
                <a16:creationId xmlns:a16="http://schemas.microsoft.com/office/drawing/2014/main" id="{A5D81F25-D49F-55C5-8832-17ADD04F539B}"/>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A0E7F6AD-89CA-BBB5-2F8A-09D762FFA950}"/>
              </a:ext>
            </a:extLst>
          </p:cNvPr>
          <p:cNvSpPr>
            <a:spLocks noGrp="1"/>
          </p:cNvSpPr>
          <p:nvPr>
            <p:ph type="title" hasCustomPrompt="1"/>
          </p:nvPr>
        </p:nvSpPr>
        <p:spPr>
          <a:xfrm>
            <a:off x="1948030" y="2298929"/>
            <a:ext cx="8051104" cy="2698583"/>
          </a:xfrm>
          <a:prstGeom prst="rect">
            <a:avLst/>
          </a:prstGeom>
        </p:spPr>
        <p:txBody>
          <a:bodyPr vert="horz" lIns="0" tIns="0" rIns="91440" bIns="45720" rtlCol="0" anchor="t" anchorCtr="0">
            <a:noAutofit/>
          </a:bodyPr>
          <a:lstStyle>
            <a:lvl1pPr algn="ctr">
              <a:lnSpc>
                <a:spcPct val="95000"/>
              </a:lnSpc>
              <a:defRPr b="0" i="0">
                <a:solidFill>
                  <a:schemeClr val="bg2"/>
                </a:solidFill>
                <a:latin typeface="DM Sans 14pt ExtraLight" pitchFamily="2" charset="77"/>
              </a:defRPr>
            </a:lvl1pPr>
          </a:lstStyle>
          <a:p>
            <a:r>
              <a:rPr lang="en-US" dirty="0"/>
              <a:t>Click to add description overview here. Keep it brief and to the point. 1-3 short sentences only. Thank you.</a:t>
            </a:r>
          </a:p>
        </p:txBody>
      </p:sp>
      <p:sp>
        <p:nvSpPr>
          <p:cNvPr id="3" name="Text Placeholder 12">
            <a:extLst>
              <a:ext uri="{FF2B5EF4-FFF2-40B4-BE49-F238E27FC236}">
                <a16:creationId xmlns:a16="http://schemas.microsoft.com/office/drawing/2014/main" id="{3723B2DF-E0BA-4D65-C197-ABE546423B71}"/>
              </a:ext>
            </a:extLst>
          </p:cNvPr>
          <p:cNvSpPr>
            <a:spLocks noGrp="1"/>
          </p:cNvSpPr>
          <p:nvPr>
            <p:ph type="body" sz="quarter" idx="37" hasCustomPrompt="1"/>
          </p:nvPr>
        </p:nvSpPr>
        <p:spPr>
          <a:xfrm>
            <a:off x="5106956" y="1671573"/>
            <a:ext cx="1978106" cy="263277"/>
          </a:xfrm>
        </p:spPr>
        <p:txBody>
          <a:bodyPr wrap="none" rIns="0" anchor="ctr">
            <a:noAutofit/>
          </a:bodyPr>
          <a:lstStyle>
            <a:lvl1pPr algn="ctr">
              <a:defRPr sz="1200" b="1" i="1">
                <a:solidFill>
                  <a:schemeClr val="accent3"/>
                </a:solidFill>
              </a:defRPr>
            </a:lvl1pPr>
          </a:lstStyle>
          <a:p>
            <a:pPr lvl="0"/>
            <a:r>
              <a:rPr lang="en-US" dirty="0"/>
              <a:t>Click to Header / Subhead</a:t>
            </a:r>
          </a:p>
        </p:txBody>
      </p:sp>
      <p:pic>
        <p:nvPicPr>
          <p:cNvPr id="4" name="Picture 3" descr="A close up of a logo&#10;&#10;AI-generated content may be incorrect.">
            <a:extLst>
              <a:ext uri="{FF2B5EF4-FFF2-40B4-BE49-F238E27FC236}">
                <a16:creationId xmlns:a16="http://schemas.microsoft.com/office/drawing/2014/main" id="{E846066D-5DBA-5041-980C-B7DC4EF2A595}"/>
              </a:ext>
            </a:extLst>
          </p:cNvPr>
          <p:cNvPicPr>
            <a:picLocks noChangeAspect="1"/>
          </p:cNvPicPr>
          <p:nvPr userDrawn="1"/>
        </p:nvPicPr>
        <p:blipFill>
          <a:blip r:embed="rId4"/>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15438070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08A151-1CC4-F67A-36E3-A04475F2A4D3}"/>
              </a:ext>
            </a:extLst>
          </p:cNvPr>
          <p:cNvSpPr/>
          <p:nvPr userDrawn="1"/>
        </p:nvSpPr>
        <p:spPr>
          <a:xfrm>
            <a:off x="0" y="0"/>
            <a:ext cx="12192000" cy="1059726"/>
          </a:xfrm>
          <a:prstGeom prst="rect">
            <a:avLst/>
          </a:prstGeom>
          <a:gradFill>
            <a:gsLst>
              <a:gs pos="2300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5" name="Text Placeholder 12">
            <a:extLst>
              <a:ext uri="{FF2B5EF4-FFF2-40B4-BE49-F238E27FC236}">
                <a16:creationId xmlns:a16="http://schemas.microsoft.com/office/drawing/2014/main" id="{C9AD7E17-12CC-201E-9F0E-2150773C331B}"/>
              </a:ext>
            </a:extLst>
          </p:cNvPr>
          <p:cNvSpPr>
            <a:spLocks noGrp="1"/>
          </p:cNvSpPr>
          <p:nvPr>
            <p:ph type="body" sz="quarter" idx="37" hasCustomPrompt="1"/>
          </p:nvPr>
        </p:nvSpPr>
        <p:spPr>
          <a:xfrm>
            <a:off x="458724" y="1439904"/>
            <a:ext cx="5510999" cy="610226"/>
          </a:xfrm>
        </p:spPr>
        <p:txBody>
          <a:bodyPr wrap="square">
            <a:noAutofit/>
          </a:bodyPr>
          <a:lstStyle>
            <a:lvl1pPr algn="l">
              <a:defRPr sz="1800" b="1">
                <a:solidFill>
                  <a:schemeClr val="tx2"/>
                </a:solidFill>
              </a:defRPr>
            </a:lvl1pPr>
          </a:lstStyle>
          <a:p>
            <a:pPr lvl="0"/>
            <a:r>
              <a:rPr lang="en-US" dirty="0"/>
              <a:t>Click to edit slide subhead</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 name="Text Placeholder 13">
            <a:extLst>
              <a:ext uri="{FF2B5EF4-FFF2-40B4-BE49-F238E27FC236}">
                <a16:creationId xmlns:a16="http://schemas.microsoft.com/office/drawing/2014/main" id="{86C259E4-92DC-BD45-D99F-44E4805FBEBE}"/>
              </a:ext>
            </a:extLst>
          </p:cNvPr>
          <p:cNvSpPr>
            <a:spLocks noGrp="1"/>
          </p:cNvSpPr>
          <p:nvPr>
            <p:ph type="body" sz="quarter" idx="16" hasCustomPrompt="1"/>
          </p:nvPr>
        </p:nvSpPr>
        <p:spPr>
          <a:xfrm>
            <a:off x="458723" y="2514902"/>
            <a:ext cx="3064075" cy="2799660"/>
          </a:xfrm>
        </p:spPr>
        <p:txBody>
          <a:bodyPr>
            <a:noAutofit/>
          </a:bodyPr>
          <a:lstStyle>
            <a:lvl1pPr>
              <a:defRPr sz="1400">
                <a:solidFill>
                  <a:schemeClr val="tx1"/>
                </a:solidFill>
              </a:defRPr>
            </a:lvl1pPr>
          </a:lstStyle>
          <a:p>
            <a:pPr lvl="0"/>
            <a:r>
              <a:rPr lang="en-US" dirty="0"/>
              <a:t>Click to add body copy here. </a:t>
            </a:r>
          </a:p>
        </p:txBody>
      </p:sp>
      <p:sp>
        <p:nvSpPr>
          <p:cNvPr id="9" name="Text Placeholder 13">
            <a:extLst>
              <a:ext uri="{FF2B5EF4-FFF2-40B4-BE49-F238E27FC236}">
                <a16:creationId xmlns:a16="http://schemas.microsoft.com/office/drawing/2014/main" id="{08481239-9093-8D44-C6E0-A6AA710FC6B0}"/>
              </a:ext>
            </a:extLst>
          </p:cNvPr>
          <p:cNvSpPr>
            <a:spLocks noGrp="1"/>
          </p:cNvSpPr>
          <p:nvPr>
            <p:ph type="body" sz="quarter" idx="38" hasCustomPrompt="1"/>
          </p:nvPr>
        </p:nvSpPr>
        <p:spPr>
          <a:xfrm>
            <a:off x="4563961" y="2514902"/>
            <a:ext cx="3064075" cy="2799660"/>
          </a:xfrm>
        </p:spPr>
        <p:txBody>
          <a:bodyPr>
            <a:noAutofit/>
          </a:bodyPr>
          <a:lstStyle>
            <a:lvl1pPr>
              <a:defRPr sz="1400">
                <a:solidFill>
                  <a:schemeClr val="tx1"/>
                </a:solidFill>
              </a:defRPr>
            </a:lvl1pPr>
          </a:lstStyle>
          <a:p>
            <a:pPr lvl="0"/>
            <a:r>
              <a:rPr lang="en-US" dirty="0"/>
              <a:t>Click to add body copy here. </a:t>
            </a:r>
          </a:p>
        </p:txBody>
      </p:sp>
      <p:sp>
        <p:nvSpPr>
          <p:cNvPr id="10" name="Text Placeholder 13">
            <a:extLst>
              <a:ext uri="{FF2B5EF4-FFF2-40B4-BE49-F238E27FC236}">
                <a16:creationId xmlns:a16="http://schemas.microsoft.com/office/drawing/2014/main" id="{FAB9C09D-2E6E-35C5-9913-E43C664B6563}"/>
              </a:ext>
            </a:extLst>
          </p:cNvPr>
          <p:cNvSpPr>
            <a:spLocks noGrp="1"/>
          </p:cNvSpPr>
          <p:nvPr>
            <p:ph type="body" sz="quarter" idx="39" hasCustomPrompt="1"/>
          </p:nvPr>
        </p:nvSpPr>
        <p:spPr>
          <a:xfrm>
            <a:off x="8650300" y="2514902"/>
            <a:ext cx="3064075" cy="2799660"/>
          </a:xfrm>
        </p:spPr>
        <p:txBody>
          <a:bodyPr>
            <a:noAutofit/>
          </a:bodyPr>
          <a:lstStyle>
            <a:lvl1pPr>
              <a:defRPr sz="1400">
                <a:solidFill>
                  <a:schemeClr val="tx1"/>
                </a:solidFill>
              </a:defRPr>
            </a:lvl1pPr>
          </a:lstStyle>
          <a:p>
            <a:pPr lvl="0"/>
            <a:r>
              <a:rPr lang="en-US" dirty="0"/>
              <a:t>Click to add body copy here. </a:t>
            </a:r>
          </a:p>
        </p:txBody>
      </p:sp>
    </p:spTree>
    <p:extLst>
      <p:ext uri="{BB962C8B-B14F-4D97-AF65-F5344CB8AC3E}">
        <p14:creationId xmlns:p14="http://schemas.microsoft.com/office/powerpoint/2010/main" val="2652576244"/>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8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5" name="Text Placeholder 12">
            <a:extLst>
              <a:ext uri="{FF2B5EF4-FFF2-40B4-BE49-F238E27FC236}">
                <a16:creationId xmlns:a16="http://schemas.microsoft.com/office/drawing/2014/main" id="{C9AD7E17-12CC-201E-9F0E-2150773C331B}"/>
              </a:ext>
            </a:extLst>
          </p:cNvPr>
          <p:cNvSpPr>
            <a:spLocks noGrp="1"/>
          </p:cNvSpPr>
          <p:nvPr>
            <p:ph type="body" sz="quarter" idx="37" hasCustomPrompt="1"/>
          </p:nvPr>
        </p:nvSpPr>
        <p:spPr>
          <a:xfrm>
            <a:off x="458724" y="905793"/>
            <a:ext cx="3677555" cy="830951"/>
          </a:xfrm>
        </p:spPr>
        <p:txBody>
          <a:bodyPr wrap="square">
            <a:noAutofit/>
          </a:bodyPr>
          <a:lstStyle>
            <a:lvl1pPr algn="l">
              <a:defRPr sz="1800" b="1">
                <a:solidFill>
                  <a:schemeClr val="tx2"/>
                </a:solidFill>
              </a:defRPr>
            </a:lvl1pPr>
          </a:lstStyle>
          <a:p>
            <a:pPr lvl="0"/>
            <a:r>
              <a:rPr lang="en-US" dirty="0"/>
              <a:t>Click to edit slide subhead</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2" name="Text Placeholder 13">
            <a:extLst>
              <a:ext uri="{FF2B5EF4-FFF2-40B4-BE49-F238E27FC236}">
                <a16:creationId xmlns:a16="http://schemas.microsoft.com/office/drawing/2014/main" id="{0E8D0E71-718A-2347-FEEA-0F50EB346853}"/>
              </a:ext>
            </a:extLst>
          </p:cNvPr>
          <p:cNvSpPr>
            <a:spLocks noGrp="1"/>
          </p:cNvSpPr>
          <p:nvPr>
            <p:ph type="body" sz="quarter" idx="16" hasCustomPrompt="1"/>
          </p:nvPr>
        </p:nvSpPr>
        <p:spPr>
          <a:xfrm>
            <a:off x="5069090" y="905794"/>
            <a:ext cx="6645285" cy="830950"/>
          </a:xfrm>
        </p:spPr>
        <p:txBody>
          <a:bodyPr>
            <a:noAutofit/>
          </a:bodyPr>
          <a:lstStyle>
            <a:lvl1pPr>
              <a:defRPr sz="1400">
                <a:solidFill>
                  <a:schemeClr val="tx1"/>
                </a:solidFill>
              </a:defRPr>
            </a:lvl1pPr>
          </a:lstStyle>
          <a:p>
            <a:pPr lvl="0"/>
            <a:r>
              <a:rPr lang="en-US" dirty="0"/>
              <a:t>Click to add body copy here. Try to keep to 3-4 sentences max. </a:t>
            </a:r>
          </a:p>
        </p:txBody>
      </p:sp>
    </p:spTree>
    <p:extLst>
      <p:ext uri="{BB962C8B-B14F-4D97-AF65-F5344CB8AC3E}">
        <p14:creationId xmlns:p14="http://schemas.microsoft.com/office/powerpoint/2010/main" val="727138741"/>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9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2" name="Text Placeholder 13">
            <a:extLst>
              <a:ext uri="{FF2B5EF4-FFF2-40B4-BE49-F238E27FC236}">
                <a16:creationId xmlns:a16="http://schemas.microsoft.com/office/drawing/2014/main" id="{0E8D0E71-718A-2347-FEEA-0F50EB346853}"/>
              </a:ext>
            </a:extLst>
          </p:cNvPr>
          <p:cNvSpPr>
            <a:spLocks noGrp="1"/>
          </p:cNvSpPr>
          <p:nvPr>
            <p:ph type="body" sz="quarter" idx="16" hasCustomPrompt="1"/>
          </p:nvPr>
        </p:nvSpPr>
        <p:spPr>
          <a:xfrm>
            <a:off x="471956" y="905794"/>
            <a:ext cx="5345838" cy="830950"/>
          </a:xfrm>
        </p:spPr>
        <p:txBody>
          <a:bodyPr>
            <a:noAutofit/>
          </a:bodyPr>
          <a:lstStyle>
            <a:lvl1pPr>
              <a:defRPr sz="1400">
                <a:solidFill>
                  <a:schemeClr val="tx1"/>
                </a:solidFill>
              </a:defRPr>
            </a:lvl1pPr>
          </a:lstStyle>
          <a:p>
            <a:pPr lvl="0"/>
            <a:r>
              <a:rPr lang="en-US" dirty="0"/>
              <a:t>Click to add body copy here. Try to keep to 3-4 sentences max. </a:t>
            </a:r>
          </a:p>
        </p:txBody>
      </p:sp>
    </p:spTree>
    <p:extLst>
      <p:ext uri="{BB962C8B-B14F-4D97-AF65-F5344CB8AC3E}">
        <p14:creationId xmlns:p14="http://schemas.microsoft.com/office/powerpoint/2010/main" val="158294342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7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08A151-1CC4-F67A-36E3-A04475F2A4D3}"/>
              </a:ext>
            </a:extLst>
          </p:cNvPr>
          <p:cNvSpPr/>
          <p:nvPr userDrawn="1"/>
        </p:nvSpPr>
        <p:spPr>
          <a:xfrm>
            <a:off x="0" y="0"/>
            <a:ext cx="12192000" cy="1059726"/>
          </a:xfrm>
          <a:prstGeom prst="rect">
            <a:avLst/>
          </a:prstGeom>
          <a:gradFill>
            <a:gsLst>
              <a:gs pos="2300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4" name="TextBox 13">
            <a:extLst>
              <a:ext uri="{FF2B5EF4-FFF2-40B4-BE49-F238E27FC236}">
                <a16:creationId xmlns:a16="http://schemas.microsoft.com/office/drawing/2014/main" id="{23AB30E8-07E8-7907-53CF-5854B0146F23}"/>
              </a:ext>
            </a:extLst>
          </p:cNvPr>
          <p:cNvSpPr txBox="1"/>
          <p:nvPr userDrawn="1"/>
        </p:nvSpPr>
        <p:spPr>
          <a:xfrm>
            <a:off x="405138" y="1043271"/>
            <a:ext cx="3455082" cy="784830"/>
          </a:xfrm>
          <a:prstGeom prst="rect">
            <a:avLst/>
          </a:prstGeom>
          <a:noFill/>
        </p:spPr>
        <p:txBody>
          <a:bodyPr wrap="square" rtlCol="0">
            <a:spAutoFit/>
          </a:bodyPr>
          <a:lstStyle/>
          <a:p>
            <a:r>
              <a:rPr lang="en-US" sz="4500" b="0" i="0" dirty="0">
                <a:solidFill>
                  <a:schemeClr val="tx2"/>
                </a:solidFill>
                <a:latin typeface="DM Sans 14pt ExtraLight" pitchFamily="2" charset="77"/>
              </a:rPr>
              <a:t>Agenda</a:t>
            </a:r>
          </a:p>
        </p:txBody>
      </p:sp>
    </p:spTree>
    <p:extLst>
      <p:ext uri="{BB962C8B-B14F-4D97-AF65-F5344CB8AC3E}">
        <p14:creationId xmlns:p14="http://schemas.microsoft.com/office/powerpoint/2010/main" val="1428154894"/>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Section Header">
    <p:bg>
      <p:bgPr>
        <a:gradFill>
          <a:gsLst>
            <a:gs pos="0">
              <a:schemeClr val="bg2"/>
            </a:gs>
            <a:gs pos="100000">
              <a:schemeClr val="tx1">
                <a:alpha val="14000"/>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5" name="Rectangle 4">
            <a:extLst>
              <a:ext uri="{FF2B5EF4-FFF2-40B4-BE49-F238E27FC236}">
                <a16:creationId xmlns:a16="http://schemas.microsoft.com/office/drawing/2014/main" id="{38DEF97A-12D1-9ED3-89DA-8D81AA313185}"/>
              </a:ext>
            </a:extLst>
          </p:cNvPr>
          <p:cNvSpPr/>
          <p:nvPr userDrawn="1"/>
        </p:nvSpPr>
        <p:spPr>
          <a:xfrm>
            <a:off x="477624" y="2290692"/>
            <a:ext cx="3221263" cy="32212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C8CDD61-103D-043A-80B2-997F916B3339}"/>
              </a:ext>
            </a:extLst>
          </p:cNvPr>
          <p:cNvSpPr/>
          <p:nvPr userDrawn="1"/>
        </p:nvSpPr>
        <p:spPr>
          <a:xfrm>
            <a:off x="4485369" y="2290692"/>
            <a:ext cx="3221263" cy="32212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19405F-7267-FB33-2C04-2A2D0C98419E}"/>
              </a:ext>
            </a:extLst>
          </p:cNvPr>
          <p:cNvSpPr/>
          <p:nvPr userDrawn="1"/>
        </p:nvSpPr>
        <p:spPr>
          <a:xfrm>
            <a:off x="8493115" y="2290693"/>
            <a:ext cx="3221263" cy="32212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93A215-28C9-3E90-DA58-463EF7694092}"/>
              </a:ext>
            </a:extLst>
          </p:cNvPr>
          <p:cNvSpPr/>
          <p:nvPr userDrawn="1"/>
        </p:nvSpPr>
        <p:spPr>
          <a:xfrm>
            <a:off x="477624" y="1601648"/>
            <a:ext cx="3221263" cy="6101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D7DB367-F84F-8EE1-C8B4-4456E2BD76C6}"/>
              </a:ext>
            </a:extLst>
          </p:cNvPr>
          <p:cNvSpPr/>
          <p:nvPr userDrawn="1"/>
        </p:nvSpPr>
        <p:spPr>
          <a:xfrm>
            <a:off x="4485367" y="1601648"/>
            <a:ext cx="3221263" cy="6101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85619FC-3ED3-7DC2-4EA1-D02B209EEA9A}"/>
              </a:ext>
            </a:extLst>
          </p:cNvPr>
          <p:cNvSpPr/>
          <p:nvPr userDrawn="1"/>
        </p:nvSpPr>
        <p:spPr>
          <a:xfrm>
            <a:off x="8493110" y="1601648"/>
            <a:ext cx="3221263" cy="6101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blue arrow in a circle&#10;&#10;AI-generated content may be incorrect.">
            <a:extLst>
              <a:ext uri="{FF2B5EF4-FFF2-40B4-BE49-F238E27FC236}">
                <a16:creationId xmlns:a16="http://schemas.microsoft.com/office/drawing/2014/main" id="{57CA568C-D9D3-AECC-48DD-F40ADA830334}"/>
              </a:ext>
            </a:extLst>
          </p:cNvPr>
          <p:cNvPicPr>
            <a:picLocks noChangeAspect="1"/>
          </p:cNvPicPr>
          <p:nvPr userDrawn="1"/>
        </p:nvPicPr>
        <p:blipFill>
          <a:blip r:embed="rId3"/>
          <a:stretch>
            <a:fillRect/>
          </a:stretch>
        </p:blipFill>
        <p:spPr>
          <a:xfrm>
            <a:off x="647315" y="1753020"/>
            <a:ext cx="307371" cy="307371"/>
          </a:xfrm>
          <a:prstGeom prst="rect">
            <a:avLst/>
          </a:prstGeom>
        </p:spPr>
      </p:pic>
      <p:pic>
        <p:nvPicPr>
          <p:cNvPr id="24" name="Picture 23" descr="A blue arrow in a circle&#10;&#10;AI-generated content may be incorrect.">
            <a:extLst>
              <a:ext uri="{FF2B5EF4-FFF2-40B4-BE49-F238E27FC236}">
                <a16:creationId xmlns:a16="http://schemas.microsoft.com/office/drawing/2014/main" id="{0B514791-817A-B130-74F2-B127723B1683}"/>
              </a:ext>
            </a:extLst>
          </p:cNvPr>
          <p:cNvPicPr>
            <a:picLocks noChangeAspect="1"/>
          </p:cNvPicPr>
          <p:nvPr userDrawn="1"/>
        </p:nvPicPr>
        <p:blipFill>
          <a:blip r:embed="rId3"/>
          <a:stretch>
            <a:fillRect/>
          </a:stretch>
        </p:blipFill>
        <p:spPr>
          <a:xfrm>
            <a:off x="4646520" y="1753020"/>
            <a:ext cx="307371" cy="307371"/>
          </a:xfrm>
          <a:prstGeom prst="rect">
            <a:avLst/>
          </a:prstGeom>
        </p:spPr>
      </p:pic>
      <p:pic>
        <p:nvPicPr>
          <p:cNvPr id="26" name="Picture 25" descr="A blue arrow in a circle&#10;&#10;AI-generated content may be incorrect.">
            <a:extLst>
              <a:ext uri="{FF2B5EF4-FFF2-40B4-BE49-F238E27FC236}">
                <a16:creationId xmlns:a16="http://schemas.microsoft.com/office/drawing/2014/main" id="{21288501-215B-D421-256D-7D4077AEC59A}"/>
              </a:ext>
            </a:extLst>
          </p:cNvPr>
          <p:cNvPicPr>
            <a:picLocks noChangeAspect="1"/>
          </p:cNvPicPr>
          <p:nvPr userDrawn="1"/>
        </p:nvPicPr>
        <p:blipFill>
          <a:blip r:embed="rId3"/>
          <a:stretch>
            <a:fillRect/>
          </a:stretch>
        </p:blipFill>
        <p:spPr>
          <a:xfrm>
            <a:off x="8649456" y="1746289"/>
            <a:ext cx="307371" cy="307371"/>
          </a:xfrm>
          <a:prstGeom prst="rect">
            <a:avLst/>
          </a:prstGeom>
        </p:spPr>
      </p:pic>
      <p:sp>
        <p:nvSpPr>
          <p:cNvPr id="2" name="Text Placeholder 13">
            <a:extLst>
              <a:ext uri="{FF2B5EF4-FFF2-40B4-BE49-F238E27FC236}">
                <a16:creationId xmlns:a16="http://schemas.microsoft.com/office/drawing/2014/main" id="{BB7DE1B5-957D-8391-8C03-0611EF28B9FB}"/>
              </a:ext>
            </a:extLst>
          </p:cNvPr>
          <p:cNvSpPr>
            <a:spLocks noGrp="1"/>
          </p:cNvSpPr>
          <p:nvPr>
            <p:ph type="body" sz="quarter" idx="16" hasCustomPrompt="1"/>
          </p:nvPr>
        </p:nvSpPr>
        <p:spPr>
          <a:xfrm>
            <a:off x="4485367" y="398631"/>
            <a:ext cx="7258045" cy="625493"/>
          </a:xfrm>
        </p:spPr>
        <p:txBody>
          <a:bodyPr>
            <a:noAutofit/>
          </a:bodyPr>
          <a:lstStyle>
            <a:lvl1pPr>
              <a:defRPr>
                <a:solidFill>
                  <a:schemeClr val="tx1"/>
                </a:solidFill>
              </a:defRPr>
            </a:lvl1pPr>
          </a:lstStyle>
          <a:p>
            <a:pPr lvl="0"/>
            <a:r>
              <a:rPr lang="en-US" dirty="0"/>
              <a:t>Click to add body copy.</a:t>
            </a:r>
          </a:p>
        </p:txBody>
      </p:sp>
      <p:sp>
        <p:nvSpPr>
          <p:cNvPr id="7" name="Text Placeholder 13">
            <a:extLst>
              <a:ext uri="{FF2B5EF4-FFF2-40B4-BE49-F238E27FC236}">
                <a16:creationId xmlns:a16="http://schemas.microsoft.com/office/drawing/2014/main" id="{6CB2FDD5-CFBB-B78C-B2EC-A60C0C0EFF29}"/>
              </a:ext>
            </a:extLst>
          </p:cNvPr>
          <p:cNvSpPr>
            <a:spLocks noGrp="1"/>
          </p:cNvSpPr>
          <p:nvPr>
            <p:ph type="body" sz="quarter" idx="17" hasCustomPrompt="1"/>
          </p:nvPr>
        </p:nvSpPr>
        <p:spPr>
          <a:xfrm>
            <a:off x="1111033" y="1789596"/>
            <a:ext cx="2409408" cy="307371"/>
          </a:xfrm>
        </p:spPr>
        <p:txBody>
          <a:bodyPr wrap="none">
            <a:noAutofit/>
          </a:bodyPr>
          <a:lstStyle>
            <a:lvl1pPr>
              <a:defRPr sz="1200" b="0">
                <a:solidFill>
                  <a:schemeClr val="tx1"/>
                </a:solidFill>
              </a:defRPr>
            </a:lvl1pPr>
          </a:lstStyle>
          <a:p>
            <a:pPr lvl="0"/>
            <a:r>
              <a:rPr lang="en-US" dirty="0"/>
              <a:t>Click to add body copy.</a:t>
            </a:r>
          </a:p>
        </p:txBody>
      </p:sp>
      <p:sp>
        <p:nvSpPr>
          <p:cNvPr id="8" name="Text Placeholder 13">
            <a:extLst>
              <a:ext uri="{FF2B5EF4-FFF2-40B4-BE49-F238E27FC236}">
                <a16:creationId xmlns:a16="http://schemas.microsoft.com/office/drawing/2014/main" id="{1379481E-1B3B-82C1-50BA-21DF363AEA64}"/>
              </a:ext>
            </a:extLst>
          </p:cNvPr>
          <p:cNvSpPr>
            <a:spLocks noGrp="1"/>
          </p:cNvSpPr>
          <p:nvPr>
            <p:ph type="body" sz="quarter" idx="18" hasCustomPrompt="1"/>
          </p:nvPr>
        </p:nvSpPr>
        <p:spPr>
          <a:xfrm>
            <a:off x="5110237" y="1789595"/>
            <a:ext cx="2409408" cy="307371"/>
          </a:xfrm>
        </p:spPr>
        <p:txBody>
          <a:bodyPr wrap="none">
            <a:noAutofit/>
          </a:bodyPr>
          <a:lstStyle>
            <a:lvl1pPr>
              <a:defRPr sz="1200" b="0">
                <a:solidFill>
                  <a:schemeClr val="tx1"/>
                </a:solidFill>
              </a:defRPr>
            </a:lvl1pPr>
          </a:lstStyle>
          <a:p>
            <a:pPr lvl="0"/>
            <a:r>
              <a:rPr lang="en-US" dirty="0"/>
              <a:t>Click to add body copy.</a:t>
            </a:r>
          </a:p>
        </p:txBody>
      </p:sp>
      <p:sp>
        <p:nvSpPr>
          <p:cNvPr id="14" name="Text Placeholder 13">
            <a:extLst>
              <a:ext uri="{FF2B5EF4-FFF2-40B4-BE49-F238E27FC236}">
                <a16:creationId xmlns:a16="http://schemas.microsoft.com/office/drawing/2014/main" id="{9345E8AC-791E-7894-96D7-8108B34D12DB}"/>
              </a:ext>
            </a:extLst>
          </p:cNvPr>
          <p:cNvSpPr>
            <a:spLocks noGrp="1"/>
          </p:cNvSpPr>
          <p:nvPr>
            <p:ph type="body" sz="quarter" idx="19" hasCustomPrompt="1"/>
          </p:nvPr>
        </p:nvSpPr>
        <p:spPr>
          <a:xfrm>
            <a:off x="9113173" y="1777315"/>
            <a:ext cx="2409408" cy="307371"/>
          </a:xfrm>
        </p:spPr>
        <p:txBody>
          <a:bodyPr wrap="none">
            <a:noAutofit/>
          </a:bodyPr>
          <a:lstStyle>
            <a:lvl1pPr>
              <a:defRPr sz="1200" b="0">
                <a:solidFill>
                  <a:schemeClr val="tx1"/>
                </a:solidFill>
              </a:defRPr>
            </a:lvl1pPr>
          </a:lstStyle>
          <a:p>
            <a:pPr lvl="0"/>
            <a:r>
              <a:rPr lang="en-US" dirty="0"/>
              <a:t>Click to add body copy.</a:t>
            </a:r>
          </a:p>
        </p:txBody>
      </p:sp>
      <p:sp>
        <p:nvSpPr>
          <p:cNvPr id="4" name="Text Placeholder 12">
            <a:extLst>
              <a:ext uri="{FF2B5EF4-FFF2-40B4-BE49-F238E27FC236}">
                <a16:creationId xmlns:a16="http://schemas.microsoft.com/office/drawing/2014/main" id="{BBD7CBC1-539E-7167-FD8E-219EB3E96AEB}"/>
              </a:ext>
            </a:extLst>
          </p:cNvPr>
          <p:cNvSpPr>
            <a:spLocks noGrp="1"/>
          </p:cNvSpPr>
          <p:nvPr>
            <p:ph type="body" sz="quarter" idx="36" hasCustomPrompt="1"/>
          </p:nvPr>
        </p:nvSpPr>
        <p:spPr>
          <a:xfrm>
            <a:off x="471955" y="387691"/>
            <a:ext cx="3221263"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Tree>
    <p:extLst>
      <p:ext uri="{BB962C8B-B14F-4D97-AF65-F5344CB8AC3E}">
        <p14:creationId xmlns:p14="http://schemas.microsoft.com/office/powerpoint/2010/main" val="1225214893"/>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Section Header">
    <p:bg>
      <p:bgPr>
        <a:gradFill>
          <a:gsLst>
            <a:gs pos="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7" name="Title Placeholder 1">
            <a:extLst>
              <a:ext uri="{FF2B5EF4-FFF2-40B4-BE49-F238E27FC236}">
                <a16:creationId xmlns:a16="http://schemas.microsoft.com/office/drawing/2014/main" id="{AD589855-A25A-300C-F9A6-E67AE24D4622}"/>
              </a:ext>
            </a:extLst>
          </p:cNvPr>
          <p:cNvSpPr>
            <a:spLocks noGrp="1"/>
          </p:cNvSpPr>
          <p:nvPr>
            <p:ph type="title" hasCustomPrompt="1"/>
          </p:nvPr>
        </p:nvSpPr>
        <p:spPr>
          <a:xfrm>
            <a:off x="2687888" y="339820"/>
            <a:ext cx="2120373" cy="659662"/>
          </a:xfrm>
          <a:prstGeom prst="rect">
            <a:avLst/>
          </a:prstGeom>
        </p:spPr>
        <p:txBody>
          <a:bodyPr vert="horz" wrap="none" lIns="0" tIns="0" rIns="91440" bIns="45720" rtlCol="0" anchor="t" anchorCtr="0">
            <a:noAutofit/>
          </a:bodyPr>
          <a:lstStyle>
            <a:lvl1pPr algn="l">
              <a:lnSpc>
                <a:spcPct val="95000"/>
              </a:lnSpc>
              <a:defRPr/>
            </a:lvl1pPr>
          </a:lstStyle>
          <a:p>
            <a:r>
              <a:rPr lang="en-US" dirty="0"/>
              <a:t>Clients</a:t>
            </a:r>
          </a:p>
        </p:txBody>
      </p:sp>
      <p:sp>
        <p:nvSpPr>
          <p:cNvPr id="8" name="Picture Placeholder 9">
            <a:extLst>
              <a:ext uri="{FF2B5EF4-FFF2-40B4-BE49-F238E27FC236}">
                <a16:creationId xmlns:a16="http://schemas.microsoft.com/office/drawing/2014/main" id="{099AAE17-855B-DE73-A900-4C4E7C1AC55A}"/>
              </a:ext>
            </a:extLst>
          </p:cNvPr>
          <p:cNvSpPr>
            <a:spLocks noGrp="1"/>
          </p:cNvSpPr>
          <p:nvPr>
            <p:ph type="pic" sz="quarter" idx="15"/>
          </p:nvPr>
        </p:nvSpPr>
        <p:spPr>
          <a:xfrm>
            <a:off x="477624" y="1631604"/>
            <a:ext cx="1700632" cy="1700631"/>
          </a:xfrm>
          <a:pattFill prst="wdUpDiag">
            <a:fgClr>
              <a:schemeClr val="tx1">
                <a:lumMod val="75000"/>
              </a:schemeClr>
            </a:fgClr>
            <a:bgClr>
              <a:schemeClr val="tx1">
                <a:lumMod val="50000"/>
              </a:schemeClr>
            </a:bgClr>
          </a:pattFill>
        </p:spPr>
        <p:txBody>
          <a:bodyPr/>
          <a:lstStyle/>
          <a:p>
            <a:endParaRPr lang="en-US"/>
          </a:p>
        </p:txBody>
      </p:sp>
      <p:sp>
        <p:nvSpPr>
          <p:cNvPr id="12" name="Picture Placeholder 9">
            <a:extLst>
              <a:ext uri="{FF2B5EF4-FFF2-40B4-BE49-F238E27FC236}">
                <a16:creationId xmlns:a16="http://schemas.microsoft.com/office/drawing/2014/main" id="{35F3EFF8-1EA4-853B-5D6D-2F175D27EC6E}"/>
              </a:ext>
            </a:extLst>
          </p:cNvPr>
          <p:cNvSpPr>
            <a:spLocks noGrp="1"/>
          </p:cNvSpPr>
          <p:nvPr>
            <p:ph type="pic" sz="quarter" idx="16"/>
          </p:nvPr>
        </p:nvSpPr>
        <p:spPr>
          <a:xfrm>
            <a:off x="2385960" y="1631603"/>
            <a:ext cx="1700632" cy="1700631"/>
          </a:xfrm>
          <a:pattFill prst="wdUpDiag">
            <a:fgClr>
              <a:schemeClr val="tx1">
                <a:lumMod val="75000"/>
              </a:schemeClr>
            </a:fgClr>
            <a:bgClr>
              <a:schemeClr val="tx1">
                <a:lumMod val="50000"/>
              </a:schemeClr>
            </a:bgClr>
          </a:pattFill>
        </p:spPr>
        <p:txBody>
          <a:bodyPr/>
          <a:lstStyle/>
          <a:p>
            <a:endParaRPr lang="en-US"/>
          </a:p>
        </p:txBody>
      </p:sp>
      <p:sp>
        <p:nvSpPr>
          <p:cNvPr id="13" name="Picture Placeholder 9">
            <a:extLst>
              <a:ext uri="{FF2B5EF4-FFF2-40B4-BE49-F238E27FC236}">
                <a16:creationId xmlns:a16="http://schemas.microsoft.com/office/drawing/2014/main" id="{99E4C745-88A9-E8B0-116A-E69B7E2C1CCC}"/>
              </a:ext>
            </a:extLst>
          </p:cNvPr>
          <p:cNvSpPr>
            <a:spLocks noGrp="1"/>
          </p:cNvSpPr>
          <p:nvPr>
            <p:ph type="pic" sz="quarter" idx="17"/>
          </p:nvPr>
        </p:nvSpPr>
        <p:spPr>
          <a:xfrm>
            <a:off x="4294296" y="1631602"/>
            <a:ext cx="1700632" cy="1700631"/>
          </a:xfrm>
          <a:pattFill prst="wdUpDiag">
            <a:fgClr>
              <a:schemeClr val="tx1">
                <a:lumMod val="75000"/>
              </a:schemeClr>
            </a:fgClr>
            <a:bgClr>
              <a:schemeClr val="tx1">
                <a:lumMod val="50000"/>
              </a:schemeClr>
            </a:bgClr>
          </a:pattFill>
        </p:spPr>
        <p:txBody>
          <a:bodyPr/>
          <a:lstStyle/>
          <a:p>
            <a:endParaRPr lang="en-US"/>
          </a:p>
        </p:txBody>
      </p:sp>
      <p:sp>
        <p:nvSpPr>
          <p:cNvPr id="14" name="Picture Placeholder 9">
            <a:extLst>
              <a:ext uri="{FF2B5EF4-FFF2-40B4-BE49-F238E27FC236}">
                <a16:creationId xmlns:a16="http://schemas.microsoft.com/office/drawing/2014/main" id="{12672948-6863-1D59-A5B7-8EEA6C4B669F}"/>
              </a:ext>
            </a:extLst>
          </p:cNvPr>
          <p:cNvSpPr>
            <a:spLocks noGrp="1"/>
          </p:cNvSpPr>
          <p:nvPr>
            <p:ph type="pic" sz="quarter" idx="18"/>
          </p:nvPr>
        </p:nvSpPr>
        <p:spPr>
          <a:xfrm>
            <a:off x="6202632" y="1631602"/>
            <a:ext cx="1700632" cy="1700631"/>
          </a:xfrm>
          <a:pattFill prst="wdUpDiag">
            <a:fgClr>
              <a:schemeClr val="tx1">
                <a:lumMod val="75000"/>
              </a:schemeClr>
            </a:fgClr>
            <a:bgClr>
              <a:schemeClr val="tx1">
                <a:lumMod val="50000"/>
              </a:schemeClr>
            </a:bgClr>
          </a:pattFill>
        </p:spPr>
        <p:txBody>
          <a:bodyPr/>
          <a:lstStyle/>
          <a:p>
            <a:endParaRPr lang="en-US"/>
          </a:p>
        </p:txBody>
      </p:sp>
      <p:sp>
        <p:nvSpPr>
          <p:cNvPr id="15" name="Picture Placeholder 9">
            <a:extLst>
              <a:ext uri="{FF2B5EF4-FFF2-40B4-BE49-F238E27FC236}">
                <a16:creationId xmlns:a16="http://schemas.microsoft.com/office/drawing/2014/main" id="{8F01973A-7EF8-3CF6-32ED-76759EC1C71B}"/>
              </a:ext>
            </a:extLst>
          </p:cNvPr>
          <p:cNvSpPr>
            <a:spLocks noGrp="1"/>
          </p:cNvSpPr>
          <p:nvPr>
            <p:ph type="pic" sz="quarter" idx="19"/>
          </p:nvPr>
        </p:nvSpPr>
        <p:spPr>
          <a:xfrm>
            <a:off x="8110968" y="1631601"/>
            <a:ext cx="1700632" cy="1700631"/>
          </a:xfrm>
          <a:pattFill prst="wdUpDiag">
            <a:fgClr>
              <a:schemeClr val="tx1">
                <a:lumMod val="75000"/>
              </a:schemeClr>
            </a:fgClr>
            <a:bgClr>
              <a:schemeClr val="tx1">
                <a:lumMod val="50000"/>
              </a:schemeClr>
            </a:bgClr>
          </a:pattFill>
        </p:spPr>
        <p:txBody>
          <a:bodyPr/>
          <a:lstStyle/>
          <a:p>
            <a:endParaRPr lang="en-US"/>
          </a:p>
        </p:txBody>
      </p:sp>
      <p:sp>
        <p:nvSpPr>
          <p:cNvPr id="16" name="Picture Placeholder 9">
            <a:extLst>
              <a:ext uri="{FF2B5EF4-FFF2-40B4-BE49-F238E27FC236}">
                <a16:creationId xmlns:a16="http://schemas.microsoft.com/office/drawing/2014/main" id="{69A74E63-CA82-4FB9-345B-B498686F886B}"/>
              </a:ext>
            </a:extLst>
          </p:cNvPr>
          <p:cNvSpPr>
            <a:spLocks noGrp="1"/>
          </p:cNvSpPr>
          <p:nvPr>
            <p:ph type="pic" sz="quarter" idx="20"/>
          </p:nvPr>
        </p:nvSpPr>
        <p:spPr>
          <a:xfrm>
            <a:off x="10019304" y="1631601"/>
            <a:ext cx="1700632" cy="1700631"/>
          </a:xfrm>
          <a:pattFill prst="wdUpDiag">
            <a:fgClr>
              <a:schemeClr val="tx1">
                <a:lumMod val="75000"/>
              </a:schemeClr>
            </a:fgClr>
            <a:bgClr>
              <a:schemeClr val="tx1">
                <a:lumMod val="50000"/>
              </a:schemeClr>
            </a:bgClr>
          </a:pattFill>
        </p:spPr>
        <p:txBody>
          <a:bodyPr/>
          <a:lstStyle/>
          <a:p>
            <a:endParaRPr lang="en-US"/>
          </a:p>
        </p:txBody>
      </p:sp>
      <p:sp>
        <p:nvSpPr>
          <p:cNvPr id="17" name="Picture Placeholder 9">
            <a:extLst>
              <a:ext uri="{FF2B5EF4-FFF2-40B4-BE49-F238E27FC236}">
                <a16:creationId xmlns:a16="http://schemas.microsoft.com/office/drawing/2014/main" id="{5AF6F113-F8FE-5042-0BDE-016DB0679830}"/>
              </a:ext>
            </a:extLst>
          </p:cNvPr>
          <p:cNvSpPr>
            <a:spLocks noGrp="1"/>
          </p:cNvSpPr>
          <p:nvPr>
            <p:ph type="pic" sz="quarter" idx="21"/>
          </p:nvPr>
        </p:nvSpPr>
        <p:spPr>
          <a:xfrm>
            <a:off x="472063" y="3552862"/>
            <a:ext cx="1700632" cy="1700631"/>
          </a:xfrm>
          <a:pattFill prst="wdUpDiag">
            <a:fgClr>
              <a:schemeClr val="tx1">
                <a:lumMod val="75000"/>
              </a:schemeClr>
            </a:fgClr>
            <a:bgClr>
              <a:schemeClr val="tx1">
                <a:lumMod val="50000"/>
              </a:schemeClr>
            </a:bgClr>
          </a:pattFill>
        </p:spPr>
        <p:txBody>
          <a:bodyPr/>
          <a:lstStyle/>
          <a:p>
            <a:endParaRPr lang="en-US"/>
          </a:p>
        </p:txBody>
      </p:sp>
      <p:sp>
        <p:nvSpPr>
          <p:cNvPr id="18" name="Picture Placeholder 9">
            <a:extLst>
              <a:ext uri="{FF2B5EF4-FFF2-40B4-BE49-F238E27FC236}">
                <a16:creationId xmlns:a16="http://schemas.microsoft.com/office/drawing/2014/main" id="{BB61DB04-254F-26AA-70E2-39240301C0F5}"/>
              </a:ext>
            </a:extLst>
          </p:cNvPr>
          <p:cNvSpPr>
            <a:spLocks noGrp="1"/>
          </p:cNvSpPr>
          <p:nvPr>
            <p:ph type="pic" sz="quarter" idx="22"/>
          </p:nvPr>
        </p:nvSpPr>
        <p:spPr>
          <a:xfrm>
            <a:off x="2380399" y="3552861"/>
            <a:ext cx="1700632" cy="1700631"/>
          </a:xfrm>
          <a:pattFill prst="wdUpDiag">
            <a:fgClr>
              <a:schemeClr val="tx1">
                <a:lumMod val="75000"/>
              </a:schemeClr>
            </a:fgClr>
            <a:bgClr>
              <a:schemeClr val="tx1">
                <a:lumMod val="50000"/>
              </a:schemeClr>
            </a:bgClr>
          </a:pattFill>
        </p:spPr>
        <p:txBody>
          <a:bodyPr/>
          <a:lstStyle/>
          <a:p>
            <a:endParaRPr lang="en-US"/>
          </a:p>
        </p:txBody>
      </p:sp>
      <p:sp>
        <p:nvSpPr>
          <p:cNvPr id="19" name="Picture Placeholder 9">
            <a:extLst>
              <a:ext uri="{FF2B5EF4-FFF2-40B4-BE49-F238E27FC236}">
                <a16:creationId xmlns:a16="http://schemas.microsoft.com/office/drawing/2014/main" id="{127A7390-1C5D-0B44-5C3E-FCDA3E5FCF16}"/>
              </a:ext>
            </a:extLst>
          </p:cNvPr>
          <p:cNvSpPr>
            <a:spLocks noGrp="1"/>
          </p:cNvSpPr>
          <p:nvPr>
            <p:ph type="pic" sz="quarter" idx="23"/>
          </p:nvPr>
        </p:nvSpPr>
        <p:spPr>
          <a:xfrm>
            <a:off x="4288735" y="3552860"/>
            <a:ext cx="1700632" cy="1700631"/>
          </a:xfrm>
          <a:pattFill prst="wdUpDiag">
            <a:fgClr>
              <a:schemeClr val="tx1">
                <a:lumMod val="75000"/>
              </a:schemeClr>
            </a:fgClr>
            <a:bgClr>
              <a:schemeClr val="tx1">
                <a:lumMod val="50000"/>
              </a:schemeClr>
            </a:bgClr>
          </a:pattFill>
        </p:spPr>
        <p:txBody>
          <a:bodyPr/>
          <a:lstStyle/>
          <a:p>
            <a:endParaRPr lang="en-US"/>
          </a:p>
        </p:txBody>
      </p:sp>
      <p:sp>
        <p:nvSpPr>
          <p:cNvPr id="20" name="Picture Placeholder 9">
            <a:extLst>
              <a:ext uri="{FF2B5EF4-FFF2-40B4-BE49-F238E27FC236}">
                <a16:creationId xmlns:a16="http://schemas.microsoft.com/office/drawing/2014/main" id="{871881E5-81D3-222C-BE4B-E70CC7CE3C99}"/>
              </a:ext>
            </a:extLst>
          </p:cNvPr>
          <p:cNvSpPr>
            <a:spLocks noGrp="1"/>
          </p:cNvSpPr>
          <p:nvPr>
            <p:ph type="pic" sz="quarter" idx="24"/>
          </p:nvPr>
        </p:nvSpPr>
        <p:spPr>
          <a:xfrm>
            <a:off x="6197071" y="3552860"/>
            <a:ext cx="1700632" cy="1700631"/>
          </a:xfrm>
          <a:pattFill prst="wdUpDiag">
            <a:fgClr>
              <a:schemeClr val="tx1">
                <a:lumMod val="75000"/>
              </a:schemeClr>
            </a:fgClr>
            <a:bgClr>
              <a:schemeClr val="tx1">
                <a:lumMod val="50000"/>
              </a:schemeClr>
            </a:bgClr>
          </a:pattFill>
        </p:spPr>
        <p:txBody>
          <a:bodyPr/>
          <a:lstStyle/>
          <a:p>
            <a:endParaRPr lang="en-US"/>
          </a:p>
        </p:txBody>
      </p:sp>
      <p:sp>
        <p:nvSpPr>
          <p:cNvPr id="21" name="Picture Placeholder 9">
            <a:extLst>
              <a:ext uri="{FF2B5EF4-FFF2-40B4-BE49-F238E27FC236}">
                <a16:creationId xmlns:a16="http://schemas.microsoft.com/office/drawing/2014/main" id="{A1B36E7B-AB7B-76C3-8E31-814796E1DAE7}"/>
              </a:ext>
            </a:extLst>
          </p:cNvPr>
          <p:cNvSpPr>
            <a:spLocks noGrp="1"/>
          </p:cNvSpPr>
          <p:nvPr>
            <p:ph type="pic" sz="quarter" idx="25"/>
          </p:nvPr>
        </p:nvSpPr>
        <p:spPr>
          <a:xfrm>
            <a:off x="8105407" y="3552859"/>
            <a:ext cx="1700632" cy="1700631"/>
          </a:xfrm>
          <a:pattFill prst="wdUpDiag">
            <a:fgClr>
              <a:schemeClr val="tx1">
                <a:lumMod val="75000"/>
              </a:schemeClr>
            </a:fgClr>
            <a:bgClr>
              <a:schemeClr val="tx1">
                <a:lumMod val="50000"/>
              </a:schemeClr>
            </a:bgClr>
          </a:pattFill>
        </p:spPr>
        <p:txBody>
          <a:bodyPr/>
          <a:lstStyle/>
          <a:p>
            <a:endParaRPr lang="en-US"/>
          </a:p>
        </p:txBody>
      </p:sp>
      <p:sp>
        <p:nvSpPr>
          <p:cNvPr id="22" name="Picture Placeholder 9">
            <a:extLst>
              <a:ext uri="{FF2B5EF4-FFF2-40B4-BE49-F238E27FC236}">
                <a16:creationId xmlns:a16="http://schemas.microsoft.com/office/drawing/2014/main" id="{3D5E8E48-8A7B-FB86-80AA-9767012F13C7}"/>
              </a:ext>
            </a:extLst>
          </p:cNvPr>
          <p:cNvSpPr>
            <a:spLocks noGrp="1"/>
          </p:cNvSpPr>
          <p:nvPr>
            <p:ph type="pic" sz="quarter" idx="26"/>
          </p:nvPr>
        </p:nvSpPr>
        <p:spPr>
          <a:xfrm>
            <a:off x="10013743" y="3552859"/>
            <a:ext cx="1700632" cy="1700631"/>
          </a:xfrm>
          <a:pattFill prst="wdUpDiag">
            <a:fgClr>
              <a:schemeClr val="tx1">
                <a:lumMod val="75000"/>
              </a:schemeClr>
            </a:fgClr>
            <a:bgClr>
              <a:schemeClr val="tx1">
                <a:lumMod val="50000"/>
              </a:schemeClr>
            </a:bgClr>
          </a:pattFill>
        </p:spPr>
        <p:txBody>
          <a:bodyPr/>
          <a:lstStyle/>
          <a:p>
            <a:endParaRPr lang="en-US"/>
          </a:p>
        </p:txBody>
      </p:sp>
      <p:sp>
        <p:nvSpPr>
          <p:cNvPr id="9" name="Text Placeholder 12">
            <a:extLst>
              <a:ext uri="{FF2B5EF4-FFF2-40B4-BE49-F238E27FC236}">
                <a16:creationId xmlns:a16="http://schemas.microsoft.com/office/drawing/2014/main" id="{9D5815F5-3043-3E73-F534-E083A9EF9B50}"/>
              </a:ext>
            </a:extLst>
          </p:cNvPr>
          <p:cNvSpPr>
            <a:spLocks noGrp="1"/>
          </p:cNvSpPr>
          <p:nvPr>
            <p:ph type="body" sz="quarter" idx="36" hasCustomPrompt="1"/>
          </p:nvPr>
        </p:nvSpPr>
        <p:spPr>
          <a:xfrm>
            <a:off x="471955" y="387691"/>
            <a:ext cx="2060821" cy="263277"/>
          </a:xfrm>
        </p:spPr>
        <p:txBody>
          <a:bodyPr wrap="none">
            <a:noAutofit/>
          </a:bodyPr>
          <a:lstStyle>
            <a:lvl1pPr algn="l">
              <a:defRPr sz="1200" b="1" i="1">
                <a:solidFill>
                  <a:schemeClr val="accent3"/>
                </a:solidFill>
              </a:defRPr>
            </a:lvl1pPr>
          </a:lstStyle>
          <a:p>
            <a:pPr lvl="0"/>
            <a:r>
              <a:rPr lang="en-US" dirty="0"/>
              <a:t>Click to add section name</a:t>
            </a:r>
          </a:p>
        </p:txBody>
      </p:sp>
      <p:pic>
        <p:nvPicPr>
          <p:cNvPr id="5" name="Picture 4" descr="A blue and orange logo&#10;&#10;AI-generated content may be incorrect.">
            <a:extLst>
              <a:ext uri="{FF2B5EF4-FFF2-40B4-BE49-F238E27FC236}">
                <a16:creationId xmlns:a16="http://schemas.microsoft.com/office/drawing/2014/main" id="{DB87FDF3-0441-AB2A-8AFF-925B70F3AC3F}"/>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3429066031"/>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Section Header">
    <p:bg>
      <p:bgPr>
        <a:gradFill>
          <a:gsLst>
            <a:gs pos="50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6" name="Oval 5">
            <a:extLst>
              <a:ext uri="{FF2B5EF4-FFF2-40B4-BE49-F238E27FC236}">
                <a16:creationId xmlns:a16="http://schemas.microsoft.com/office/drawing/2014/main" id="{C3625CB8-A397-260C-C3E3-6B59520389DC}"/>
              </a:ext>
            </a:extLst>
          </p:cNvPr>
          <p:cNvSpPr/>
          <p:nvPr userDrawn="1"/>
        </p:nvSpPr>
        <p:spPr>
          <a:xfrm>
            <a:off x="1308015"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21">
            <a:extLst>
              <a:ext uri="{FF2B5EF4-FFF2-40B4-BE49-F238E27FC236}">
                <a16:creationId xmlns:a16="http://schemas.microsoft.com/office/drawing/2014/main" id="{ED46F259-D1DE-80C2-053B-A482CE827876}"/>
              </a:ext>
            </a:extLst>
          </p:cNvPr>
          <p:cNvSpPr>
            <a:spLocks noGrp="1"/>
          </p:cNvSpPr>
          <p:nvPr>
            <p:ph type="pic" sz="quarter" idx="15"/>
          </p:nvPr>
        </p:nvSpPr>
        <p:spPr>
          <a:xfrm>
            <a:off x="1474371"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0" name="Oval 9">
            <a:extLst>
              <a:ext uri="{FF2B5EF4-FFF2-40B4-BE49-F238E27FC236}">
                <a16:creationId xmlns:a16="http://schemas.microsoft.com/office/drawing/2014/main" id="{21D13A3A-7555-178F-B410-5356C751C582}"/>
              </a:ext>
            </a:extLst>
          </p:cNvPr>
          <p:cNvSpPr/>
          <p:nvPr userDrawn="1"/>
        </p:nvSpPr>
        <p:spPr>
          <a:xfrm>
            <a:off x="9253037"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icture Placeholder 21">
            <a:extLst>
              <a:ext uri="{FF2B5EF4-FFF2-40B4-BE49-F238E27FC236}">
                <a16:creationId xmlns:a16="http://schemas.microsoft.com/office/drawing/2014/main" id="{2F7A958B-7BA8-BFD1-D007-F7000736F51B}"/>
              </a:ext>
            </a:extLst>
          </p:cNvPr>
          <p:cNvSpPr>
            <a:spLocks noGrp="1"/>
          </p:cNvSpPr>
          <p:nvPr>
            <p:ph type="pic" sz="quarter" idx="16"/>
          </p:nvPr>
        </p:nvSpPr>
        <p:spPr>
          <a:xfrm>
            <a:off x="9419393"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24" name="Oval 23">
            <a:extLst>
              <a:ext uri="{FF2B5EF4-FFF2-40B4-BE49-F238E27FC236}">
                <a16:creationId xmlns:a16="http://schemas.microsoft.com/office/drawing/2014/main" id="{0FB63D91-2E91-6AF8-D67B-4F8BC1A7CBED}"/>
              </a:ext>
            </a:extLst>
          </p:cNvPr>
          <p:cNvSpPr/>
          <p:nvPr userDrawn="1"/>
        </p:nvSpPr>
        <p:spPr>
          <a:xfrm>
            <a:off x="5356330"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21">
            <a:extLst>
              <a:ext uri="{FF2B5EF4-FFF2-40B4-BE49-F238E27FC236}">
                <a16:creationId xmlns:a16="http://schemas.microsoft.com/office/drawing/2014/main" id="{B4FC4BEC-AB01-D541-1555-6E86BE8917B0}"/>
              </a:ext>
            </a:extLst>
          </p:cNvPr>
          <p:cNvSpPr>
            <a:spLocks noGrp="1"/>
          </p:cNvSpPr>
          <p:nvPr>
            <p:ph type="pic" sz="quarter" idx="17"/>
          </p:nvPr>
        </p:nvSpPr>
        <p:spPr>
          <a:xfrm>
            <a:off x="5522686"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7" name="Text Placeholder 12">
            <a:extLst>
              <a:ext uri="{FF2B5EF4-FFF2-40B4-BE49-F238E27FC236}">
                <a16:creationId xmlns:a16="http://schemas.microsoft.com/office/drawing/2014/main" id="{AF2FE3D4-B6CC-CF9A-AB6A-F7E2815420BA}"/>
              </a:ext>
            </a:extLst>
          </p:cNvPr>
          <p:cNvSpPr>
            <a:spLocks noGrp="1"/>
          </p:cNvSpPr>
          <p:nvPr>
            <p:ph type="body" sz="quarter" idx="18" hasCustomPrompt="1"/>
          </p:nvPr>
        </p:nvSpPr>
        <p:spPr>
          <a:xfrm>
            <a:off x="679737" y="3325871"/>
            <a:ext cx="2890838" cy="335605"/>
          </a:xfrm>
        </p:spPr>
        <p:txBody>
          <a:bodyPr wrap="none">
            <a:noAutofit/>
          </a:bodyPr>
          <a:lstStyle>
            <a:lvl1pPr algn="ctr">
              <a:defRPr sz="1600" b="1">
                <a:solidFill>
                  <a:schemeClr val="tx2"/>
                </a:solidFill>
              </a:defRPr>
            </a:lvl1pPr>
          </a:lstStyle>
          <a:p>
            <a:pPr lvl="0"/>
            <a:r>
              <a:rPr lang="en-US" dirty="0"/>
              <a:t>Frankie Oviedo</a:t>
            </a:r>
          </a:p>
        </p:txBody>
      </p:sp>
      <p:sp>
        <p:nvSpPr>
          <p:cNvPr id="8" name="Text Placeholder 12">
            <a:extLst>
              <a:ext uri="{FF2B5EF4-FFF2-40B4-BE49-F238E27FC236}">
                <a16:creationId xmlns:a16="http://schemas.microsoft.com/office/drawing/2014/main" id="{87EC1804-6CFC-A7F1-68AF-310AD33A5266}"/>
              </a:ext>
            </a:extLst>
          </p:cNvPr>
          <p:cNvSpPr>
            <a:spLocks noGrp="1"/>
          </p:cNvSpPr>
          <p:nvPr>
            <p:ph type="body" sz="quarter" idx="19" hasCustomPrompt="1"/>
          </p:nvPr>
        </p:nvSpPr>
        <p:spPr>
          <a:xfrm>
            <a:off x="679737" y="3700153"/>
            <a:ext cx="2890838" cy="208968"/>
          </a:xfrm>
        </p:spPr>
        <p:txBody>
          <a:bodyPr wrap="none">
            <a:noAutofit/>
          </a:bodyPr>
          <a:lstStyle>
            <a:lvl1pPr algn="ctr">
              <a:defRPr sz="900" b="1" i="1">
                <a:solidFill>
                  <a:schemeClr val="tx2"/>
                </a:solidFill>
              </a:defRPr>
            </a:lvl1pPr>
          </a:lstStyle>
          <a:p>
            <a:pPr lvl="0"/>
            <a:r>
              <a:rPr lang="en-US" dirty="0"/>
              <a:t>Department Title</a:t>
            </a:r>
          </a:p>
        </p:txBody>
      </p:sp>
      <p:sp>
        <p:nvSpPr>
          <p:cNvPr id="12" name="Text Placeholder 12">
            <a:extLst>
              <a:ext uri="{FF2B5EF4-FFF2-40B4-BE49-F238E27FC236}">
                <a16:creationId xmlns:a16="http://schemas.microsoft.com/office/drawing/2014/main" id="{62CBCF11-7691-700A-F623-A6B56C424AA7}"/>
              </a:ext>
            </a:extLst>
          </p:cNvPr>
          <p:cNvSpPr>
            <a:spLocks noGrp="1"/>
          </p:cNvSpPr>
          <p:nvPr>
            <p:ph type="body" sz="quarter" idx="20" hasCustomPrompt="1"/>
          </p:nvPr>
        </p:nvSpPr>
        <p:spPr>
          <a:xfrm>
            <a:off x="1192766" y="4058648"/>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13" name="Text Placeholder 12">
            <a:extLst>
              <a:ext uri="{FF2B5EF4-FFF2-40B4-BE49-F238E27FC236}">
                <a16:creationId xmlns:a16="http://schemas.microsoft.com/office/drawing/2014/main" id="{448B451E-C3AC-B5D2-1532-4897BA4177C8}"/>
              </a:ext>
            </a:extLst>
          </p:cNvPr>
          <p:cNvSpPr>
            <a:spLocks noGrp="1"/>
          </p:cNvSpPr>
          <p:nvPr>
            <p:ph type="body" sz="quarter" idx="21" hasCustomPrompt="1"/>
          </p:nvPr>
        </p:nvSpPr>
        <p:spPr>
          <a:xfrm>
            <a:off x="4728633" y="3327931"/>
            <a:ext cx="2890838" cy="335605"/>
          </a:xfrm>
        </p:spPr>
        <p:txBody>
          <a:bodyPr wrap="none">
            <a:noAutofit/>
          </a:bodyPr>
          <a:lstStyle>
            <a:lvl1pPr algn="ctr">
              <a:defRPr sz="1600" b="1">
                <a:solidFill>
                  <a:schemeClr val="tx2"/>
                </a:solidFill>
              </a:defRPr>
            </a:lvl1pPr>
          </a:lstStyle>
          <a:p>
            <a:pPr lvl="0"/>
            <a:r>
              <a:rPr lang="en-US" dirty="0"/>
              <a:t>Frankie Oviedo</a:t>
            </a:r>
          </a:p>
        </p:txBody>
      </p:sp>
      <p:sp>
        <p:nvSpPr>
          <p:cNvPr id="14" name="Text Placeholder 12">
            <a:extLst>
              <a:ext uri="{FF2B5EF4-FFF2-40B4-BE49-F238E27FC236}">
                <a16:creationId xmlns:a16="http://schemas.microsoft.com/office/drawing/2014/main" id="{E695E40B-F390-DB5F-6DFC-CA2D46ACB84B}"/>
              </a:ext>
            </a:extLst>
          </p:cNvPr>
          <p:cNvSpPr>
            <a:spLocks noGrp="1"/>
          </p:cNvSpPr>
          <p:nvPr>
            <p:ph type="body" sz="quarter" idx="22" hasCustomPrompt="1"/>
          </p:nvPr>
        </p:nvSpPr>
        <p:spPr>
          <a:xfrm>
            <a:off x="4728633" y="3702213"/>
            <a:ext cx="2890838" cy="208968"/>
          </a:xfrm>
        </p:spPr>
        <p:txBody>
          <a:bodyPr wrap="none">
            <a:noAutofit/>
          </a:bodyPr>
          <a:lstStyle>
            <a:lvl1pPr algn="ctr">
              <a:defRPr sz="900" b="1" i="1">
                <a:solidFill>
                  <a:schemeClr val="tx2"/>
                </a:solidFill>
              </a:defRPr>
            </a:lvl1pPr>
          </a:lstStyle>
          <a:p>
            <a:pPr lvl="0"/>
            <a:r>
              <a:rPr lang="en-US" dirty="0"/>
              <a:t>Department Title</a:t>
            </a:r>
          </a:p>
        </p:txBody>
      </p:sp>
      <p:sp>
        <p:nvSpPr>
          <p:cNvPr id="15" name="Text Placeholder 12">
            <a:extLst>
              <a:ext uri="{FF2B5EF4-FFF2-40B4-BE49-F238E27FC236}">
                <a16:creationId xmlns:a16="http://schemas.microsoft.com/office/drawing/2014/main" id="{89289922-D23A-9AFA-D269-3AF348B97111}"/>
              </a:ext>
            </a:extLst>
          </p:cNvPr>
          <p:cNvSpPr>
            <a:spLocks noGrp="1"/>
          </p:cNvSpPr>
          <p:nvPr>
            <p:ph type="body" sz="quarter" idx="23" hasCustomPrompt="1"/>
          </p:nvPr>
        </p:nvSpPr>
        <p:spPr>
          <a:xfrm>
            <a:off x="5241662" y="4060708"/>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16" name="Text Placeholder 12">
            <a:extLst>
              <a:ext uri="{FF2B5EF4-FFF2-40B4-BE49-F238E27FC236}">
                <a16:creationId xmlns:a16="http://schemas.microsoft.com/office/drawing/2014/main" id="{136DF29C-38DF-4579-C042-DF5F8117DA6D}"/>
              </a:ext>
            </a:extLst>
          </p:cNvPr>
          <p:cNvSpPr>
            <a:spLocks noGrp="1"/>
          </p:cNvSpPr>
          <p:nvPr>
            <p:ph type="body" sz="quarter" idx="24" hasCustomPrompt="1"/>
          </p:nvPr>
        </p:nvSpPr>
        <p:spPr>
          <a:xfrm>
            <a:off x="8662197" y="3286741"/>
            <a:ext cx="2890838" cy="335605"/>
          </a:xfrm>
        </p:spPr>
        <p:txBody>
          <a:bodyPr wrap="none">
            <a:noAutofit/>
          </a:bodyPr>
          <a:lstStyle>
            <a:lvl1pPr algn="ctr">
              <a:defRPr sz="1600" b="1">
                <a:solidFill>
                  <a:schemeClr val="tx2"/>
                </a:solidFill>
              </a:defRPr>
            </a:lvl1pPr>
          </a:lstStyle>
          <a:p>
            <a:pPr lvl="0"/>
            <a:r>
              <a:rPr lang="en-US" dirty="0"/>
              <a:t>Frankie Oviedo</a:t>
            </a:r>
          </a:p>
        </p:txBody>
      </p:sp>
      <p:sp>
        <p:nvSpPr>
          <p:cNvPr id="17" name="Text Placeholder 12">
            <a:extLst>
              <a:ext uri="{FF2B5EF4-FFF2-40B4-BE49-F238E27FC236}">
                <a16:creationId xmlns:a16="http://schemas.microsoft.com/office/drawing/2014/main" id="{6CA6FE4B-2A15-E214-044E-3A0D542BE0EC}"/>
              </a:ext>
            </a:extLst>
          </p:cNvPr>
          <p:cNvSpPr>
            <a:spLocks noGrp="1"/>
          </p:cNvSpPr>
          <p:nvPr>
            <p:ph type="body" sz="quarter" idx="25" hasCustomPrompt="1"/>
          </p:nvPr>
        </p:nvSpPr>
        <p:spPr>
          <a:xfrm>
            <a:off x="8662197" y="3661023"/>
            <a:ext cx="2890838" cy="208968"/>
          </a:xfrm>
        </p:spPr>
        <p:txBody>
          <a:bodyPr wrap="none">
            <a:noAutofit/>
          </a:bodyPr>
          <a:lstStyle>
            <a:lvl1pPr algn="ctr">
              <a:defRPr sz="900" b="1" i="1">
                <a:solidFill>
                  <a:schemeClr val="tx2"/>
                </a:solidFill>
              </a:defRPr>
            </a:lvl1pPr>
          </a:lstStyle>
          <a:p>
            <a:pPr lvl="0"/>
            <a:r>
              <a:rPr lang="en-US" dirty="0"/>
              <a:t>Department Title</a:t>
            </a:r>
          </a:p>
        </p:txBody>
      </p:sp>
      <p:sp>
        <p:nvSpPr>
          <p:cNvPr id="18" name="Text Placeholder 12">
            <a:extLst>
              <a:ext uri="{FF2B5EF4-FFF2-40B4-BE49-F238E27FC236}">
                <a16:creationId xmlns:a16="http://schemas.microsoft.com/office/drawing/2014/main" id="{2D8B6EFC-5454-024C-6C50-BF55E929E729}"/>
              </a:ext>
            </a:extLst>
          </p:cNvPr>
          <p:cNvSpPr>
            <a:spLocks noGrp="1"/>
          </p:cNvSpPr>
          <p:nvPr>
            <p:ph type="body" sz="quarter" idx="26" hasCustomPrompt="1"/>
          </p:nvPr>
        </p:nvSpPr>
        <p:spPr>
          <a:xfrm>
            <a:off x="9175226" y="4019518"/>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19" name="Text Placeholder 12">
            <a:extLst>
              <a:ext uri="{FF2B5EF4-FFF2-40B4-BE49-F238E27FC236}">
                <a16:creationId xmlns:a16="http://schemas.microsoft.com/office/drawing/2014/main" id="{17314F16-9DD3-532D-D9FB-CF2AA9BCC31D}"/>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pic>
        <p:nvPicPr>
          <p:cNvPr id="5" name="Picture 4" descr="A blue and orange logo&#10;&#10;AI-generated content may be incorrect.">
            <a:extLst>
              <a:ext uri="{FF2B5EF4-FFF2-40B4-BE49-F238E27FC236}">
                <a16:creationId xmlns:a16="http://schemas.microsoft.com/office/drawing/2014/main" id="{B729CBAD-365F-65A1-93EB-66EEDDDA30AD}"/>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2687994517"/>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Section Header">
    <p:bg>
      <p:bgPr>
        <a:gradFill>
          <a:gsLst>
            <a:gs pos="50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7" name="Oval 6">
            <a:extLst>
              <a:ext uri="{FF2B5EF4-FFF2-40B4-BE49-F238E27FC236}">
                <a16:creationId xmlns:a16="http://schemas.microsoft.com/office/drawing/2014/main" id="{2B101E18-FE22-7066-AEDB-23389E285FDE}"/>
              </a:ext>
            </a:extLst>
          </p:cNvPr>
          <p:cNvSpPr/>
          <p:nvPr userDrawn="1"/>
        </p:nvSpPr>
        <p:spPr>
          <a:xfrm>
            <a:off x="670614"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21">
            <a:extLst>
              <a:ext uri="{FF2B5EF4-FFF2-40B4-BE49-F238E27FC236}">
                <a16:creationId xmlns:a16="http://schemas.microsoft.com/office/drawing/2014/main" id="{F4636697-DDD3-EA1E-8B44-B6143147A786}"/>
              </a:ext>
            </a:extLst>
          </p:cNvPr>
          <p:cNvSpPr>
            <a:spLocks noGrp="1"/>
          </p:cNvSpPr>
          <p:nvPr>
            <p:ph type="pic" sz="quarter" idx="15"/>
          </p:nvPr>
        </p:nvSpPr>
        <p:spPr>
          <a:xfrm>
            <a:off x="836970"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2" name="Oval 11">
            <a:extLst>
              <a:ext uri="{FF2B5EF4-FFF2-40B4-BE49-F238E27FC236}">
                <a16:creationId xmlns:a16="http://schemas.microsoft.com/office/drawing/2014/main" id="{933C8F81-A98F-312E-667A-22C026726589}"/>
              </a:ext>
            </a:extLst>
          </p:cNvPr>
          <p:cNvSpPr/>
          <p:nvPr userDrawn="1"/>
        </p:nvSpPr>
        <p:spPr>
          <a:xfrm>
            <a:off x="9724082" y="1427782"/>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21">
            <a:extLst>
              <a:ext uri="{FF2B5EF4-FFF2-40B4-BE49-F238E27FC236}">
                <a16:creationId xmlns:a16="http://schemas.microsoft.com/office/drawing/2014/main" id="{ED468176-6CAA-7132-6F2D-E97D3EE816A7}"/>
              </a:ext>
            </a:extLst>
          </p:cNvPr>
          <p:cNvSpPr>
            <a:spLocks noGrp="1"/>
          </p:cNvSpPr>
          <p:nvPr>
            <p:ph type="pic" sz="quarter" idx="16"/>
          </p:nvPr>
        </p:nvSpPr>
        <p:spPr>
          <a:xfrm>
            <a:off x="9890438" y="1594138"/>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4" name="Oval 13">
            <a:extLst>
              <a:ext uri="{FF2B5EF4-FFF2-40B4-BE49-F238E27FC236}">
                <a16:creationId xmlns:a16="http://schemas.microsoft.com/office/drawing/2014/main" id="{CF2398EA-2FDF-E4A9-CBDC-848F07780805}"/>
              </a:ext>
            </a:extLst>
          </p:cNvPr>
          <p:cNvSpPr/>
          <p:nvPr userDrawn="1"/>
        </p:nvSpPr>
        <p:spPr>
          <a:xfrm>
            <a:off x="2941632"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21">
            <a:extLst>
              <a:ext uri="{FF2B5EF4-FFF2-40B4-BE49-F238E27FC236}">
                <a16:creationId xmlns:a16="http://schemas.microsoft.com/office/drawing/2014/main" id="{F512B6BE-88FB-2DC3-A2CB-4571B5D7351F}"/>
              </a:ext>
            </a:extLst>
          </p:cNvPr>
          <p:cNvSpPr>
            <a:spLocks noGrp="1"/>
          </p:cNvSpPr>
          <p:nvPr>
            <p:ph type="pic" sz="quarter" idx="17"/>
          </p:nvPr>
        </p:nvSpPr>
        <p:spPr>
          <a:xfrm>
            <a:off x="3107988"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6" name="Oval 15">
            <a:extLst>
              <a:ext uri="{FF2B5EF4-FFF2-40B4-BE49-F238E27FC236}">
                <a16:creationId xmlns:a16="http://schemas.microsoft.com/office/drawing/2014/main" id="{66194684-2C3E-356E-FC62-0A6CF246E6FD}"/>
              </a:ext>
            </a:extLst>
          </p:cNvPr>
          <p:cNvSpPr/>
          <p:nvPr userDrawn="1"/>
        </p:nvSpPr>
        <p:spPr>
          <a:xfrm>
            <a:off x="7468366" y="1427782"/>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icture Placeholder 21">
            <a:extLst>
              <a:ext uri="{FF2B5EF4-FFF2-40B4-BE49-F238E27FC236}">
                <a16:creationId xmlns:a16="http://schemas.microsoft.com/office/drawing/2014/main" id="{E9D58E8C-1D74-6E80-1B7C-35D1B5F3AC16}"/>
              </a:ext>
            </a:extLst>
          </p:cNvPr>
          <p:cNvSpPr>
            <a:spLocks noGrp="1"/>
          </p:cNvSpPr>
          <p:nvPr>
            <p:ph type="pic" sz="quarter" idx="18"/>
          </p:nvPr>
        </p:nvSpPr>
        <p:spPr>
          <a:xfrm>
            <a:off x="7634722" y="1594138"/>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8" name="Oval 17">
            <a:extLst>
              <a:ext uri="{FF2B5EF4-FFF2-40B4-BE49-F238E27FC236}">
                <a16:creationId xmlns:a16="http://schemas.microsoft.com/office/drawing/2014/main" id="{727BD7D2-5AB8-3F8D-9C4F-E18832BD16E2}"/>
              </a:ext>
            </a:extLst>
          </p:cNvPr>
          <p:cNvSpPr/>
          <p:nvPr userDrawn="1"/>
        </p:nvSpPr>
        <p:spPr>
          <a:xfrm>
            <a:off x="5212651" y="1427782"/>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21">
            <a:extLst>
              <a:ext uri="{FF2B5EF4-FFF2-40B4-BE49-F238E27FC236}">
                <a16:creationId xmlns:a16="http://schemas.microsoft.com/office/drawing/2014/main" id="{8D84FF93-BF29-B0F5-664C-974C4BAC6C1E}"/>
              </a:ext>
            </a:extLst>
          </p:cNvPr>
          <p:cNvSpPr>
            <a:spLocks noGrp="1"/>
          </p:cNvSpPr>
          <p:nvPr>
            <p:ph type="pic" sz="quarter" idx="19"/>
          </p:nvPr>
        </p:nvSpPr>
        <p:spPr>
          <a:xfrm>
            <a:off x="5379007" y="1594138"/>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6" name="Text Placeholder 12">
            <a:extLst>
              <a:ext uri="{FF2B5EF4-FFF2-40B4-BE49-F238E27FC236}">
                <a16:creationId xmlns:a16="http://schemas.microsoft.com/office/drawing/2014/main" id="{2D876410-D272-CC26-B82F-69C3443A132A}"/>
              </a:ext>
            </a:extLst>
          </p:cNvPr>
          <p:cNvSpPr>
            <a:spLocks noGrp="1"/>
          </p:cNvSpPr>
          <p:nvPr>
            <p:ph type="body" sz="quarter" idx="21" hasCustomPrompt="1"/>
          </p:nvPr>
        </p:nvSpPr>
        <p:spPr>
          <a:xfrm>
            <a:off x="471955"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9" name="Text Placeholder 12">
            <a:extLst>
              <a:ext uri="{FF2B5EF4-FFF2-40B4-BE49-F238E27FC236}">
                <a16:creationId xmlns:a16="http://schemas.microsoft.com/office/drawing/2014/main" id="{E47276E7-BB72-E55F-D0F9-23FAA6795C80}"/>
              </a:ext>
            </a:extLst>
          </p:cNvPr>
          <p:cNvSpPr>
            <a:spLocks noGrp="1"/>
          </p:cNvSpPr>
          <p:nvPr>
            <p:ph type="body" sz="quarter" idx="22" hasCustomPrompt="1"/>
          </p:nvPr>
        </p:nvSpPr>
        <p:spPr>
          <a:xfrm>
            <a:off x="471955"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10" name="Text Placeholder 12">
            <a:extLst>
              <a:ext uri="{FF2B5EF4-FFF2-40B4-BE49-F238E27FC236}">
                <a16:creationId xmlns:a16="http://schemas.microsoft.com/office/drawing/2014/main" id="{99E2BF19-57BB-B7AD-09A2-2EC51E4497D1}"/>
              </a:ext>
            </a:extLst>
          </p:cNvPr>
          <p:cNvSpPr>
            <a:spLocks noGrp="1"/>
          </p:cNvSpPr>
          <p:nvPr>
            <p:ph type="body" sz="quarter" idx="23" hasCustomPrompt="1"/>
          </p:nvPr>
        </p:nvSpPr>
        <p:spPr>
          <a:xfrm>
            <a:off x="563823"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23" name="Text Placeholder 12">
            <a:extLst>
              <a:ext uri="{FF2B5EF4-FFF2-40B4-BE49-F238E27FC236}">
                <a16:creationId xmlns:a16="http://schemas.microsoft.com/office/drawing/2014/main" id="{9E8E3500-DF4D-4365-52B3-CB831CC70365}"/>
              </a:ext>
            </a:extLst>
          </p:cNvPr>
          <p:cNvSpPr>
            <a:spLocks noGrp="1"/>
          </p:cNvSpPr>
          <p:nvPr>
            <p:ph type="body" sz="quarter" idx="24" hasCustomPrompt="1"/>
          </p:nvPr>
        </p:nvSpPr>
        <p:spPr>
          <a:xfrm>
            <a:off x="2760012"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24" name="Text Placeholder 12">
            <a:extLst>
              <a:ext uri="{FF2B5EF4-FFF2-40B4-BE49-F238E27FC236}">
                <a16:creationId xmlns:a16="http://schemas.microsoft.com/office/drawing/2014/main" id="{3BC2C673-9E22-B604-12E9-BBCA4703F281}"/>
              </a:ext>
            </a:extLst>
          </p:cNvPr>
          <p:cNvSpPr>
            <a:spLocks noGrp="1"/>
          </p:cNvSpPr>
          <p:nvPr>
            <p:ph type="body" sz="quarter" idx="25" hasCustomPrompt="1"/>
          </p:nvPr>
        </p:nvSpPr>
        <p:spPr>
          <a:xfrm>
            <a:off x="2760012"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25" name="Text Placeholder 12">
            <a:extLst>
              <a:ext uri="{FF2B5EF4-FFF2-40B4-BE49-F238E27FC236}">
                <a16:creationId xmlns:a16="http://schemas.microsoft.com/office/drawing/2014/main" id="{F91246D7-76AC-0612-8CAC-583B3EE545B5}"/>
              </a:ext>
            </a:extLst>
          </p:cNvPr>
          <p:cNvSpPr>
            <a:spLocks noGrp="1"/>
          </p:cNvSpPr>
          <p:nvPr>
            <p:ph type="body" sz="quarter" idx="26" hasCustomPrompt="1"/>
          </p:nvPr>
        </p:nvSpPr>
        <p:spPr>
          <a:xfrm>
            <a:off x="2851880"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26" name="Text Placeholder 12">
            <a:extLst>
              <a:ext uri="{FF2B5EF4-FFF2-40B4-BE49-F238E27FC236}">
                <a16:creationId xmlns:a16="http://schemas.microsoft.com/office/drawing/2014/main" id="{17AEC0E1-4CC7-174E-1E6B-1F7B439E166D}"/>
              </a:ext>
            </a:extLst>
          </p:cNvPr>
          <p:cNvSpPr>
            <a:spLocks noGrp="1"/>
          </p:cNvSpPr>
          <p:nvPr>
            <p:ph type="body" sz="quarter" idx="27" hasCustomPrompt="1"/>
          </p:nvPr>
        </p:nvSpPr>
        <p:spPr>
          <a:xfrm>
            <a:off x="5048069"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27" name="Text Placeholder 12">
            <a:extLst>
              <a:ext uri="{FF2B5EF4-FFF2-40B4-BE49-F238E27FC236}">
                <a16:creationId xmlns:a16="http://schemas.microsoft.com/office/drawing/2014/main" id="{23CD663E-CEA2-4200-BA3E-05BDDF42CA9E}"/>
              </a:ext>
            </a:extLst>
          </p:cNvPr>
          <p:cNvSpPr>
            <a:spLocks noGrp="1"/>
          </p:cNvSpPr>
          <p:nvPr>
            <p:ph type="body" sz="quarter" idx="28" hasCustomPrompt="1"/>
          </p:nvPr>
        </p:nvSpPr>
        <p:spPr>
          <a:xfrm>
            <a:off x="5048069"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28" name="Text Placeholder 12">
            <a:extLst>
              <a:ext uri="{FF2B5EF4-FFF2-40B4-BE49-F238E27FC236}">
                <a16:creationId xmlns:a16="http://schemas.microsoft.com/office/drawing/2014/main" id="{B84E8B42-AEB3-6794-FFF8-75AE763292A4}"/>
              </a:ext>
            </a:extLst>
          </p:cNvPr>
          <p:cNvSpPr>
            <a:spLocks noGrp="1"/>
          </p:cNvSpPr>
          <p:nvPr>
            <p:ph type="body" sz="quarter" idx="29" hasCustomPrompt="1"/>
          </p:nvPr>
        </p:nvSpPr>
        <p:spPr>
          <a:xfrm>
            <a:off x="5139937"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29" name="Text Placeholder 12">
            <a:extLst>
              <a:ext uri="{FF2B5EF4-FFF2-40B4-BE49-F238E27FC236}">
                <a16:creationId xmlns:a16="http://schemas.microsoft.com/office/drawing/2014/main" id="{0102DE68-D44D-0B42-881D-477AA1DCC21B}"/>
              </a:ext>
            </a:extLst>
          </p:cNvPr>
          <p:cNvSpPr>
            <a:spLocks noGrp="1"/>
          </p:cNvSpPr>
          <p:nvPr>
            <p:ph type="body" sz="quarter" idx="30" hasCustomPrompt="1"/>
          </p:nvPr>
        </p:nvSpPr>
        <p:spPr>
          <a:xfrm>
            <a:off x="7309368"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30" name="Text Placeholder 12">
            <a:extLst>
              <a:ext uri="{FF2B5EF4-FFF2-40B4-BE49-F238E27FC236}">
                <a16:creationId xmlns:a16="http://schemas.microsoft.com/office/drawing/2014/main" id="{C6C8586A-FB04-5C15-39F9-F6BA47CCC100}"/>
              </a:ext>
            </a:extLst>
          </p:cNvPr>
          <p:cNvSpPr>
            <a:spLocks noGrp="1"/>
          </p:cNvSpPr>
          <p:nvPr>
            <p:ph type="body" sz="quarter" idx="31" hasCustomPrompt="1"/>
          </p:nvPr>
        </p:nvSpPr>
        <p:spPr>
          <a:xfrm>
            <a:off x="7309368"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31" name="Text Placeholder 12">
            <a:extLst>
              <a:ext uri="{FF2B5EF4-FFF2-40B4-BE49-F238E27FC236}">
                <a16:creationId xmlns:a16="http://schemas.microsoft.com/office/drawing/2014/main" id="{4B2D3AB0-7DCA-9248-9DC7-415D3452A539}"/>
              </a:ext>
            </a:extLst>
          </p:cNvPr>
          <p:cNvSpPr>
            <a:spLocks noGrp="1"/>
          </p:cNvSpPr>
          <p:nvPr>
            <p:ph type="body" sz="quarter" idx="32" hasCustomPrompt="1"/>
          </p:nvPr>
        </p:nvSpPr>
        <p:spPr>
          <a:xfrm>
            <a:off x="7401236"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32" name="Text Placeholder 12">
            <a:extLst>
              <a:ext uri="{FF2B5EF4-FFF2-40B4-BE49-F238E27FC236}">
                <a16:creationId xmlns:a16="http://schemas.microsoft.com/office/drawing/2014/main" id="{0F72A9E3-43B8-7F5C-735E-5AE5CABA2F56}"/>
              </a:ext>
            </a:extLst>
          </p:cNvPr>
          <p:cNvSpPr>
            <a:spLocks noGrp="1"/>
          </p:cNvSpPr>
          <p:nvPr>
            <p:ph type="body" sz="quarter" idx="33" hasCustomPrompt="1"/>
          </p:nvPr>
        </p:nvSpPr>
        <p:spPr>
          <a:xfrm>
            <a:off x="9624550"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33" name="Text Placeholder 12">
            <a:extLst>
              <a:ext uri="{FF2B5EF4-FFF2-40B4-BE49-F238E27FC236}">
                <a16:creationId xmlns:a16="http://schemas.microsoft.com/office/drawing/2014/main" id="{531D956D-76AC-388C-7F94-4CFD2A22C4C7}"/>
              </a:ext>
            </a:extLst>
          </p:cNvPr>
          <p:cNvSpPr>
            <a:spLocks noGrp="1"/>
          </p:cNvSpPr>
          <p:nvPr>
            <p:ph type="body" sz="quarter" idx="34" hasCustomPrompt="1"/>
          </p:nvPr>
        </p:nvSpPr>
        <p:spPr>
          <a:xfrm>
            <a:off x="9624550"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34" name="Text Placeholder 12">
            <a:extLst>
              <a:ext uri="{FF2B5EF4-FFF2-40B4-BE49-F238E27FC236}">
                <a16:creationId xmlns:a16="http://schemas.microsoft.com/office/drawing/2014/main" id="{A8CE67A3-2B01-994D-B8D6-1CCD5CCC442C}"/>
              </a:ext>
            </a:extLst>
          </p:cNvPr>
          <p:cNvSpPr>
            <a:spLocks noGrp="1"/>
          </p:cNvSpPr>
          <p:nvPr>
            <p:ph type="body" sz="quarter" idx="35" hasCustomPrompt="1"/>
          </p:nvPr>
        </p:nvSpPr>
        <p:spPr>
          <a:xfrm>
            <a:off x="9716418"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pic>
        <p:nvPicPr>
          <p:cNvPr id="5" name="Picture 4" descr="A blue and orange logo&#10;&#10;AI-generated content may be incorrect.">
            <a:extLst>
              <a:ext uri="{FF2B5EF4-FFF2-40B4-BE49-F238E27FC236}">
                <a16:creationId xmlns:a16="http://schemas.microsoft.com/office/drawing/2014/main" id="{E0D69A86-BC12-BBA9-AA39-A76870B85D76}"/>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20" name="Text Placeholder 12">
            <a:extLst>
              <a:ext uri="{FF2B5EF4-FFF2-40B4-BE49-F238E27FC236}">
                <a16:creationId xmlns:a16="http://schemas.microsoft.com/office/drawing/2014/main" id="{7C1A4D87-ADCB-32C9-3E9D-8A576E4429FD}"/>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1118109796"/>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7_Section Header">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644C72-0949-3075-51CC-A23137017F63}"/>
              </a:ext>
            </a:extLst>
          </p:cNvPr>
          <p:cNvSpPr/>
          <p:nvPr userDrawn="1"/>
        </p:nvSpPr>
        <p:spPr>
          <a:xfrm>
            <a:off x="0" y="0"/>
            <a:ext cx="4069079" cy="6858000"/>
          </a:xfrm>
          <a:prstGeom prst="rect">
            <a:avLst/>
          </a:prstGeom>
          <a:gradFill>
            <a:gsLst>
              <a:gs pos="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3684035" cy="200055"/>
          </a:xfrm>
        </p:spPr>
        <p:txBody>
          <a:bodyPr wrap="square">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6" name="Oval 5">
            <a:extLst>
              <a:ext uri="{FF2B5EF4-FFF2-40B4-BE49-F238E27FC236}">
                <a16:creationId xmlns:a16="http://schemas.microsoft.com/office/drawing/2014/main" id="{C3625CB8-A397-260C-C3E3-6B59520389DC}"/>
              </a:ext>
            </a:extLst>
          </p:cNvPr>
          <p:cNvSpPr/>
          <p:nvPr userDrawn="1"/>
        </p:nvSpPr>
        <p:spPr>
          <a:xfrm>
            <a:off x="1102149" y="1904812"/>
            <a:ext cx="1871790" cy="1871790"/>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21">
            <a:extLst>
              <a:ext uri="{FF2B5EF4-FFF2-40B4-BE49-F238E27FC236}">
                <a16:creationId xmlns:a16="http://schemas.microsoft.com/office/drawing/2014/main" id="{ED46F259-D1DE-80C2-053B-A482CE827876}"/>
              </a:ext>
            </a:extLst>
          </p:cNvPr>
          <p:cNvSpPr>
            <a:spLocks noGrp="1"/>
          </p:cNvSpPr>
          <p:nvPr>
            <p:ph type="pic" sz="quarter" idx="15"/>
          </p:nvPr>
        </p:nvSpPr>
        <p:spPr>
          <a:xfrm>
            <a:off x="1271864" y="2074527"/>
            <a:ext cx="1532360" cy="1532360"/>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3" name="Text Placeholder 12">
            <a:extLst>
              <a:ext uri="{FF2B5EF4-FFF2-40B4-BE49-F238E27FC236}">
                <a16:creationId xmlns:a16="http://schemas.microsoft.com/office/drawing/2014/main" id="{5D903AE4-EC1E-A6D7-6C2B-046B4F92D580}"/>
              </a:ext>
            </a:extLst>
          </p:cNvPr>
          <p:cNvSpPr>
            <a:spLocks noGrp="1"/>
          </p:cNvSpPr>
          <p:nvPr>
            <p:ph type="body" sz="quarter" idx="16" hasCustomPrompt="1"/>
          </p:nvPr>
        </p:nvSpPr>
        <p:spPr>
          <a:xfrm>
            <a:off x="589120" y="4051459"/>
            <a:ext cx="2890838" cy="371833"/>
          </a:xfrm>
        </p:spPr>
        <p:txBody>
          <a:bodyPr wrap="none">
            <a:noAutofit/>
          </a:bodyPr>
          <a:lstStyle>
            <a:lvl1pPr algn="ctr">
              <a:defRPr sz="1600" b="1">
                <a:solidFill>
                  <a:schemeClr val="tx2"/>
                </a:solidFill>
              </a:defRPr>
            </a:lvl1pPr>
          </a:lstStyle>
          <a:p>
            <a:pPr lvl="0"/>
            <a:r>
              <a:rPr lang="en-US" dirty="0"/>
              <a:t>Frankie Oviedo</a:t>
            </a:r>
          </a:p>
        </p:txBody>
      </p:sp>
      <p:sp>
        <p:nvSpPr>
          <p:cNvPr id="14" name="Text Placeholder 12">
            <a:extLst>
              <a:ext uri="{FF2B5EF4-FFF2-40B4-BE49-F238E27FC236}">
                <a16:creationId xmlns:a16="http://schemas.microsoft.com/office/drawing/2014/main" id="{9B909333-57C4-13F8-1EF6-B2025E478C5D}"/>
              </a:ext>
            </a:extLst>
          </p:cNvPr>
          <p:cNvSpPr>
            <a:spLocks noGrp="1"/>
          </p:cNvSpPr>
          <p:nvPr>
            <p:ph type="body" sz="quarter" idx="17" hasCustomPrompt="1"/>
          </p:nvPr>
        </p:nvSpPr>
        <p:spPr>
          <a:xfrm>
            <a:off x="589120" y="4532835"/>
            <a:ext cx="2890838" cy="208968"/>
          </a:xfrm>
        </p:spPr>
        <p:txBody>
          <a:bodyPr wrap="square">
            <a:noAutofit/>
          </a:bodyPr>
          <a:lstStyle>
            <a:lvl1pPr algn="ctr">
              <a:defRPr sz="900" b="1" i="1">
                <a:solidFill>
                  <a:schemeClr val="tx2"/>
                </a:solidFill>
              </a:defRPr>
            </a:lvl1pPr>
          </a:lstStyle>
          <a:p>
            <a:pPr lvl="0"/>
            <a:r>
              <a:rPr lang="en-US" dirty="0"/>
              <a:t>Department Title</a:t>
            </a:r>
          </a:p>
        </p:txBody>
      </p:sp>
      <p:sp>
        <p:nvSpPr>
          <p:cNvPr id="18" name="Text Placeholder 12">
            <a:extLst>
              <a:ext uri="{FF2B5EF4-FFF2-40B4-BE49-F238E27FC236}">
                <a16:creationId xmlns:a16="http://schemas.microsoft.com/office/drawing/2014/main" id="{C61885D6-F1EA-47D5-F7F5-238C75E57E1C}"/>
              </a:ext>
            </a:extLst>
          </p:cNvPr>
          <p:cNvSpPr>
            <a:spLocks noGrp="1"/>
          </p:cNvSpPr>
          <p:nvPr>
            <p:ph type="body" sz="quarter" idx="18" hasCustomPrompt="1"/>
          </p:nvPr>
        </p:nvSpPr>
        <p:spPr>
          <a:xfrm>
            <a:off x="4690589" y="1996810"/>
            <a:ext cx="3893238" cy="3045827"/>
          </a:xfrm>
        </p:spPr>
        <p:txBody>
          <a:bodyPr>
            <a:noAutofit/>
          </a:bodyPr>
          <a:lstStyle>
            <a:lvl1pPr algn="l">
              <a:spcBef>
                <a:spcPts val="0"/>
              </a:spcBef>
              <a:defRPr sz="1200" b="0" i="0">
                <a:solidFill>
                  <a:schemeClr val="tx1"/>
                </a:solidFill>
              </a:defRPr>
            </a:lvl1pPr>
          </a:lstStyle>
          <a:p>
            <a:pPr lvl="0"/>
            <a:r>
              <a:rPr lang="en-US" dirty="0">
                <a:effectLst/>
              </a:rPr>
              <a:t>Frankie’s leadership style emphasizes building strong, agile teams. While his strategic vision drives every project forward, he considers his greatest achievement to be the high-performing teams he has mentored and grown over the years.</a:t>
            </a:r>
            <a:br>
              <a:rPr lang="en-US" dirty="0">
                <a:effectLst/>
              </a:rPr>
            </a:br>
            <a:br>
              <a:rPr lang="en-US" dirty="0">
                <a:effectLst/>
              </a:rPr>
            </a:br>
            <a:r>
              <a:rPr lang="en-US" dirty="0">
                <a:effectLst/>
              </a:rPr>
              <a:t>Frankie creates campaigns that don’t just capture attention — they forge lasting emotional connections. His work leaves an enduring impact, elevating brands while championing the power of collective creativity.</a:t>
            </a:r>
            <a:endParaRPr lang="en-US" dirty="0"/>
          </a:p>
        </p:txBody>
      </p:sp>
      <p:sp>
        <p:nvSpPr>
          <p:cNvPr id="20" name="Text Placeholder 12">
            <a:extLst>
              <a:ext uri="{FF2B5EF4-FFF2-40B4-BE49-F238E27FC236}">
                <a16:creationId xmlns:a16="http://schemas.microsoft.com/office/drawing/2014/main" id="{4807166A-981E-6A11-3443-4C2CA8FDD194}"/>
              </a:ext>
            </a:extLst>
          </p:cNvPr>
          <p:cNvSpPr>
            <a:spLocks noGrp="1"/>
          </p:cNvSpPr>
          <p:nvPr>
            <p:ph type="body" sz="quarter" idx="36" hasCustomPrompt="1"/>
          </p:nvPr>
        </p:nvSpPr>
        <p:spPr>
          <a:xfrm>
            <a:off x="471955" y="387691"/>
            <a:ext cx="2060821"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21" name="Text Placeholder 12">
            <a:extLst>
              <a:ext uri="{FF2B5EF4-FFF2-40B4-BE49-F238E27FC236}">
                <a16:creationId xmlns:a16="http://schemas.microsoft.com/office/drawing/2014/main" id="{8F4486B0-38BB-67B4-6FF7-41C71C33749F}"/>
              </a:ext>
            </a:extLst>
          </p:cNvPr>
          <p:cNvSpPr>
            <a:spLocks noGrp="1"/>
          </p:cNvSpPr>
          <p:nvPr>
            <p:ph type="body" sz="quarter" idx="37" hasCustomPrompt="1"/>
          </p:nvPr>
        </p:nvSpPr>
        <p:spPr>
          <a:xfrm>
            <a:off x="4690589" y="517069"/>
            <a:ext cx="3893238" cy="1211859"/>
          </a:xfrm>
        </p:spPr>
        <p:txBody>
          <a:bodyPr>
            <a:noAutofit/>
          </a:bodyPr>
          <a:lstStyle>
            <a:lvl1pPr algn="l">
              <a:spcBef>
                <a:spcPts val="0"/>
              </a:spcBef>
              <a:defRPr sz="1200" b="1" i="0">
                <a:solidFill>
                  <a:schemeClr val="tx2"/>
                </a:solidFill>
              </a:defRPr>
            </a:lvl1pPr>
          </a:lstStyle>
          <a:p>
            <a:pPr lvl="0"/>
            <a:r>
              <a:rPr lang="en-US" dirty="0">
                <a:effectLst/>
              </a:rPr>
              <a:t>Frankie has spent his career shaping powerful campaigns for some of the world’s top brands. Blending a passion for storytelling with a deep love for design, he believes that true creativity is sparked through collaboration.</a:t>
            </a:r>
            <a:endParaRPr lang="en-US" dirty="0"/>
          </a:p>
        </p:txBody>
      </p:sp>
      <p:sp>
        <p:nvSpPr>
          <p:cNvPr id="26" name="Text Placeholder 12">
            <a:extLst>
              <a:ext uri="{FF2B5EF4-FFF2-40B4-BE49-F238E27FC236}">
                <a16:creationId xmlns:a16="http://schemas.microsoft.com/office/drawing/2014/main" id="{A66FD6A2-C553-20E7-A1AD-623279C2617C}"/>
              </a:ext>
            </a:extLst>
          </p:cNvPr>
          <p:cNvSpPr>
            <a:spLocks noGrp="1"/>
          </p:cNvSpPr>
          <p:nvPr>
            <p:ph type="body" sz="quarter" idx="38" hasCustomPrompt="1"/>
          </p:nvPr>
        </p:nvSpPr>
        <p:spPr>
          <a:xfrm>
            <a:off x="9138949" y="760095"/>
            <a:ext cx="2572408" cy="4603817"/>
          </a:xfrm>
        </p:spPr>
        <p:txBody>
          <a:bodyPr>
            <a:noAutofit/>
          </a:bodyPr>
          <a:lstStyle>
            <a:lvl1pPr algn="l">
              <a:spcBef>
                <a:spcPts val="0"/>
              </a:spcBef>
              <a:defRPr sz="900" b="0" i="0">
                <a:solidFill>
                  <a:schemeClr val="tx1"/>
                </a:solidFill>
              </a:defRPr>
            </a:lvl1pPr>
          </a:lstStyle>
          <a:p>
            <a:pPr lvl="0"/>
            <a:r>
              <a:rPr lang="en-US" dirty="0">
                <a:effectLst/>
              </a:rPr>
              <a:t>Sporting Kansas City</a:t>
            </a:r>
            <a:br>
              <a:rPr lang="en-US" dirty="0">
                <a:effectLst/>
              </a:rPr>
            </a:br>
            <a:r>
              <a:rPr lang="en-US" dirty="0">
                <a:effectLst/>
              </a:rPr>
              <a:t>Kansas City Royals</a:t>
            </a:r>
            <a:br>
              <a:rPr lang="en-US" dirty="0">
                <a:effectLst/>
              </a:rPr>
            </a:br>
            <a:r>
              <a:rPr lang="en-US" dirty="0">
                <a:effectLst/>
              </a:rPr>
              <a:t>J. Reiger &amp; Co.</a:t>
            </a:r>
            <a:br>
              <a:rPr lang="en-US" dirty="0">
                <a:effectLst/>
              </a:rPr>
            </a:br>
            <a:r>
              <a:rPr lang="en-US" dirty="0">
                <a:effectLst/>
              </a:rPr>
              <a:t>Omaha Steaks </a:t>
            </a:r>
            <a:br>
              <a:rPr lang="en-US" dirty="0">
                <a:effectLst/>
              </a:rPr>
            </a:br>
            <a:r>
              <a:rPr lang="en-US" dirty="0">
                <a:effectLst/>
              </a:rPr>
              <a:t>Warner Music Group</a:t>
            </a:r>
            <a:br>
              <a:rPr lang="en-US" dirty="0">
                <a:effectLst/>
              </a:rPr>
            </a:br>
            <a:r>
              <a:rPr lang="en-US" dirty="0">
                <a:effectLst/>
              </a:rPr>
              <a:t>TIDI Products</a:t>
            </a:r>
            <a:br>
              <a:rPr lang="en-US" dirty="0">
                <a:effectLst/>
              </a:rPr>
            </a:br>
            <a:r>
              <a:rPr lang="en-US" dirty="0">
                <a:effectLst/>
              </a:rPr>
              <a:t>AUX </a:t>
            </a:r>
            <a:br>
              <a:rPr lang="en-US" dirty="0">
                <a:effectLst/>
              </a:rPr>
            </a:br>
            <a:r>
              <a:rPr lang="en-US" dirty="0">
                <a:effectLst/>
              </a:rPr>
              <a:t>Strange Music</a:t>
            </a:r>
            <a:br>
              <a:rPr lang="en-US" dirty="0">
                <a:effectLst/>
              </a:rPr>
            </a:br>
            <a:r>
              <a:rPr lang="en-US" dirty="0">
                <a:effectLst/>
              </a:rPr>
              <a:t>Wendy’s</a:t>
            </a:r>
            <a:br>
              <a:rPr lang="en-US" dirty="0">
                <a:effectLst/>
              </a:rPr>
            </a:br>
            <a:r>
              <a:rPr lang="en-US" dirty="0">
                <a:effectLst/>
              </a:rPr>
              <a:t>Gatorade </a:t>
            </a:r>
            <a:br>
              <a:rPr lang="en-US" dirty="0">
                <a:effectLst/>
              </a:rPr>
            </a:br>
            <a:r>
              <a:rPr lang="en-US" dirty="0">
                <a:effectLst/>
              </a:rPr>
              <a:t>Fender</a:t>
            </a:r>
            <a:br>
              <a:rPr lang="en-US" dirty="0">
                <a:effectLst/>
              </a:rPr>
            </a:br>
            <a:r>
              <a:rPr lang="en-US" dirty="0">
                <a:effectLst/>
              </a:rPr>
              <a:t>Chili’s </a:t>
            </a:r>
            <a:br>
              <a:rPr lang="en-US" dirty="0">
                <a:effectLst/>
              </a:rPr>
            </a:br>
            <a:r>
              <a:rPr lang="en-US" dirty="0">
                <a:effectLst/>
              </a:rPr>
              <a:t>Grey Goose</a:t>
            </a:r>
            <a:br>
              <a:rPr lang="en-US" dirty="0">
                <a:effectLst/>
              </a:rPr>
            </a:br>
            <a:r>
              <a:rPr lang="en-US" dirty="0">
                <a:effectLst/>
              </a:rPr>
              <a:t>Kellogg’s</a:t>
            </a:r>
            <a:br>
              <a:rPr lang="en-US" dirty="0">
                <a:effectLst/>
              </a:rPr>
            </a:br>
            <a:r>
              <a:rPr lang="en-US" dirty="0">
                <a:effectLst/>
              </a:rPr>
              <a:t>Marmot</a:t>
            </a:r>
            <a:br>
              <a:rPr lang="en-US" dirty="0">
                <a:effectLst/>
              </a:rPr>
            </a:br>
            <a:r>
              <a:rPr lang="en-US" dirty="0">
                <a:effectLst/>
              </a:rPr>
              <a:t>Red Bull</a:t>
            </a:r>
            <a:br>
              <a:rPr lang="en-US" dirty="0">
                <a:effectLst/>
              </a:rPr>
            </a:br>
            <a:r>
              <a:rPr lang="en-US" dirty="0">
                <a:effectLst/>
              </a:rPr>
              <a:t>Knob Creek</a:t>
            </a:r>
            <a:br>
              <a:rPr lang="en-US" dirty="0">
                <a:effectLst/>
              </a:rPr>
            </a:br>
            <a:r>
              <a:rPr lang="en-US" dirty="0">
                <a:effectLst/>
              </a:rPr>
              <a:t>Bacardi</a:t>
            </a:r>
            <a:br>
              <a:rPr lang="en-US" dirty="0">
                <a:effectLst/>
              </a:rPr>
            </a:br>
            <a:r>
              <a:rPr lang="en-US" dirty="0">
                <a:effectLst/>
              </a:rPr>
              <a:t>Atlantic Records</a:t>
            </a:r>
            <a:br>
              <a:rPr lang="en-US" dirty="0">
                <a:effectLst/>
              </a:rPr>
            </a:br>
            <a:r>
              <a:rPr lang="en-US" dirty="0">
                <a:effectLst/>
              </a:rPr>
              <a:t>Bombay Sapphire</a:t>
            </a:r>
            <a:br>
              <a:rPr lang="en-US" dirty="0">
                <a:effectLst/>
              </a:rPr>
            </a:br>
            <a:r>
              <a:rPr lang="en-US" dirty="0">
                <a:effectLst/>
              </a:rPr>
              <a:t>Elanco</a:t>
            </a:r>
            <a:br>
              <a:rPr lang="en-US" dirty="0">
                <a:effectLst/>
              </a:rPr>
            </a:br>
            <a:r>
              <a:rPr lang="en-US" dirty="0">
                <a:effectLst/>
              </a:rPr>
              <a:t>NAPA Auto Parts </a:t>
            </a:r>
            <a:br>
              <a:rPr lang="en-US" dirty="0">
                <a:effectLst/>
              </a:rPr>
            </a:br>
            <a:r>
              <a:rPr lang="en-US" dirty="0">
                <a:effectLst/>
              </a:rPr>
              <a:t>H&amp;R Block </a:t>
            </a:r>
            <a:br>
              <a:rPr lang="en-US" dirty="0">
                <a:effectLst/>
              </a:rPr>
            </a:br>
            <a:r>
              <a:rPr lang="en-US" dirty="0">
                <a:effectLst/>
              </a:rPr>
              <a:t>Price Chopper </a:t>
            </a:r>
            <a:br>
              <a:rPr lang="en-US" dirty="0">
                <a:effectLst/>
              </a:rPr>
            </a:br>
            <a:r>
              <a:rPr lang="en-US" dirty="0">
                <a:effectLst/>
              </a:rPr>
              <a:t>Sinclair Oil </a:t>
            </a:r>
            <a:endParaRPr lang="en-US" dirty="0"/>
          </a:p>
        </p:txBody>
      </p:sp>
      <p:sp>
        <p:nvSpPr>
          <p:cNvPr id="27" name="Text Placeholder 12">
            <a:extLst>
              <a:ext uri="{FF2B5EF4-FFF2-40B4-BE49-F238E27FC236}">
                <a16:creationId xmlns:a16="http://schemas.microsoft.com/office/drawing/2014/main" id="{86A5C847-7657-8442-D17A-9EE267582093}"/>
              </a:ext>
            </a:extLst>
          </p:cNvPr>
          <p:cNvSpPr>
            <a:spLocks noGrp="1"/>
          </p:cNvSpPr>
          <p:nvPr>
            <p:ph type="body" sz="quarter" idx="39" hasCustomPrompt="1"/>
          </p:nvPr>
        </p:nvSpPr>
        <p:spPr>
          <a:xfrm>
            <a:off x="9138949" y="517069"/>
            <a:ext cx="1800898" cy="185424"/>
          </a:xfrm>
        </p:spPr>
        <p:txBody>
          <a:bodyPr wrap="none">
            <a:noAutofit/>
          </a:bodyPr>
          <a:lstStyle>
            <a:lvl1pPr algn="l">
              <a:spcBef>
                <a:spcPts val="0"/>
              </a:spcBef>
              <a:defRPr sz="900" b="1" i="0">
                <a:solidFill>
                  <a:schemeClr val="tx2"/>
                </a:solidFill>
              </a:defRPr>
            </a:lvl1pPr>
          </a:lstStyle>
          <a:p>
            <a:pPr lvl="0"/>
            <a:r>
              <a:rPr lang="en-US" dirty="0">
                <a:effectLst/>
              </a:rPr>
              <a:t>Brand Experience</a:t>
            </a:r>
            <a:endParaRPr lang="en-US" dirty="0"/>
          </a:p>
        </p:txBody>
      </p:sp>
      <p:pic>
        <p:nvPicPr>
          <p:cNvPr id="5" name="Picture 4" descr="A blue and orange logo&#10;&#10;AI-generated content may be incorrect.">
            <a:extLst>
              <a:ext uri="{FF2B5EF4-FFF2-40B4-BE49-F238E27FC236}">
                <a16:creationId xmlns:a16="http://schemas.microsoft.com/office/drawing/2014/main" id="{BB844112-E442-3005-53B4-C99F6EFEB996}"/>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3785854609"/>
      </p:ext>
    </p:extLst>
  </p:cSld>
  <p:clrMapOvr>
    <a:masterClrMapping/>
  </p:clrMapOvr>
  <p:extLst>
    <p:ext uri="{DCECCB84-F9BA-43D5-87BE-67443E8EF086}">
      <p15:sldGuideLst xmlns:p15="http://schemas.microsoft.com/office/powerpoint/2012/main">
        <p15:guide id="1" orient="horz" pos="360" userDrawn="1">
          <p15:clr>
            <a:srgbClr val="FBAE40"/>
          </p15:clr>
        </p15:guide>
        <p15:guide id="2" pos="37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0_Section Header">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644C72-0949-3075-51CC-A23137017F63}"/>
              </a:ext>
            </a:extLst>
          </p:cNvPr>
          <p:cNvSpPr/>
          <p:nvPr userDrawn="1"/>
        </p:nvSpPr>
        <p:spPr>
          <a:xfrm>
            <a:off x="0" y="0"/>
            <a:ext cx="4069079" cy="6858000"/>
          </a:xfrm>
          <a:prstGeom prst="rect">
            <a:avLst/>
          </a:prstGeom>
          <a:gradFill>
            <a:gsLst>
              <a:gs pos="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6" name="Oval 5">
            <a:extLst>
              <a:ext uri="{FF2B5EF4-FFF2-40B4-BE49-F238E27FC236}">
                <a16:creationId xmlns:a16="http://schemas.microsoft.com/office/drawing/2014/main" id="{C3625CB8-A397-260C-C3E3-6B59520389DC}"/>
              </a:ext>
            </a:extLst>
          </p:cNvPr>
          <p:cNvSpPr/>
          <p:nvPr userDrawn="1"/>
        </p:nvSpPr>
        <p:spPr>
          <a:xfrm>
            <a:off x="1102149" y="948684"/>
            <a:ext cx="1871790" cy="1871790"/>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21">
            <a:extLst>
              <a:ext uri="{FF2B5EF4-FFF2-40B4-BE49-F238E27FC236}">
                <a16:creationId xmlns:a16="http://schemas.microsoft.com/office/drawing/2014/main" id="{ED46F259-D1DE-80C2-053B-A482CE827876}"/>
              </a:ext>
            </a:extLst>
          </p:cNvPr>
          <p:cNvSpPr>
            <a:spLocks noGrp="1"/>
          </p:cNvSpPr>
          <p:nvPr>
            <p:ph type="pic" sz="quarter" idx="15"/>
          </p:nvPr>
        </p:nvSpPr>
        <p:spPr>
          <a:xfrm>
            <a:off x="1271864" y="1118399"/>
            <a:ext cx="1532360" cy="1532360"/>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pic>
        <p:nvPicPr>
          <p:cNvPr id="5" name="Picture 4" descr="A blue and orange logo&#10;&#10;AI-generated content may be incorrect.">
            <a:extLst>
              <a:ext uri="{FF2B5EF4-FFF2-40B4-BE49-F238E27FC236}">
                <a16:creationId xmlns:a16="http://schemas.microsoft.com/office/drawing/2014/main" id="{BB844112-E442-3005-53B4-C99F6EFEB996}"/>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4" name="Text Placeholder 12">
            <a:extLst>
              <a:ext uri="{FF2B5EF4-FFF2-40B4-BE49-F238E27FC236}">
                <a16:creationId xmlns:a16="http://schemas.microsoft.com/office/drawing/2014/main" id="{3317F368-2FDD-B8B9-D517-D43FED0744BC}"/>
              </a:ext>
            </a:extLst>
          </p:cNvPr>
          <p:cNvSpPr>
            <a:spLocks noGrp="1"/>
          </p:cNvSpPr>
          <p:nvPr>
            <p:ph type="body" sz="quarter" idx="36" hasCustomPrompt="1"/>
          </p:nvPr>
        </p:nvSpPr>
        <p:spPr>
          <a:xfrm>
            <a:off x="471955" y="387691"/>
            <a:ext cx="2060821" cy="263277"/>
          </a:xfrm>
        </p:spPr>
        <p:txBody>
          <a:bodyPr wrap="squar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2624989856"/>
      </p:ext>
    </p:extLst>
  </p:cSld>
  <p:clrMapOvr>
    <a:masterClrMapping/>
  </p:clrMapOvr>
  <p:extLst>
    <p:ext uri="{DCECCB84-F9BA-43D5-87BE-67443E8EF086}">
      <p15:sldGuideLst xmlns:p15="http://schemas.microsoft.com/office/powerpoint/2012/main">
        <p15:guide id="1" orient="horz" pos="360">
          <p15:clr>
            <a:srgbClr val="FBAE40"/>
          </p15:clr>
        </p15:guide>
        <p15:guide id="2" pos="374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6_Section Header">
    <p:bg>
      <p:bgPr>
        <a:gradFill>
          <a:gsLst>
            <a:gs pos="2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7AFC0E27-4625-6A2C-C305-56511F28F32D}"/>
              </a:ext>
            </a:extLst>
          </p:cNvPr>
          <p:cNvCxnSpPr>
            <a:cxnSpLocks/>
            <a:endCxn id="8" idx="1"/>
          </p:cNvCxnSpPr>
          <p:nvPr userDrawn="1"/>
        </p:nvCxnSpPr>
        <p:spPr>
          <a:xfrm>
            <a:off x="2336787" y="2713520"/>
            <a:ext cx="1582600" cy="1122"/>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0C15BAD-D152-4535-3345-3B36D0AC5D35}"/>
              </a:ext>
            </a:extLst>
          </p:cNvPr>
          <p:cNvCxnSpPr>
            <a:cxnSpLocks/>
          </p:cNvCxnSpPr>
          <p:nvPr userDrawn="1"/>
        </p:nvCxnSpPr>
        <p:spPr>
          <a:xfrm flipV="1">
            <a:off x="8272612" y="2703473"/>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FF7C1F5-1628-F40F-44A0-4C7BDF367662}"/>
              </a:ext>
            </a:extLst>
          </p:cNvPr>
          <p:cNvCxnSpPr>
            <a:cxnSpLocks/>
            <a:endCxn id="10" idx="1"/>
          </p:cNvCxnSpPr>
          <p:nvPr userDrawn="1"/>
        </p:nvCxnSpPr>
        <p:spPr>
          <a:xfrm flipV="1">
            <a:off x="5307911" y="2714642"/>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pic>
        <p:nvPicPr>
          <p:cNvPr id="3" name="Picture 2" descr="A blue and red circle&#10;&#10;AI-generated content may be incorrect.">
            <a:extLst>
              <a:ext uri="{FF2B5EF4-FFF2-40B4-BE49-F238E27FC236}">
                <a16:creationId xmlns:a16="http://schemas.microsoft.com/office/drawing/2014/main" id="{F5226844-5451-5790-73AC-A1A3FCC1204A}"/>
              </a:ext>
            </a:extLst>
          </p:cNvPr>
          <p:cNvPicPr>
            <a:picLocks noChangeAspect="1"/>
          </p:cNvPicPr>
          <p:nvPr userDrawn="1"/>
        </p:nvPicPr>
        <p:blipFill>
          <a:blip r:embed="rId3"/>
          <a:stretch>
            <a:fillRect/>
          </a:stretch>
        </p:blipFill>
        <p:spPr>
          <a:xfrm>
            <a:off x="954686" y="2020380"/>
            <a:ext cx="1388524" cy="1388524"/>
          </a:xfrm>
          <a:prstGeom prst="rect">
            <a:avLst/>
          </a:prstGeom>
        </p:spPr>
      </p:pic>
      <p:sp>
        <p:nvSpPr>
          <p:cNvPr id="5" name="Title 1">
            <a:extLst>
              <a:ext uri="{FF2B5EF4-FFF2-40B4-BE49-F238E27FC236}">
                <a16:creationId xmlns:a16="http://schemas.microsoft.com/office/drawing/2014/main" id="{9EB9B6E3-02FA-7D65-EB82-99433C7A2972}"/>
              </a:ext>
            </a:extLst>
          </p:cNvPr>
          <p:cNvSpPr>
            <a:spLocks noGrp="1"/>
          </p:cNvSpPr>
          <p:nvPr>
            <p:ph type="title" hasCustomPrompt="1"/>
          </p:nvPr>
        </p:nvSpPr>
        <p:spPr>
          <a:xfrm>
            <a:off x="1003326" y="838943"/>
            <a:ext cx="10003340" cy="830204"/>
          </a:xfrm>
        </p:spPr>
        <p:txBody>
          <a:bodyPr wrap="none" lIns="0" tIns="0" rIns="0" anchor="t">
            <a:noAutofit/>
          </a:bodyPr>
          <a:lstStyle>
            <a:lvl1pPr algn="ctr">
              <a:lnSpc>
                <a:spcPct val="114000"/>
              </a:lnSpc>
              <a:defRPr sz="4500" b="0" i="0">
                <a:solidFill>
                  <a:schemeClr val="tx2"/>
                </a:solidFill>
                <a:latin typeface="DM Sans 14pt ExtraLight" pitchFamily="2" charset="77"/>
              </a:defRPr>
            </a:lvl1pPr>
          </a:lstStyle>
          <a:p>
            <a:r>
              <a:rPr lang="en-US" dirty="0"/>
              <a:t>Click to add stepped process title</a:t>
            </a:r>
          </a:p>
        </p:txBody>
      </p:sp>
      <p:pic>
        <p:nvPicPr>
          <p:cNvPr id="8" name="Picture 7" descr="A blue and red circle&#10;&#10;AI-generated content may be incorrect.">
            <a:extLst>
              <a:ext uri="{FF2B5EF4-FFF2-40B4-BE49-F238E27FC236}">
                <a16:creationId xmlns:a16="http://schemas.microsoft.com/office/drawing/2014/main" id="{C6FFDCFF-4AA5-F382-4BC3-A5078A6EFCBC}"/>
              </a:ext>
            </a:extLst>
          </p:cNvPr>
          <p:cNvPicPr>
            <a:picLocks noChangeAspect="1"/>
          </p:cNvPicPr>
          <p:nvPr userDrawn="1"/>
        </p:nvPicPr>
        <p:blipFill>
          <a:blip r:embed="rId3"/>
          <a:stretch>
            <a:fillRect/>
          </a:stretch>
        </p:blipFill>
        <p:spPr>
          <a:xfrm>
            <a:off x="3919387" y="2020380"/>
            <a:ext cx="1388524" cy="1388524"/>
          </a:xfrm>
          <a:prstGeom prst="rect">
            <a:avLst/>
          </a:prstGeom>
        </p:spPr>
      </p:pic>
      <p:pic>
        <p:nvPicPr>
          <p:cNvPr id="10" name="Picture 9" descr="A blue and red circle&#10;&#10;AI-generated content may be incorrect.">
            <a:extLst>
              <a:ext uri="{FF2B5EF4-FFF2-40B4-BE49-F238E27FC236}">
                <a16:creationId xmlns:a16="http://schemas.microsoft.com/office/drawing/2014/main" id="{063D8DA6-A370-5F8F-9AB4-3D2A6DF5F9E5}"/>
              </a:ext>
            </a:extLst>
          </p:cNvPr>
          <p:cNvPicPr>
            <a:picLocks noChangeAspect="1"/>
          </p:cNvPicPr>
          <p:nvPr userDrawn="1"/>
        </p:nvPicPr>
        <p:blipFill>
          <a:blip r:embed="rId3"/>
          <a:stretch>
            <a:fillRect/>
          </a:stretch>
        </p:blipFill>
        <p:spPr>
          <a:xfrm>
            <a:off x="6884088" y="2020380"/>
            <a:ext cx="1388524" cy="1388524"/>
          </a:xfrm>
          <a:prstGeom prst="rect">
            <a:avLst/>
          </a:prstGeom>
        </p:spPr>
      </p:pic>
      <p:pic>
        <p:nvPicPr>
          <p:cNvPr id="13" name="Picture 12" descr="A blue and red circle&#10;&#10;AI-generated content may be incorrect.">
            <a:extLst>
              <a:ext uri="{FF2B5EF4-FFF2-40B4-BE49-F238E27FC236}">
                <a16:creationId xmlns:a16="http://schemas.microsoft.com/office/drawing/2014/main" id="{70F510B8-0619-048F-2A92-CBCC185FA3B7}"/>
              </a:ext>
            </a:extLst>
          </p:cNvPr>
          <p:cNvPicPr>
            <a:picLocks noChangeAspect="1"/>
          </p:cNvPicPr>
          <p:nvPr userDrawn="1"/>
        </p:nvPicPr>
        <p:blipFill>
          <a:blip r:embed="rId3"/>
          <a:stretch>
            <a:fillRect/>
          </a:stretch>
        </p:blipFill>
        <p:spPr>
          <a:xfrm>
            <a:off x="9848790" y="2020380"/>
            <a:ext cx="1388524" cy="1388524"/>
          </a:xfrm>
          <a:prstGeom prst="rect">
            <a:avLst/>
          </a:prstGeom>
        </p:spPr>
      </p:pic>
      <p:sp>
        <p:nvSpPr>
          <p:cNvPr id="2" name="Text Placeholder 12">
            <a:extLst>
              <a:ext uri="{FF2B5EF4-FFF2-40B4-BE49-F238E27FC236}">
                <a16:creationId xmlns:a16="http://schemas.microsoft.com/office/drawing/2014/main" id="{8BDCF21A-445A-5F43-620D-33B0B9DB1B6B}"/>
              </a:ext>
            </a:extLst>
          </p:cNvPr>
          <p:cNvSpPr>
            <a:spLocks noGrp="1"/>
          </p:cNvSpPr>
          <p:nvPr>
            <p:ph type="body" sz="quarter" idx="19" hasCustomPrompt="1"/>
          </p:nvPr>
        </p:nvSpPr>
        <p:spPr>
          <a:xfrm>
            <a:off x="4972181" y="387691"/>
            <a:ext cx="2065629" cy="263277"/>
          </a:xfrm>
        </p:spPr>
        <p:txBody>
          <a:bodyPr wrap="none">
            <a:noAutofit/>
          </a:bodyPr>
          <a:lstStyle>
            <a:lvl1pPr algn="ctr">
              <a:defRPr sz="1200" b="1" i="1">
                <a:solidFill>
                  <a:schemeClr val="accent3"/>
                </a:solidFill>
              </a:defRPr>
            </a:lvl1pPr>
          </a:lstStyle>
          <a:p>
            <a:pPr lvl="0"/>
            <a:r>
              <a:rPr lang="en-US" dirty="0"/>
              <a:t>Click to Header / Subhead</a:t>
            </a:r>
          </a:p>
        </p:txBody>
      </p:sp>
      <p:sp>
        <p:nvSpPr>
          <p:cNvPr id="15" name="Text Placeholder 12">
            <a:extLst>
              <a:ext uri="{FF2B5EF4-FFF2-40B4-BE49-F238E27FC236}">
                <a16:creationId xmlns:a16="http://schemas.microsoft.com/office/drawing/2014/main" id="{01E5F9F8-81F6-E521-DB14-F422D6D871DB}"/>
              </a:ext>
            </a:extLst>
          </p:cNvPr>
          <p:cNvSpPr>
            <a:spLocks noGrp="1"/>
          </p:cNvSpPr>
          <p:nvPr>
            <p:ph type="body" sz="quarter" idx="21" hasCustomPrompt="1"/>
          </p:nvPr>
        </p:nvSpPr>
        <p:spPr>
          <a:xfrm>
            <a:off x="649979" y="3629913"/>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20" name="Text Placeholder 12">
            <a:extLst>
              <a:ext uri="{FF2B5EF4-FFF2-40B4-BE49-F238E27FC236}">
                <a16:creationId xmlns:a16="http://schemas.microsoft.com/office/drawing/2014/main" id="{68A48DFC-432C-E359-7F6A-BB549F61429D}"/>
              </a:ext>
            </a:extLst>
          </p:cNvPr>
          <p:cNvSpPr>
            <a:spLocks noGrp="1"/>
          </p:cNvSpPr>
          <p:nvPr>
            <p:ph type="body" sz="quarter" idx="23" hasCustomPrompt="1"/>
          </p:nvPr>
        </p:nvSpPr>
        <p:spPr>
          <a:xfrm>
            <a:off x="741847" y="4279726"/>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32" name="Text Placeholder 12">
            <a:extLst>
              <a:ext uri="{FF2B5EF4-FFF2-40B4-BE49-F238E27FC236}">
                <a16:creationId xmlns:a16="http://schemas.microsoft.com/office/drawing/2014/main" id="{879E13FA-3366-BC7A-19F3-9AC3025D1305}"/>
              </a:ext>
            </a:extLst>
          </p:cNvPr>
          <p:cNvSpPr>
            <a:spLocks noGrp="1"/>
          </p:cNvSpPr>
          <p:nvPr>
            <p:ph type="body" sz="quarter" idx="24" hasCustomPrompt="1"/>
          </p:nvPr>
        </p:nvSpPr>
        <p:spPr>
          <a:xfrm>
            <a:off x="3625494" y="3629913"/>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33" name="Text Placeholder 12">
            <a:extLst>
              <a:ext uri="{FF2B5EF4-FFF2-40B4-BE49-F238E27FC236}">
                <a16:creationId xmlns:a16="http://schemas.microsoft.com/office/drawing/2014/main" id="{C58935AB-EDDF-0590-C681-E775A78EAA05}"/>
              </a:ext>
            </a:extLst>
          </p:cNvPr>
          <p:cNvSpPr>
            <a:spLocks noGrp="1"/>
          </p:cNvSpPr>
          <p:nvPr>
            <p:ph type="body" sz="quarter" idx="25" hasCustomPrompt="1"/>
          </p:nvPr>
        </p:nvSpPr>
        <p:spPr>
          <a:xfrm>
            <a:off x="3717362" y="4279726"/>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34" name="Text Placeholder 12">
            <a:extLst>
              <a:ext uri="{FF2B5EF4-FFF2-40B4-BE49-F238E27FC236}">
                <a16:creationId xmlns:a16="http://schemas.microsoft.com/office/drawing/2014/main" id="{ED946349-A67E-9951-2D38-3249C72168BC}"/>
              </a:ext>
            </a:extLst>
          </p:cNvPr>
          <p:cNvSpPr>
            <a:spLocks noGrp="1"/>
          </p:cNvSpPr>
          <p:nvPr>
            <p:ph type="body" sz="quarter" idx="26" hasCustomPrompt="1"/>
          </p:nvPr>
        </p:nvSpPr>
        <p:spPr>
          <a:xfrm>
            <a:off x="6601009" y="3632142"/>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35" name="Text Placeholder 12">
            <a:extLst>
              <a:ext uri="{FF2B5EF4-FFF2-40B4-BE49-F238E27FC236}">
                <a16:creationId xmlns:a16="http://schemas.microsoft.com/office/drawing/2014/main" id="{182DA389-6B68-8F74-6B25-B0D14E6E3D23}"/>
              </a:ext>
            </a:extLst>
          </p:cNvPr>
          <p:cNvSpPr>
            <a:spLocks noGrp="1"/>
          </p:cNvSpPr>
          <p:nvPr>
            <p:ph type="body" sz="quarter" idx="27" hasCustomPrompt="1"/>
          </p:nvPr>
        </p:nvSpPr>
        <p:spPr>
          <a:xfrm>
            <a:off x="6692877" y="4281955"/>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36" name="Text Placeholder 12">
            <a:extLst>
              <a:ext uri="{FF2B5EF4-FFF2-40B4-BE49-F238E27FC236}">
                <a16:creationId xmlns:a16="http://schemas.microsoft.com/office/drawing/2014/main" id="{849E5C1D-9879-A219-DCB4-D2C7C0DA02A0}"/>
              </a:ext>
            </a:extLst>
          </p:cNvPr>
          <p:cNvSpPr>
            <a:spLocks noGrp="1"/>
          </p:cNvSpPr>
          <p:nvPr>
            <p:ph type="body" sz="quarter" idx="28" hasCustomPrompt="1"/>
          </p:nvPr>
        </p:nvSpPr>
        <p:spPr>
          <a:xfrm>
            <a:off x="9563196" y="3629913"/>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37" name="Text Placeholder 12">
            <a:extLst>
              <a:ext uri="{FF2B5EF4-FFF2-40B4-BE49-F238E27FC236}">
                <a16:creationId xmlns:a16="http://schemas.microsoft.com/office/drawing/2014/main" id="{457379B2-410B-C924-E585-14E9FA00350B}"/>
              </a:ext>
            </a:extLst>
          </p:cNvPr>
          <p:cNvSpPr>
            <a:spLocks noGrp="1"/>
          </p:cNvSpPr>
          <p:nvPr>
            <p:ph type="body" sz="quarter" idx="29" hasCustomPrompt="1"/>
          </p:nvPr>
        </p:nvSpPr>
        <p:spPr>
          <a:xfrm>
            <a:off x="9655064" y="4279726"/>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6" name="Footer Placeholder 3">
            <a:extLst>
              <a:ext uri="{FF2B5EF4-FFF2-40B4-BE49-F238E27FC236}">
                <a16:creationId xmlns:a16="http://schemas.microsoft.com/office/drawing/2014/main" id="{0DBDCC58-9F40-5921-96BF-F547994AEF6F}"/>
              </a:ext>
            </a:extLst>
          </p:cNvPr>
          <p:cNvSpPr>
            <a:spLocks noGrp="1"/>
          </p:cNvSpPr>
          <p:nvPr>
            <p:ph type="ftr" sz="quarter" idx="11"/>
          </p:nvPr>
        </p:nvSpPr>
        <p:spPr>
          <a:xfrm>
            <a:off x="1102149" y="6363845"/>
            <a:ext cx="3684035" cy="200055"/>
          </a:xfrm>
        </p:spPr>
        <p:txBody>
          <a:bodyPr wrap="square">
            <a:spAutoFit/>
          </a:bodyPr>
          <a:lstStyle>
            <a:lvl1pPr>
              <a:defRPr sz="1000">
                <a:solidFill>
                  <a:schemeClr val="tx2"/>
                </a:solidFill>
              </a:defRPr>
            </a:lvl1pPr>
          </a:lstStyle>
          <a:p>
            <a:r>
              <a:rPr lang="en-US" dirty="0"/>
              <a:t>Add Metadata here in Slide Master &gt; Insert &gt; Slide Number</a:t>
            </a:r>
          </a:p>
        </p:txBody>
      </p:sp>
      <p:sp>
        <p:nvSpPr>
          <p:cNvPr id="7" name="Slide Number Placeholder 4">
            <a:extLst>
              <a:ext uri="{FF2B5EF4-FFF2-40B4-BE49-F238E27FC236}">
                <a16:creationId xmlns:a16="http://schemas.microsoft.com/office/drawing/2014/main" id="{08F3C22B-94B2-4C04-D7E7-4820F6798C83}"/>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Tree>
    <p:extLst>
      <p:ext uri="{BB962C8B-B14F-4D97-AF65-F5344CB8AC3E}">
        <p14:creationId xmlns:p14="http://schemas.microsoft.com/office/powerpoint/2010/main" val="10126033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8_Section Header">
    <p:bg>
      <p:bgPr>
        <a:solidFill>
          <a:schemeClr val="accent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7AFC0E27-4625-6A2C-C305-56511F28F32D}"/>
              </a:ext>
            </a:extLst>
          </p:cNvPr>
          <p:cNvCxnSpPr>
            <a:cxnSpLocks/>
            <a:endCxn id="8" idx="1"/>
          </p:cNvCxnSpPr>
          <p:nvPr userDrawn="1"/>
        </p:nvCxnSpPr>
        <p:spPr>
          <a:xfrm>
            <a:off x="2336787" y="2713520"/>
            <a:ext cx="1582600" cy="1122"/>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0C15BAD-D152-4535-3345-3B36D0AC5D35}"/>
              </a:ext>
            </a:extLst>
          </p:cNvPr>
          <p:cNvCxnSpPr>
            <a:cxnSpLocks/>
          </p:cNvCxnSpPr>
          <p:nvPr userDrawn="1"/>
        </p:nvCxnSpPr>
        <p:spPr>
          <a:xfrm flipV="1">
            <a:off x="8272612" y="2703473"/>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FF7C1F5-1628-F40F-44A0-4C7BDF367662}"/>
              </a:ext>
            </a:extLst>
          </p:cNvPr>
          <p:cNvCxnSpPr>
            <a:cxnSpLocks/>
            <a:endCxn id="10" idx="1"/>
          </p:cNvCxnSpPr>
          <p:nvPr userDrawn="1"/>
        </p:nvCxnSpPr>
        <p:spPr>
          <a:xfrm flipV="1">
            <a:off x="5307911" y="2714642"/>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3" name="Picture 2" descr="A blue and red circle&#10;&#10;AI-generated content may be incorrect.">
            <a:extLst>
              <a:ext uri="{FF2B5EF4-FFF2-40B4-BE49-F238E27FC236}">
                <a16:creationId xmlns:a16="http://schemas.microsoft.com/office/drawing/2014/main" id="{F5226844-5451-5790-73AC-A1A3FCC1204A}"/>
              </a:ext>
            </a:extLst>
          </p:cNvPr>
          <p:cNvPicPr>
            <a:picLocks noChangeAspect="1"/>
          </p:cNvPicPr>
          <p:nvPr userDrawn="1"/>
        </p:nvPicPr>
        <p:blipFill>
          <a:blip r:embed="rId2"/>
          <a:stretch>
            <a:fillRect/>
          </a:stretch>
        </p:blipFill>
        <p:spPr>
          <a:xfrm>
            <a:off x="954686" y="2020380"/>
            <a:ext cx="1388524" cy="1388524"/>
          </a:xfrm>
          <a:prstGeom prst="rect">
            <a:avLst/>
          </a:prstGeom>
        </p:spPr>
      </p:pic>
      <p:sp>
        <p:nvSpPr>
          <p:cNvPr id="5" name="Title 1">
            <a:extLst>
              <a:ext uri="{FF2B5EF4-FFF2-40B4-BE49-F238E27FC236}">
                <a16:creationId xmlns:a16="http://schemas.microsoft.com/office/drawing/2014/main" id="{9EB9B6E3-02FA-7D65-EB82-99433C7A2972}"/>
              </a:ext>
            </a:extLst>
          </p:cNvPr>
          <p:cNvSpPr>
            <a:spLocks noGrp="1"/>
          </p:cNvSpPr>
          <p:nvPr>
            <p:ph type="title" hasCustomPrompt="1"/>
          </p:nvPr>
        </p:nvSpPr>
        <p:spPr>
          <a:xfrm>
            <a:off x="1003326" y="838943"/>
            <a:ext cx="10003340" cy="830204"/>
          </a:xfrm>
        </p:spPr>
        <p:txBody>
          <a:bodyPr wrap="none" lIns="0" tIns="0" rIns="0" anchor="t">
            <a:noAutofit/>
          </a:bodyPr>
          <a:lstStyle>
            <a:lvl1pPr algn="ctr">
              <a:lnSpc>
                <a:spcPct val="114000"/>
              </a:lnSpc>
              <a:defRPr sz="4500" b="0" i="0">
                <a:solidFill>
                  <a:schemeClr val="bg2"/>
                </a:solidFill>
                <a:latin typeface="DM Sans 14pt ExtraLight" pitchFamily="2" charset="77"/>
              </a:defRPr>
            </a:lvl1pPr>
          </a:lstStyle>
          <a:p>
            <a:r>
              <a:rPr lang="en-US" dirty="0"/>
              <a:t>Click to add stepped process title</a:t>
            </a:r>
          </a:p>
        </p:txBody>
      </p:sp>
      <p:pic>
        <p:nvPicPr>
          <p:cNvPr id="8" name="Picture 7" descr="A blue and red circle&#10;&#10;AI-generated content may be incorrect.">
            <a:extLst>
              <a:ext uri="{FF2B5EF4-FFF2-40B4-BE49-F238E27FC236}">
                <a16:creationId xmlns:a16="http://schemas.microsoft.com/office/drawing/2014/main" id="{C6FFDCFF-4AA5-F382-4BC3-A5078A6EFCBC}"/>
              </a:ext>
            </a:extLst>
          </p:cNvPr>
          <p:cNvPicPr>
            <a:picLocks noChangeAspect="1"/>
          </p:cNvPicPr>
          <p:nvPr userDrawn="1"/>
        </p:nvPicPr>
        <p:blipFill>
          <a:blip r:embed="rId2"/>
          <a:stretch>
            <a:fillRect/>
          </a:stretch>
        </p:blipFill>
        <p:spPr>
          <a:xfrm>
            <a:off x="3919387" y="2020380"/>
            <a:ext cx="1388524" cy="1388524"/>
          </a:xfrm>
          <a:prstGeom prst="rect">
            <a:avLst/>
          </a:prstGeom>
        </p:spPr>
      </p:pic>
      <p:pic>
        <p:nvPicPr>
          <p:cNvPr id="10" name="Picture 9" descr="A blue and red circle&#10;&#10;AI-generated content may be incorrect.">
            <a:extLst>
              <a:ext uri="{FF2B5EF4-FFF2-40B4-BE49-F238E27FC236}">
                <a16:creationId xmlns:a16="http://schemas.microsoft.com/office/drawing/2014/main" id="{063D8DA6-A370-5F8F-9AB4-3D2A6DF5F9E5}"/>
              </a:ext>
            </a:extLst>
          </p:cNvPr>
          <p:cNvPicPr>
            <a:picLocks noChangeAspect="1"/>
          </p:cNvPicPr>
          <p:nvPr userDrawn="1"/>
        </p:nvPicPr>
        <p:blipFill>
          <a:blip r:embed="rId2"/>
          <a:stretch>
            <a:fillRect/>
          </a:stretch>
        </p:blipFill>
        <p:spPr>
          <a:xfrm>
            <a:off x="6884088" y="2020380"/>
            <a:ext cx="1388524" cy="1388524"/>
          </a:xfrm>
          <a:prstGeom prst="rect">
            <a:avLst/>
          </a:prstGeom>
        </p:spPr>
      </p:pic>
      <p:pic>
        <p:nvPicPr>
          <p:cNvPr id="13" name="Picture 12" descr="A blue and red circle&#10;&#10;AI-generated content may be incorrect.">
            <a:extLst>
              <a:ext uri="{FF2B5EF4-FFF2-40B4-BE49-F238E27FC236}">
                <a16:creationId xmlns:a16="http://schemas.microsoft.com/office/drawing/2014/main" id="{70F510B8-0619-048F-2A92-CBCC185FA3B7}"/>
              </a:ext>
            </a:extLst>
          </p:cNvPr>
          <p:cNvPicPr>
            <a:picLocks noChangeAspect="1"/>
          </p:cNvPicPr>
          <p:nvPr userDrawn="1"/>
        </p:nvPicPr>
        <p:blipFill>
          <a:blip r:embed="rId2"/>
          <a:stretch>
            <a:fillRect/>
          </a:stretch>
        </p:blipFill>
        <p:spPr>
          <a:xfrm>
            <a:off x="9848790" y="2020380"/>
            <a:ext cx="1388524" cy="1388524"/>
          </a:xfrm>
          <a:prstGeom prst="rect">
            <a:avLst/>
          </a:prstGeom>
        </p:spPr>
      </p:pic>
      <p:sp>
        <p:nvSpPr>
          <p:cNvPr id="2" name="Text Placeholder 12">
            <a:extLst>
              <a:ext uri="{FF2B5EF4-FFF2-40B4-BE49-F238E27FC236}">
                <a16:creationId xmlns:a16="http://schemas.microsoft.com/office/drawing/2014/main" id="{8BDCF21A-445A-5F43-620D-33B0B9DB1B6B}"/>
              </a:ext>
            </a:extLst>
          </p:cNvPr>
          <p:cNvSpPr>
            <a:spLocks noGrp="1"/>
          </p:cNvSpPr>
          <p:nvPr>
            <p:ph type="body" sz="quarter" idx="19" hasCustomPrompt="1"/>
          </p:nvPr>
        </p:nvSpPr>
        <p:spPr>
          <a:xfrm>
            <a:off x="4972181" y="387691"/>
            <a:ext cx="2065629" cy="263277"/>
          </a:xfrm>
        </p:spPr>
        <p:txBody>
          <a:bodyPr wrap="none">
            <a:noAutofit/>
          </a:bodyPr>
          <a:lstStyle>
            <a:lvl1pPr algn="ctr">
              <a:defRPr sz="1200" b="1" i="1">
                <a:solidFill>
                  <a:schemeClr val="accent3"/>
                </a:solidFill>
              </a:defRPr>
            </a:lvl1pPr>
          </a:lstStyle>
          <a:p>
            <a:pPr lvl="0"/>
            <a:r>
              <a:rPr lang="en-US" dirty="0"/>
              <a:t>Click to Header / Subhead</a:t>
            </a:r>
          </a:p>
        </p:txBody>
      </p:sp>
      <p:sp>
        <p:nvSpPr>
          <p:cNvPr id="15" name="Text Placeholder 12">
            <a:extLst>
              <a:ext uri="{FF2B5EF4-FFF2-40B4-BE49-F238E27FC236}">
                <a16:creationId xmlns:a16="http://schemas.microsoft.com/office/drawing/2014/main" id="{01E5F9F8-81F6-E521-DB14-F422D6D871DB}"/>
              </a:ext>
            </a:extLst>
          </p:cNvPr>
          <p:cNvSpPr>
            <a:spLocks noGrp="1"/>
          </p:cNvSpPr>
          <p:nvPr>
            <p:ph type="body" sz="quarter" idx="21" hasCustomPrompt="1"/>
          </p:nvPr>
        </p:nvSpPr>
        <p:spPr>
          <a:xfrm>
            <a:off x="649979" y="3629913"/>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20" name="Text Placeholder 12">
            <a:extLst>
              <a:ext uri="{FF2B5EF4-FFF2-40B4-BE49-F238E27FC236}">
                <a16:creationId xmlns:a16="http://schemas.microsoft.com/office/drawing/2014/main" id="{68A48DFC-432C-E359-7F6A-BB549F61429D}"/>
              </a:ext>
            </a:extLst>
          </p:cNvPr>
          <p:cNvSpPr>
            <a:spLocks noGrp="1"/>
          </p:cNvSpPr>
          <p:nvPr>
            <p:ph type="body" sz="quarter" idx="23" hasCustomPrompt="1"/>
          </p:nvPr>
        </p:nvSpPr>
        <p:spPr>
          <a:xfrm>
            <a:off x="741847" y="4279726"/>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32" name="Text Placeholder 12">
            <a:extLst>
              <a:ext uri="{FF2B5EF4-FFF2-40B4-BE49-F238E27FC236}">
                <a16:creationId xmlns:a16="http://schemas.microsoft.com/office/drawing/2014/main" id="{879E13FA-3366-BC7A-19F3-9AC3025D1305}"/>
              </a:ext>
            </a:extLst>
          </p:cNvPr>
          <p:cNvSpPr>
            <a:spLocks noGrp="1"/>
          </p:cNvSpPr>
          <p:nvPr>
            <p:ph type="body" sz="quarter" idx="24" hasCustomPrompt="1"/>
          </p:nvPr>
        </p:nvSpPr>
        <p:spPr>
          <a:xfrm>
            <a:off x="3625494" y="3629913"/>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33" name="Text Placeholder 12">
            <a:extLst>
              <a:ext uri="{FF2B5EF4-FFF2-40B4-BE49-F238E27FC236}">
                <a16:creationId xmlns:a16="http://schemas.microsoft.com/office/drawing/2014/main" id="{C58935AB-EDDF-0590-C681-E775A78EAA05}"/>
              </a:ext>
            </a:extLst>
          </p:cNvPr>
          <p:cNvSpPr>
            <a:spLocks noGrp="1"/>
          </p:cNvSpPr>
          <p:nvPr>
            <p:ph type="body" sz="quarter" idx="25" hasCustomPrompt="1"/>
          </p:nvPr>
        </p:nvSpPr>
        <p:spPr>
          <a:xfrm>
            <a:off x="3717362" y="4279726"/>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34" name="Text Placeholder 12">
            <a:extLst>
              <a:ext uri="{FF2B5EF4-FFF2-40B4-BE49-F238E27FC236}">
                <a16:creationId xmlns:a16="http://schemas.microsoft.com/office/drawing/2014/main" id="{ED946349-A67E-9951-2D38-3249C72168BC}"/>
              </a:ext>
            </a:extLst>
          </p:cNvPr>
          <p:cNvSpPr>
            <a:spLocks noGrp="1"/>
          </p:cNvSpPr>
          <p:nvPr>
            <p:ph type="body" sz="quarter" idx="26" hasCustomPrompt="1"/>
          </p:nvPr>
        </p:nvSpPr>
        <p:spPr>
          <a:xfrm>
            <a:off x="6601009" y="3632142"/>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35" name="Text Placeholder 12">
            <a:extLst>
              <a:ext uri="{FF2B5EF4-FFF2-40B4-BE49-F238E27FC236}">
                <a16:creationId xmlns:a16="http://schemas.microsoft.com/office/drawing/2014/main" id="{182DA389-6B68-8F74-6B25-B0D14E6E3D23}"/>
              </a:ext>
            </a:extLst>
          </p:cNvPr>
          <p:cNvSpPr>
            <a:spLocks noGrp="1"/>
          </p:cNvSpPr>
          <p:nvPr>
            <p:ph type="body" sz="quarter" idx="27" hasCustomPrompt="1"/>
          </p:nvPr>
        </p:nvSpPr>
        <p:spPr>
          <a:xfrm>
            <a:off x="6692877" y="4281955"/>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36" name="Text Placeholder 12">
            <a:extLst>
              <a:ext uri="{FF2B5EF4-FFF2-40B4-BE49-F238E27FC236}">
                <a16:creationId xmlns:a16="http://schemas.microsoft.com/office/drawing/2014/main" id="{849E5C1D-9879-A219-DCB4-D2C7C0DA02A0}"/>
              </a:ext>
            </a:extLst>
          </p:cNvPr>
          <p:cNvSpPr>
            <a:spLocks noGrp="1"/>
          </p:cNvSpPr>
          <p:nvPr>
            <p:ph type="body" sz="quarter" idx="28" hasCustomPrompt="1"/>
          </p:nvPr>
        </p:nvSpPr>
        <p:spPr>
          <a:xfrm>
            <a:off x="9563196" y="3629913"/>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37" name="Text Placeholder 12">
            <a:extLst>
              <a:ext uri="{FF2B5EF4-FFF2-40B4-BE49-F238E27FC236}">
                <a16:creationId xmlns:a16="http://schemas.microsoft.com/office/drawing/2014/main" id="{457379B2-410B-C924-E585-14E9FA00350B}"/>
              </a:ext>
            </a:extLst>
          </p:cNvPr>
          <p:cNvSpPr>
            <a:spLocks noGrp="1"/>
          </p:cNvSpPr>
          <p:nvPr>
            <p:ph type="body" sz="quarter" idx="29" hasCustomPrompt="1"/>
          </p:nvPr>
        </p:nvSpPr>
        <p:spPr>
          <a:xfrm>
            <a:off x="9655064" y="4279726"/>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4" name="Footer Placeholder 3">
            <a:extLst>
              <a:ext uri="{FF2B5EF4-FFF2-40B4-BE49-F238E27FC236}">
                <a16:creationId xmlns:a16="http://schemas.microsoft.com/office/drawing/2014/main" id="{F4622E17-5965-DC44-C005-6540DE841617}"/>
              </a:ext>
            </a:extLst>
          </p:cNvPr>
          <p:cNvSpPr>
            <a:spLocks noGrp="1"/>
          </p:cNvSpPr>
          <p:nvPr>
            <p:ph type="ftr" sz="quarter" idx="11"/>
          </p:nvPr>
        </p:nvSpPr>
        <p:spPr>
          <a:xfrm>
            <a:off x="1102149" y="6363845"/>
            <a:ext cx="3684035" cy="200055"/>
          </a:xfrm>
        </p:spPr>
        <p:txBody>
          <a:bodyPr wrap="square">
            <a:spAutoFit/>
          </a:bodyPr>
          <a:lstStyle>
            <a:lvl1pPr>
              <a:defRPr sz="1000">
                <a:solidFill>
                  <a:schemeClr val="bg2"/>
                </a:solidFill>
              </a:defRPr>
            </a:lvl1pPr>
          </a:lstStyle>
          <a:p>
            <a:r>
              <a:rPr lang="en-US" dirty="0"/>
              <a:t>Add Metadata here in Slide Master &gt; Insert &gt; Slide Number</a:t>
            </a:r>
          </a:p>
        </p:txBody>
      </p:sp>
      <p:sp>
        <p:nvSpPr>
          <p:cNvPr id="6" name="Slide Number Placeholder 4">
            <a:extLst>
              <a:ext uri="{FF2B5EF4-FFF2-40B4-BE49-F238E27FC236}">
                <a16:creationId xmlns:a16="http://schemas.microsoft.com/office/drawing/2014/main" id="{27553C02-7D4C-940C-956E-C2861FBE6129}"/>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9" name="Picture 8" descr="A close up of a logo&#10;&#10;AI-generated content may be incorrect.">
            <a:extLst>
              <a:ext uri="{FF2B5EF4-FFF2-40B4-BE49-F238E27FC236}">
                <a16:creationId xmlns:a16="http://schemas.microsoft.com/office/drawing/2014/main" id="{C87FB21D-724C-806C-1D34-B5DD269C7BB3}"/>
              </a:ext>
            </a:extLst>
          </p:cNvPr>
          <p:cNvPicPr>
            <a:picLocks noChangeAspect="1"/>
          </p:cNvPicPr>
          <p:nvPr userDrawn="1"/>
        </p:nvPicPr>
        <p:blipFill>
          <a:blip r:embed="rId3"/>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3025440699"/>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9_Section Header">
    <p:bg>
      <p:bgPr>
        <a:gradFill>
          <a:gsLst>
            <a:gs pos="50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6349120-918C-2A5C-35FB-BA0976D00AA2}"/>
              </a:ext>
            </a:extLst>
          </p:cNvPr>
          <p:cNvSpPr/>
          <p:nvPr userDrawn="1"/>
        </p:nvSpPr>
        <p:spPr>
          <a:xfrm rot="10800000">
            <a:off x="-8" y="0"/>
            <a:ext cx="6096004" cy="2953174"/>
          </a:xfrm>
          <a:prstGeom prst="rect">
            <a:avLst/>
          </a:prstGeom>
          <a:gradFill flip="none" rotWithShape="1">
            <a:gsLst>
              <a:gs pos="50000">
                <a:schemeClr val="bg2"/>
              </a:gs>
              <a:gs pos="100000">
                <a:schemeClr val="tx1">
                  <a:alpha val="9882"/>
                </a:schemeClr>
              </a:gs>
            </a:gsLst>
            <a:lin ang="14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45CAED2-28B9-D78A-751F-9450267F0FDE}"/>
              </a:ext>
            </a:extLst>
          </p:cNvPr>
          <p:cNvSpPr/>
          <p:nvPr userDrawn="1"/>
        </p:nvSpPr>
        <p:spPr>
          <a:xfrm rot="10800000">
            <a:off x="6087530" y="0"/>
            <a:ext cx="6096000" cy="2953174"/>
          </a:xfrm>
          <a:prstGeom prst="rect">
            <a:avLst/>
          </a:prstGeom>
          <a:gradFill>
            <a:gsLst>
              <a:gs pos="50000">
                <a:schemeClr val="bg2"/>
              </a:gs>
              <a:gs pos="100000">
                <a:schemeClr val="tx1">
                  <a:alpha val="9882"/>
                </a:schemeClr>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58B8E10-3738-FBF7-7635-AB6B64B38312}"/>
              </a:ext>
            </a:extLst>
          </p:cNvPr>
          <p:cNvSpPr/>
          <p:nvPr userDrawn="1"/>
        </p:nvSpPr>
        <p:spPr>
          <a:xfrm>
            <a:off x="6095996" y="2971800"/>
            <a:ext cx="6096004" cy="3886200"/>
          </a:xfrm>
          <a:prstGeom prst="rect">
            <a:avLst/>
          </a:prstGeom>
          <a:gradFill flip="none" rotWithShape="1">
            <a:gsLst>
              <a:gs pos="50000">
                <a:schemeClr val="bg2"/>
              </a:gs>
              <a:gs pos="100000">
                <a:schemeClr val="tx1">
                  <a:alpha val="9882"/>
                </a:schemeClr>
              </a:gs>
            </a:gsLst>
            <a:lin ang="14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388E1BD-B2FD-E4B9-D4CB-52D927E5A7CE}"/>
              </a:ext>
            </a:extLst>
          </p:cNvPr>
          <p:cNvSpPr/>
          <p:nvPr userDrawn="1"/>
        </p:nvSpPr>
        <p:spPr>
          <a:xfrm>
            <a:off x="1" y="2971800"/>
            <a:ext cx="6096000" cy="3886200"/>
          </a:xfrm>
          <a:prstGeom prst="rect">
            <a:avLst/>
          </a:prstGeom>
          <a:gradFill>
            <a:gsLst>
              <a:gs pos="50000">
                <a:schemeClr val="bg2"/>
              </a:gs>
              <a:gs pos="100000">
                <a:schemeClr val="tx1">
                  <a:alpha val="9882"/>
                </a:scheme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89E842C-1C79-07C7-B220-3AB4E9AF8B1B}"/>
              </a:ext>
            </a:extLst>
          </p:cNvPr>
          <p:cNvSpPr/>
          <p:nvPr userDrawn="1"/>
        </p:nvSpPr>
        <p:spPr>
          <a:xfrm>
            <a:off x="4544061" y="1421556"/>
            <a:ext cx="3108960" cy="3108960"/>
          </a:xfrm>
          <a:prstGeom prst="ellipse">
            <a:avLst/>
          </a:prstGeom>
          <a:solidFill>
            <a:schemeClr val="bg2">
              <a:alpha val="7594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Arc 20">
            <a:extLst>
              <a:ext uri="{FF2B5EF4-FFF2-40B4-BE49-F238E27FC236}">
                <a16:creationId xmlns:a16="http://schemas.microsoft.com/office/drawing/2014/main" id="{6938251B-45E7-742E-F6A3-BC0F1B758F47}"/>
              </a:ext>
            </a:extLst>
          </p:cNvPr>
          <p:cNvSpPr/>
          <p:nvPr userDrawn="1"/>
        </p:nvSpPr>
        <p:spPr>
          <a:xfrm>
            <a:off x="5037665" y="1913466"/>
            <a:ext cx="2116667" cy="2116667"/>
          </a:xfrm>
          <a:prstGeom prst="arc">
            <a:avLst/>
          </a:prstGeom>
          <a:ln w="4667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F2DC63D2-3425-F914-20E3-E5D645D06CF2}"/>
              </a:ext>
            </a:extLst>
          </p:cNvPr>
          <p:cNvSpPr/>
          <p:nvPr userDrawn="1"/>
        </p:nvSpPr>
        <p:spPr>
          <a:xfrm rot="5400000">
            <a:off x="5037666" y="1913466"/>
            <a:ext cx="2116667" cy="2116667"/>
          </a:xfrm>
          <a:prstGeom prst="arc">
            <a:avLst/>
          </a:prstGeom>
          <a:ln w="4667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Arc 26">
            <a:extLst>
              <a:ext uri="{FF2B5EF4-FFF2-40B4-BE49-F238E27FC236}">
                <a16:creationId xmlns:a16="http://schemas.microsoft.com/office/drawing/2014/main" id="{E2806320-E9B1-B4BE-7D00-AB83107DF904}"/>
              </a:ext>
            </a:extLst>
          </p:cNvPr>
          <p:cNvSpPr/>
          <p:nvPr userDrawn="1"/>
        </p:nvSpPr>
        <p:spPr>
          <a:xfrm rot="10800000">
            <a:off x="5037663" y="1913466"/>
            <a:ext cx="2116667" cy="2116667"/>
          </a:xfrm>
          <a:prstGeom prst="arc">
            <a:avLst/>
          </a:prstGeom>
          <a:ln w="466725">
            <a:solidFill>
              <a:schemeClr val="accent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Arc 27">
            <a:extLst>
              <a:ext uri="{FF2B5EF4-FFF2-40B4-BE49-F238E27FC236}">
                <a16:creationId xmlns:a16="http://schemas.microsoft.com/office/drawing/2014/main" id="{4D74C593-60F9-6268-7B61-8FE975200FA8}"/>
              </a:ext>
            </a:extLst>
          </p:cNvPr>
          <p:cNvSpPr/>
          <p:nvPr userDrawn="1"/>
        </p:nvSpPr>
        <p:spPr>
          <a:xfrm rot="16200000">
            <a:off x="5037664" y="1913466"/>
            <a:ext cx="2116667" cy="2116667"/>
          </a:xfrm>
          <a:prstGeom prst="arc">
            <a:avLst/>
          </a:prstGeom>
          <a:ln w="466725">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Rectangle 28">
            <a:extLst>
              <a:ext uri="{FF2B5EF4-FFF2-40B4-BE49-F238E27FC236}">
                <a16:creationId xmlns:a16="http://schemas.microsoft.com/office/drawing/2014/main" id="{8795F799-7EBD-2808-EE01-173996257D68}"/>
              </a:ext>
            </a:extLst>
          </p:cNvPr>
          <p:cNvSpPr/>
          <p:nvPr userDrawn="1"/>
        </p:nvSpPr>
        <p:spPr>
          <a:xfrm flipH="1">
            <a:off x="6057047" y="1"/>
            <a:ext cx="81285"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A8DB072-AD87-5BA0-4A77-896397900B48}"/>
              </a:ext>
            </a:extLst>
          </p:cNvPr>
          <p:cNvSpPr/>
          <p:nvPr userDrawn="1"/>
        </p:nvSpPr>
        <p:spPr>
          <a:xfrm rot="5400000">
            <a:off x="6095999" y="1625600"/>
            <a:ext cx="45719" cy="270086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DEAA892-3047-EEC6-12D0-41D272138190}"/>
              </a:ext>
            </a:extLst>
          </p:cNvPr>
          <p:cNvSpPr/>
          <p:nvPr userDrawn="1"/>
        </p:nvSpPr>
        <p:spPr>
          <a:xfrm rot="5400000" flipH="1">
            <a:off x="6059079" y="-3112686"/>
            <a:ext cx="67061" cy="121987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6B29E89-60C6-67FD-EDF9-B719E2E4CBA4}"/>
              </a:ext>
            </a:extLst>
          </p:cNvPr>
          <p:cNvSpPr/>
          <p:nvPr userDrawn="1"/>
        </p:nvSpPr>
        <p:spPr>
          <a:xfrm>
            <a:off x="5528733" y="2404533"/>
            <a:ext cx="1134534" cy="1134534"/>
          </a:xfrm>
          <a:prstGeom prst="ellipse">
            <a:avLst/>
          </a:prstGeom>
          <a:gradFill>
            <a:gsLst>
              <a:gs pos="73000">
                <a:schemeClr val="accent3"/>
              </a:gs>
              <a:gs pos="36000">
                <a:schemeClr val="accent2"/>
              </a:gs>
              <a:gs pos="0">
                <a:schemeClr val="tx2"/>
              </a:gs>
              <a:gs pos="100000">
                <a:schemeClr val="accent4"/>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5" name="Picture 4" descr="A blue and orange logo&#10;&#10;AI-generated content may be incorrect.">
            <a:extLst>
              <a:ext uri="{FF2B5EF4-FFF2-40B4-BE49-F238E27FC236}">
                <a16:creationId xmlns:a16="http://schemas.microsoft.com/office/drawing/2014/main" id="{73A83040-3742-D618-552F-1BC5C220C513}"/>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3187855557"/>
      </p:ext>
    </p:extLst>
  </p:cSld>
  <p:clrMapOvr>
    <a:masterClrMapping/>
  </p:clrMapOvr>
  <p:extLst>
    <p:ext uri="{DCECCB84-F9BA-43D5-87BE-67443E8EF086}">
      <p15:sldGuideLst xmlns:p15="http://schemas.microsoft.com/office/powerpoint/2012/main">
        <p15:guide id="1" orient="horz" pos="1872"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38DEF97A-12D1-9ED3-89DA-8D81AA313185}"/>
              </a:ext>
            </a:extLst>
          </p:cNvPr>
          <p:cNvSpPr/>
          <p:nvPr userDrawn="1"/>
        </p:nvSpPr>
        <p:spPr>
          <a:xfrm>
            <a:off x="477625" y="2744572"/>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93A215-28C9-3E90-DA58-463EF7694092}"/>
              </a:ext>
            </a:extLst>
          </p:cNvPr>
          <p:cNvSpPr/>
          <p:nvPr userDrawn="1"/>
        </p:nvSpPr>
        <p:spPr>
          <a:xfrm>
            <a:off x="477624" y="2131729"/>
            <a:ext cx="2425061" cy="49906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blue arrow in a circle&#10;&#10;AI-generated content may be incorrect.">
            <a:extLst>
              <a:ext uri="{FF2B5EF4-FFF2-40B4-BE49-F238E27FC236}">
                <a16:creationId xmlns:a16="http://schemas.microsoft.com/office/drawing/2014/main" id="{57CA568C-D9D3-AECC-48DD-F40ADA830334}"/>
              </a:ext>
            </a:extLst>
          </p:cNvPr>
          <p:cNvPicPr>
            <a:picLocks noChangeAspect="1"/>
          </p:cNvPicPr>
          <p:nvPr userDrawn="1"/>
        </p:nvPicPr>
        <p:blipFill>
          <a:blip r:embed="rId2"/>
          <a:stretch>
            <a:fillRect/>
          </a:stretch>
        </p:blipFill>
        <p:spPr>
          <a:xfrm>
            <a:off x="637521" y="2974023"/>
            <a:ext cx="254343" cy="254343"/>
          </a:xfrm>
          <a:prstGeom prst="rect">
            <a:avLst/>
          </a:prstGeom>
        </p:spPr>
      </p:pic>
      <p:sp>
        <p:nvSpPr>
          <p:cNvPr id="7" name="Text Placeholder 13">
            <a:extLst>
              <a:ext uri="{FF2B5EF4-FFF2-40B4-BE49-F238E27FC236}">
                <a16:creationId xmlns:a16="http://schemas.microsoft.com/office/drawing/2014/main" id="{6CB2FDD5-CFBB-B78C-B2EC-A60C0C0EFF29}"/>
              </a:ext>
            </a:extLst>
          </p:cNvPr>
          <p:cNvSpPr>
            <a:spLocks noGrp="1"/>
          </p:cNvSpPr>
          <p:nvPr>
            <p:ph type="body" sz="quarter" idx="17" hasCustomPrompt="1"/>
          </p:nvPr>
        </p:nvSpPr>
        <p:spPr>
          <a:xfrm>
            <a:off x="650098" y="2271675"/>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30" name="Rectangle 29">
            <a:extLst>
              <a:ext uri="{FF2B5EF4-FFF2-40B4-BE49-F238E27FC236}">
                <a16:creationId xmlns:a16="http://schemas.microsoft.com/office/drawing/2014/main" id="{B7DEBC8B-FD14-D674-3A4B-F6167D2D5C8C}"/>
              </a:ext>
            </a:extLst>
          </p:cNvPr>
          <p:cNvSpPr/>
          <p:nvPr userDrawn="1"/>
        </p:nvSpPr>
        <p:spPr>
          <a:xfrm>
            <a:off x="3414854" y="2131729"/>
            <a:ext cx="2425061" cy="4990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13">
            <a:extLst>
              <a:ext uri="{FF2B5EF4-FFF2-40B4-BE49-F238E27FC236}">
                <a16:creationId xmlns:a16="http://schemas.microsoft.com/office/drawing/2014/main" id="{DF1C1170-234C-444A-73FA-2C5D4D0308AE}"/>
              </a:ext>
            </a:extLst>
          </p:cNvPr>
          <p:cNvSpPr>
            <a:spLocks noGrp="1"/>
          </p:cNvSpPr>
          <p:nvPr>
            <p:ph type="body" sz="quarter" idx="37" hasCustomPrompt="1"/>
          </p:nvPr>
        </p:nvSpPr>
        <p:spPr>
          <a:xfrm>
            <a:off x="3587328" y="2271675"/>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32" name="Rectangle 31">
            <a:extLst>
              <a:ext uri="{FF2B5EF4-FFF2-40B4-BE49-F238E27FC236}">
                <a16:creationId xmlns:a16="http://schemas.microsoft.com/office/drawing/2014/main" id="{C5C743D4-F35B-9E2E-3012-98B6EFA31181}"/>
              </a:ext>
            </a:extLst>
          </p:cNvPr>
          <p:cNvSpPr/>
          <p:nvPr userDrawn="1"/>
        </p:nvSpPr>
        <p:spPr>
          <a:xfrm>
            <a:off x="6352084" y="2124425"/>
            <a:ext cx="2425061" cy="4990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13">
            <a:extLst>
              <a:ext uri="{FF2B5EF4-FFF2-40B4-BE49-F238E27FC236}">
                <a16:creationId xmlns:a16="http://schemas.microsoft.com/office/drawing/2014/main" id="{E73950C3-CFB6-F8AF-496E-83A0C9682BF5}"/>
              </a:ext>
            </a:extLst>
          </p:cNvPr>
          <p:cNvSpPr>
            <a:spLocks noGrp="1"/>
          </p:cNvSpPr>
          <p:nvPr>
            <p:ph type="body" sz="quarter" idx="38" hasCustomPrompt="1"/>
          </p:nvPr>
        </p:nvSpPr>
        <p:spPr>
          <a:xfrm>
            <a:off x="6524558" y="2264371"/>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34" name="Rectangle 33">
            <a:extLst>
              <a:ext uri="{FF2B5EF4-FFF2-40B4-BE49-F238E27FC236}">
                <a16:creationId xmlns:a16="http://schemas.microsoft.com/office/drawing/2014/main" id="{282BE216-85D7-F00F-91D8-80A2203B17A1}"/>
              </a:ext>
            </a:extLst>
          </p:cNvPr>
          <p:cNvSpPr/>
          <p:nvPr userDrawn="1"/>
        </p:nvSpPr>
        <p:spPr>
          <a:xfrm>
            <a:off x="9289314" y="2111437"/>
            <a:ext cx="2425061" cy="49906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3">
            <a:extLst>
              <a:ext uri="{FF2B5EF4-FFF2-40B4-BE49-F238E27FC236}">
                <a16:creationId xmlns:a16="http://schemas.microsoft.com/office/drawing/2014/main" id="{0B00DDBD-6BFA-AE93-459A-6469E3488974}"/>
              </a:ext>
            </a:extLst>
          </p:cNvPr>
          <p:cNvSpPr>
            <a:spLocks noGrp="1"/>
          </p:cNvSpPr>
          <p:nvPr>
            <p:ph type="body" sz="quarter" idx="39" hasCustomPrompt="1"/>
          </p:nvPr>
        </p:nvSpPr>
        <p:spPr>
          <a:xfrm>
            <a:off x="9461788" y="2251383"/>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36" name="Title 1">
            <a:extLst>
              <a:ext uri="{FF2B5EF4-FFF2-40B4-BE49-F238E27FC236}">
                <a16:creationId xmlns:a16="http://schemas.microsoft.com/office/drawing/2014/main" id="{D85474DB-2619-746D-30F1-01DFC3DA0C00}"/>
              </a:ext>
            </a:extLst>
          </p:cNvPr>
          <p:cNvSpPr>
            <a:spLocks noGrp="1"/>
          </p:cNvSpPr>
          <p:nvPr>
            <p:ph type="title" hasCustomPrompt="1"/>
          </p:nvPr>
        </p:nvSpPr>
        <p:spPr>
          <a:xfrm>
            <a:off x="471955" y="1017216"/>
            <a:ext cx="7867712" cy="830204"/>
          </a:xfrm>
        </p:spPr>
        <p:txBody>
          <a:bodyPr wrap="none" lIns="0" tIns="0" rIns="0" anchor="t">
            <a:noAutofit/>
          </a:bodyPr>
          <a:lstStyle>
            <a:lvl1pPr algn="l">
              <a:lnSpc>
                <a:spcPct val="114000"/>
              </a:lnSpc>
              <a:defRPr sz="4500" b="0" i="0">
                <a:solidFill>
                  <a:schemeClr val="tx2"/>
                </a:solidFill>
                <a:latin typeface="DM Sans 14pt ExtraLight" pitchFamily="2" charset="77"/>
              </a:defRPr>
            </a:lvl1pPr>
          </a:lstStyle>
          <a:p>
            <a:r>
              <a:rPr lang="en-US" dirty="0"/>
              <a:t>Click to add stepped plan title</a:t>
            </a:r>
          </a:p>
        </p:txBody>
      </p:sp>
      <p:sp>
        <p:nvSpPr>
          <p:cNvPr id="38" name="Text Placeholder 13">
            <a:extLst>
              <a:ext uri="{FF2B5EF4-FFF2-40B4-BE49-F238E27FC236}">
                <a16:creationId xmlns:a16="http://schemas.microsoft.com/office/drawing/2014/main" id="{85E2590A-B247-DAB9-68D7-158A8715CB45}"/>
              </a:ext>
            </a:extLst>
          </p:cNvPr>
          <p:cNvSpPr>
            <a:spLocks noGrp="1"/>
          </p:cNvSpPr>
          <p:nvPr>
            <p:ph type="body" sz="quarter" idx="16" hasCustomPrompt="1"/>
          </p:nvPr>
        </p:nvSpPr>
        <p:spPr>
          <a:xfrm>
            <a:off x="1026312" y="301907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41" name="Picture 40" descr="A blue arrow in a circle&#10;&#10;AI-generated content may be incorrect.">
            <a:extLst>
              <a:ext uri="{FF2B5EF4-FFF2-40B4-BE49-F238E27FC236}">
                <a16:creationId xmlns:a16="http://schemas.microsoft.com/office/drawing/2014/main" id="{0AE816B6-5926-8ECB-1877-11041DEA9E8D}"/>
              </a:ext>
            </a:extLst>
          </p:cNvPr>
          <p:cNvPicPr>
            <a:picLocks noChangeAspect="1"/>
          </p:cNvPicPr>
          <p:nvPr userDrawn="1"/>
        </p:nvPicPr>
        <p:blipFill>
          <a:blip r:embed="rId2"/>
          <a:stretch>
            <a:fillRect/>
          </a:stretch>
        </p:blipFill>
        <p:spPr>
          <a:xfrm>
            <a:off x="637521" y="3749445"/>
            <a:ext cx="254343" cy="254343"/>
          </a:xfrm>
          <a:prstGeom prst="rect">
            <a:avLst/>
          </a:prstGeom>
        </p:spPr>
      </p:pic>
      <p:sp>
        <p:nvSpPr>
          <p:cNvPr id="42" name="Text Placeholder 13">
            <a:extLst>
              <a:ext uri="{FF2B5EF4-FFF2-40B4-BE49-F238E27FC236}">
                <a16:creationId xmlns:a16="http://schemas.microsoft.com/office/drawing/2014/main" id="{0F3993E7-3BEF-FF1A-0622-0E0E26D5616D}"/>
              </a:ext>
            </a:extLst>
          </p:cNvPr>
          <p:cNvSpPr>
            <a:spLocks noGrp="1"/>
          </p:cNvSpPr>
          <p:nvPr>
            <p:ph type="body" sz="quarter" idx="40" hasCustomPrompt="1"/>
          </p:nvPr>
        </p:nvSpPr>
        <p:spPr>
          <a:xfrm>
            <a:off x="1026312" y="3794501"/>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43" name="Picture 42" descr="A blue arrow in a circle&#10;&#10;AI-generated content may be incorrect.">
            <a:extLst>
              <a:ext uri="{FF2B5EF4-FFF2-40B4-BE49-F238E27FC236}">
                <a16:creationId xmlns:a16="http://schemas.microsoft.com/office/drawing/2014/main" id="{6327CD36-605F-FB91-840E-AA9A1FC725FD}"/>
              </a:ext>
            </a:extLst>
          </p:cNvPr>
          <p:cNvPicPr>
            <a:picLocks noChangeAspect="1"/>
          </p:cNvPicPr>
          <p:nvPr userDrawn="1"/>
        </p:nvPicPr>
        <p:blipFill>
          <a:blip r:embed="rId2"/>
          <a:stretch>
            <a:fillRect/>
          </a:stretch>
        </p:blipFill>
        <p:spPr>
          <a:xfrm>
            <a:off x="637521" y="4547186"/>
            <a:ext cx="254343" cy="254343"/>
          </a:xfrm>
          <a:prstGeom prst="rect">
            <a:avLst/>
          </a:prstGeom>
        </p:spPr>
      </p:pic>
      <p:sp>
        <p:nvSpPr>
          <p:cNvPr id="44" name="Text Placeholder 13">
            <a:extLst>
              <a:ext uri="{FF2B5EF4-FFF2-40B4-BE49-F238E27FC236}">
                <a16:creationId xmlns:a16="http://schemas.microsoft.com/office/drawing/2014/main" id="{DA5F3B64-1A61-FFE7-8FBB-2209D146E2A0}"/>
              </a:ext>
            </a:extLst>
          </p:cNvPr>
          <p:cNvSpPr>
            <a:spLocks noGrp="1"/>
          </p:cNvSpPr>
          <p:nvPr>
            <p:ph type="body" sz="quarter" idx="41" hasCustomPrompt="1"/>
          </p:nvPr>
        </p:nvSpPr>
        <p:spPr>
          <a:xfrm>
            <a:off x="1026312" y="4592242"/>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sp>
        <p:nvSpPr>
          <p:cNvPr id="45" name="Rectangle 44">
            <a:extLst>
              <a:ext uri="{FF2B5EF4-FFF2-40B4-BE49-F238E27FC236}">
                <a16:creationId xmlns:a16="http://schemas.microsoft.com/office/drawing/2014/main" id="{144FE29F-C41B-B9D0-77D6-2B6AA9E9D547}"/>
              </a:ext>
            </a:extLst>
          </p:cNvPr>
          <p:cNvSpPr/>
          <p:nvPr userDrawn="1"/>
        </p:nvSpPr>
        <p:spPr>
          <a:xfrm>
            <a:off x="3414854" y="2740199"/>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descr="A blue arrow in a circle&#10;&#10;AI-generated content may be incorrect.">
            <a:extLst>
              <a:ext uri="{FF2B5EF4-FFF2-40B4-BE49-F238E27FC236}">
                <a16:creationId xmlns:a16="http://schemas.microsoft.com/office/drawing/2014/main" id="{D6F9C7F2-26B0-7C56-4981-445EA2268FA9}"/>
              </a:ext>
            </a:extLst>
          </p:cNvPr>
          <p:cNvPicPr>
            <a:picLocks noChangeAspect="1"/>
          </p:cNvPicPr>
          <p:nvPr userDrawn="1"/>
        </p:nvPicPr>
        <p:blipFill>
          <a:blip r:embed="rId2"/>
          <a:stretch>
            <a:fillRect/>
          </a:stretch>
        </p:blipFill>
        <p:spPr>
          <a:xfrm>
            <a:off x="3574750" y="2969650"/>
            <a:ext cx="254343" cy="254343"/>
          </a:xfrm>
          <a:prstGeom prst="rect">
            <a:avLst/>
          </a:prstGeom>
        </p:spPr>
      </p:pic>
      <p:sp>
        <p:nvSpPr>
          <p:cNvPr id="47" name="Text Placeholder 13">
            <a:extLst>
              <a:ext uri="{FF2B5EF4-FFF2-40B4-BE49-F238E27FC236}">
                <a16:creationId xmlns:a16="http://schemas.microsoft.com/office/drawing/2014/main" id="{8D6903E0-BD38-739B-C85D-6A31ACDEE089}"/>
              </a:ext>
            </a:extLst>
          </p:cNvPr>
          <p:cNvSpPr>
            <a:spLocks noGrp="1"/>
          </p:cNvSpPr>
          <p:nvPr>
            <p:ph type="body" sz="quarter" idx="42" hasCustomPrompt="1"/>
          </p:nvPr>
        </p:nvSpPr>
        <p:spPr>
          <a:xfrm>
            <a:off x="3963541" y="3014706"/>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48" name="Picture 47" descr="A blue arrow in a circle&#10;&#10;AI-generated content may be incorrect.">
            <a:extLst>
              <a:ext uri="{FF2B5EF4-FFF2-40B4-BE49-F238E27FC236}">
                <a16:creationId xmlns:a16="http://schemas.microsoft.com/office/drawing/2014/main" id="{8B38AAA3-A843-69B8-AE73-2734965E6935}"/>
              </a:ext>
            </a:extLst>
          </p:cNvPr>
          <p:cNvPicPr>
            <a:picLocks noChangeAspect="1"/>
          </p:cNvPicPr>
          <p:nvPr userDrawn="1"/>
        </p:nvPicPr>
        <p:blipFill>
          <a:blip r:embed="rId2"/>
          <a:stretch>
            <a:fillRect/>
          </a:stretch>
        </p:blipFill>
        <p:spPr>
          <a:xfrm>
            <a:off x="3574750" y="3745072"/>
            <a:ext cx="254343" cy="254343"/>
          </a:xfrm>
          <a:prstGeom prst="rect">
            <a:avLst/>
          </a:prstGeom>
        </p:spPr>
      </p:pic>
      <p:sp>
        <p:nvSpPr>
          <p:cNvPr id="49" name="Text Placeholder 13">
            <a:extLst>
              <a:ext uri="{FF2B5EF4-FFF2-40B4-BE49-F238E27FC236}">
                <a16:creationId xmlns:a16="http://schemas.microsoft.com/office/drawing/2014/main" id="{AA281C4C-5D53-F7EA-591A-C3B71C7EE8A2}"/>
              </a:ext>
            </a:extLst>
          </p:cNvPr>
          <p:cNvSpPr>
            <a:spLocks noGrp="1"/>
          </p:cNvSpPr>
          <p:nvPr>
            <p:ph type="body" sz="quarter" idx="43" hasCustomPrompt="1"/>
          </p:nvPr>
        </p:nvSpPr>
        <p:spPr>
          <a:xfrm>
            <a:off x="3963541" y="3790128"/>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50" name="Picture 49" descr="A blue arrow in a circle&#10;&#10;AI-generated content may be incorrect.">
            <a:extLst>
              <a:ext uri="{FF2B5EF4-FFF2-40B4-BE49-F238E27FC236}">
                <a16:creationId xmlns:a16="http://schemas.microsoft.com/office/drawing/2014/main" id="{F4A26263-D2BA-4D6F-2B21-6C5DBCCAE83B}"/>
              </a:ext>
            </a:extLst>
          </p:cNvPr>
          <p:cNvPicPr>
            <a:picLocks noChangeAspect="1"/>
          </p:cNvPicPr>
          <p:nvPr userDrawn="1"/>
        </p:nvPicPr>
        <p:blipFill>
          <a:blip r:embed="rId2"/>
          <a:stretch>
            <a:fillRect/>
          </a:stretch>
        </p:blipFill>
        <p:spPr>
          <a:xfrm>
            <a:off x="3574750" y="4542813"/>
            <a:ext cx="254343" cy="254343"/>
          </a:xfrm>
          <a:prstGeom prst="rect">
            <a:avLst/>
          </a:prstGeom>
        </p:spPr>
      </p:pic>
      <p:sp>
        <p:nvSpPr>
          <p:cNvPr id="51" name="Text Placeholder 13">
            <a:extLst>
              <a:ext uri="{FF2B5EF4-FFF2-40B4-BE49-F238E27FC236}">
                <a16:creationId xmlns:a16="http://schemas.microsoft.com/office/drawing/2014/main" id="{81AAFC2F-35D1-B8D2-5EC8-7EF042D15960}"/>
              </a:ext>
            </a:extLst>
          </p:cNvPr>
          <p:cNvSpPr>
            <a:spLocks noGrp="1"/>
          </p:cNvSpPr>
          <p:nvPr>
            <p:ph type="body" sz="quarter" idx="44" hasCustomPrompt="1"/>
          </p:nvPr>
        </p:nvSpPr>
        <p:spPr>
          <a:xfrm>
            <a:off x="3963541" y="458786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sp>
        <p:nvSpPr>
          <p:cNvPr id="52" name="Rectangle 51">
            <a:extLst>
              <a:ext uri="{FF2B5EF4-FFF2-40B4-BE49-F238E27FC236}">
                <a16:creationId xmlns:a16="http://schemas.microsoft.com/office/drawing/2014/main" id="{D37BD085-BDFC-5F33-426D-3693D415B2E2}"/>
              </a:ext>
            </a:extLst>
          </p:cNvPr>
          <p:cNvSpPr/>
          <p:nvPr userDrawn="1"/>
        </p:nvSpPr>
        <p:spPr>
          <a:xfrm>
            <a:off x="6352083" y="2740199"/>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descr="A blue arrow in a circle&#10;&#10;AI-generated content may be incorrect.">
            <a:extLst>
              <a:ext uri="{FF2B5EF4-FFF2-40B4-BE49-F238E27FC236}">
                <a16:creationId xmlns:a16="http://schemas.microsoft.com/office/drawing/2014/main" id="{03327376-58B8-C6E3-B2F5-6E1DC51785B7}"/>
              </a:ext>
            </a:extLst>
          </p:cNvPr>
          <p:cNvPicPr>
            <a:picLocks noChangeAspect="1"/>
          </p:cNvPicPr>
          <p:nvPr userDrawn="1"/>
        </p:nvPicPr>
        <p:blipFill>
          <a:blip r:embed="rId2"/>
          <a:stretch>
            <a:fillRect/>
          </a:stretch>
        </p:blipFill>
        <p:spPr>
          <a:xfrm>
            <a:off x="6511979" y="2969650"/>
            <a:ext cx="254343" cy="254343"/>
          </a:xfrm>
          <a:prstGeom prst="rect">
            <a:avLst/>
          </a:prstGeom>
        </p:spPr>
      </p:pic>
      <p:sp>
        <p:nvSpPr>
          <p:cNvPr id="54" name="Text Placeholder 13">
            <a:extLst>
              <a:ext uri="{FF2B5EF4-FFF2-40B4-BE49-F238E27FC236}">
                <a16:creationId xmlns:a16="http://schemas.microsoft.com/office/drawing/2014/main" id="{469425FE-30A8-B33F-8AF1-97CE65C9337D}"/>
              </a:ext>
            </a:extLst>
          </p:cNvPr>
          <p:cNvSpPr>
            <a:spLocks noGrp="1"/>
          </p:cNvSpPr>
          <p:nvPr>
            <p:ph type="body" sz="quarter" idx="45" hasCustomPrompt="1"/>
          </p:nvPr>
        </p:nvSpPr>
        <p:spPr>
          <a:xfrm>
            <a:off x="6900770" y="3014706"/>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55" name="Picture 54" descr="A blue arrow in a circle&#10;&#10;AI-generated content may be incorrect.">
            <a:extLst>
              <a:ext uri="{FF2B5EF4-FFF2-40B4-BE49-F238E27FC236}">
                <a16:creationId xmlns:a16="http://schemas.microsoft.com/office/drawing/2014/main" id="{F2E7B149-562F-351F-674B-5D616D248645}"/>
              </a:ext>
            </a:extLst>
          </p:cNvPr>
          <p:cNvPicPr>
            <a:picLocks noChangeAspect="1"/>
          </p:cNvPicPr>
          <p:nvPr userDrawn="1"/>
        </p:nvPicPr>
        <p:blipFill>
          <a:blip r:embed="rId2"/>
          <a:stretch>
            <a:fillRect/>
          </a:stretch>
        </p:blipFill>
        <p:spPr>
          <a:xfrm>
            <a:off x="6511979" y="3745072"/>
            <a:ext cx="254343" cy="254343"/>
          </a:xfrm>
          <a:prstGeom prst="rect">
            <a:avLst/>
          </a:prstGeom>
        </p:spPr>
      </p:pic>
      <p:sp>
        <p:nvSpPr>
          <p:cNvPr id="56" name="Text Placeholder 13">
            <a:extLst>
              <a:ext uri="{FF2B5EF4-FFF2-40B4-BE49-F238E27FC236}">
                <a16:creationId xmlns:a16="http://schemas.microsoft.com/office/drawing/2014/main" id="{2C0996CE-3C02-C55C-6BD1-36B1E7DE696A}"/>
              </a:ext>
            </a:extLst>
          </p:cNvPr>
          <p:cNvSpPr>
            <a:spLocks noGrp="1"/>
          </p:cNvSpPr>
          <p:nvPr>
            <p:ph type="body" sz="quarter" idx="46" hasCustomPrompt="1"/>
          </p:nvPr>
        </p:nvSpPr>
        <p:spPr>
          <a:xfrm>
            <a:off x="6900770" y="3790128"/>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57" name="Picture 56" descr="A blue arrow in a circle&#10;&#10;AI-generated content may be incorrect.">
            <a:extLst>
              <a:ext uri="{FF2B5EF4-FFF2-40B4-BE49-F238E27FC236}">
                <a16:creationId xmlns:a16="http://schemas.microsoft.com/office/drawing/2014/main" id="{2C4B2A3A-CA1B-DA8A-C1F6-6FCF0B404A08}"/>
              </a:ext>
            </a:extLst>
          </p:cNvPr>
          <p:cNvPicPr>
            <a:picLocks noChangeAspect="1"/>
          </p:cNvPicPr>
          <p:nvPr userDrawn="1"/>
        </p:nvPicPr>
        <p:blipFill>
          <a:blip r:embed="rId2"/>
          <a:stretch>
            <a:fillRect/>
          </a:stretch>
        </p:blipFill>
        <p:spPr>
          <a:xfrm>
            <a:off x="6511979" y="4542813"/>
            <a:ext cx="254343" cy="254343"/>
          </a:xfrm>
          <a:prstGeom prst="rect">
            <a:avLst/>
          </a:prstGeom>
        </p:spPr>
      </p:pic>
      <p:sp>
        <p:nvSpPr>
          <p:cNvPr id="58" name="Text Placeholder 13">
            <a:extLst>
              <a:ext uri="{FF2B5EF4-FFF2-40B4-BE49-F238E27FC236}">
                <a16:creationId xmlns:a16="http://schemas.microsoft.com/office/drawing/2014/main" id="{88D4945A-B9B2-D156-0FB8-DBC09D2B2DC2}"/>
              </a:ext>
            </a:extLst>
          </p:cNvPr>
          <p:cNvSpPr>
            <a:spLocks noGrp="1"/>
          </p:cNvSpPr>
          <p:nvPr>
            <p:ph type="body" sz="quarter" idx="47" hasCustomPrompt="1"/>
          </p:nvPr>
        </p:nvSpPr>
        <p:spPr>
          <a:xfrm>
            <a:off x="6900770" y="458786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sp>
        <p:nvSpPr>
          <p:cNvPr id="59" name="Rectangle 58">
            <a:extLst>
              <a:ext uri="{FF2B5EF4-FFF2-40B4-BE49-F238E27FC236}">
                <a16:creationId xmlns:a16="http://schemas.microsoft.com/office/drawing/2014/main" id="{0D5576E4-DD88-499A-9209-CE94CFA2EAFB}"/>
              </a:ext>
            </a:extLst>
          </p:cNvPr>
          <p:cNvSpPr/>
          <p:nvPr userDrawn="1"/>
        </p:nvSpPr>
        <p:spPr>
          <a:xfrm>
            <a:off x="9289315" y="2740199"/>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descr="A blue arrow in a circle&#10;&#10;AI-generated content may be incorrect.">
            <a:extLst>
              <a:ext uri="{FF2B5EF4-FFF2-40B4-BE49-F238E27FC236}">
                <a16:creationId xmlns:a16="http://schemas.microsoft.com/office/drawing/2014/main" id="{77B0A526-78D6-04A3-2818-F9823F66C79D}"/>
              </a:ext>
            </a:extLst>
          </p:cNvPr>
          <p:cNvPicPr>
            <a:picLocks noChangeAspect="1"/>
          </p:cNvPicPr>
          <p:nvPr userDrawn="1"/>
        </p:nvPicPr>
        <p:blipFill>
          <a:blip r:embed="rId2"/>
          <a:stretch>
            <a:fillRect/>
          </a:stretch>
        </p:blipFill>
        <p:spPr>
          <a:xfrm>
            <a:off x="9449211" y="2969650"/>
            <a:ext cx="254343" cy="254343"/>
          </a:xfrm>
          <a:prstGeom prst="rect">
            <a:avLst/>
          </a:prstGeom>
        </p:spPr>
      </p:pic>
      <p:sp>
        <p:nvSpPr>
          <p:cNvPr id="61" name="Text Placeholder 13">
            <a:extLst>
              <a:ext uri="{FF2B5EF4-FFF2-40B4-BE49-F238E27FC236}">
                <a16:creationId xmlns:a16="http://schemas.microsoft.com/office/drawing/2014/main" id="{29E4141D-461D-06F9-623A-6063D921B59A}"/>
              </a:ext>
            </a:extLst>
          </p:cNvPr>
          <p:cNvSpPr>
            <a:spLocks noGrp="1"/>
          </p:cNvSpPr>
          <p:nvPr>
            <p:ph type="body" sz="quarter" idx="48" hasCustomPrompt="1"/>
          </p:nvPr>
        </p:nvSpPr>
        <p:spPr>
          <a:xfrm>
            <a:off x="9838002" y="3014706"/>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62" name="Picture 61" descr="A blue arrow in a circle&#10;&#10;AI-generated content may be incorrect.">
            <a:extLst>
              <a:ext uri="{FF2B5EF4-FFF2-40B4-BE49-F238E27FC236}">
                <a16:creationId xmlns:a16="http://schemas.microsoft.com/office/drawing/2014/main" id="{F8C937EC-2A9E-2462-2364-6A2267F10AFF}"/>
              </a:ext>
            </a:extLst>
          </p:cNvPr>
          <p:cNvPicPr>
            <a:picLocks noChangeAspect="1"/>
          </p:cNvPicPr>
          <p:nvPr userDrawn="1"/>
        </p:nvPicPr>
        <p:blipFill>
          <a:blip r:embed="rId2"/>
          <a:stretch>
            <a:fillRect/>
          </a:stretch>
        </p:blipFill>
        <p:spPr>
          <a:xfrm>
            <a:off x="9449211" y="3745072"/>
            <a:ext cx="254343" cy="254343"/>
          </a:xfrm>
          <a:prstGeom prst="rect">
            <a:avLst/>
          </a:prstGeom>
        </p:spPr>
      </p:pic>
      <p:sp>
        <p:nvSpPr>
          <p:cNvPr id="63" name="Text Placeholder 13">
            <a:extLst>
              <a:ext uri="{FF2B5EF4-FFF2-40B4-BE49-F238E27FC236}">
                <a16:creationId xmlns:a16="http://schemas.microsoft.com/office/drawing/2014/main" id="{AB662BE4-9EF8-24AB-8E31-41E506F7F37F}"/>
              </a:ext>
            </a:extLst>
          </p:cNvPr>
          <p:cNvSpPr>
            <a:spLocks noGrp="1"/>
          </p:cNvSpPr>
          <p:nvPr>
            <p:ph type="body" sz="quarter" idx="49" hasCustomPrompt="1"/>
          </p:nvPr>
        </p:nvSpPr>
        <p:spPr>
          <a:xfrm>
            <a:off x="9838002" y="3790128"/>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64" name="Picture 63" descr="A blue arrow in a circle&#10;&#10;AI-generated content may be incorrect.">
            <a:extLst>
              <a:ext uri="{FF2B5EF4-FFF2-40B4-BE49-F238E27FC236}">
                <a16:creationId xmlns:a16="http://schemas.microsoft.com/office/drawing/2014/main" id="{3DA38710-7947-256D-425B-F4D6342DECB5}"/>
              </a:ext>
            </a:extLst>
          </p:cNvPr>
          <p:cNvPicPr>
            <a:picLocks noChangeAspect="1"/>
          </p:cNvPicPr>
          <p:nvPr userDrawn="1"/>
        </p:nvPicPr>
        <p:blipFill>
          <a:blip r:embed="rId2"/>
          <a:stretch>
            <a:fillRect/>
          </a:stretch>
        </p:blipFill>
        <p:spPr>
          <a:xfrm>
            <a:off x="9449211" y="4542813"/>
            <a:ext cx="254343" cy="254343"/>
          </a:xfrm>
          <a:prstGeom prst="rect">
            <a:avLst/>
          </a:prstGeom>
        </p:spPr>
      </p:pic>
      <p:sp>
        <p:nvSpPr>
          <p:cNvPr id="65" name="Text Placeholder 13">
            <a:extLst>
              <a:ext uri="{FF2B5EF4-FFF2-40B4-BE49-F238E27FC236}">
                <a16:creationId xmlns:a16="http://schemas.microsoft.com/office/drawing/2014/main" id="{A53A3260-261B-8FF2-566E-D6C96582B81B}"/>
              </a:ext>
            </a:extLst>
          </p:cNvPr>
          <p:cNvSpPr>
            <a:spLocks noGrp="1"/>
          </p:cNvSpPr>
          <p:nvPr>
            <p:ph type="body" sz="quarter" idx="50" hasCustomPrompt="1"/>
          </p:nvPr>
        </p:nvSpPr>
        <p:spPr>
          <a:xfrm>
            <a:off x="9838002" y="458786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cxnSp>
        <p:nvCxnSpPr>
          <p:cNvPr id="67" name="Straight Arrow Connector 66">
            <a:extLst>
              <a:ext uri="{FF2B5EF4-FFF2-40B4-BE49-F238E27FC236}">
                <a16:creationId xmlns:a16="http://schemas.microsoft.com/office/drawing/2014/main" id="{815930EC-3F58-082A-BDE3-A31820974A33}"/>
              </a:ext>
            </a:extLst>
          </p:cNvPr>
          <p:cNvCxnSpPr>
            <a:cxnSpLocks/>
          </p:cNvCxnSpPr>
          <p:nvPr userDrawn="1"/>
        </p:nvCxnSpPr>
        <p:spPr>
          <a:xfrm>
            <a:off x="3048001"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9BCAC092-CFED-043E-581C-8230ADA91E37}"/>
              </a:ext>
            </a:extLst>
          </p:cNvPr>
          <p:cNvCxnSpPr>
            <a:cxnSpLocks/>
          </p:cNvCxnSpPr>
          <p:nvPr userDrawn="1"/>
        </p:nvCxnSpPr>
        <p:spPr>
          <a:xfrm>
            <a:off x="5985933"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C8B9E949-FA3E-E102-B14B-005263D5B333}"/>
              </a:ext>
            </a:extLst>
          </p:cNvPr>
          <p:cNvCxnSpPr>
            <a:cxnSpLocks/>
          </p:cNvCxnSpPr>
          <p:nvPr userDrawn="1"/>
        </p:nvCxnSpPr>
        <p:spPr>
          <a:xfrm>
            <a:off x="8917482"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pic>
        <p:nvPicPr>
          <p:cNvPr id="2" name="Picture 1" descr="A blue and orange logo&#10;&#10;AI-generated content may be incorrect.">
            <a:extLst>
              <a:ext uri="{FF2B5EF4-FFF2-40B4-BE49-F238E27FC236}">
                <a16:creationId xmlns:a16="http://schemas.microsoft.com/office/drawing/2014/main" id="{17B4BB5C-B2AB-A6F2-C13A-A9DA62FBE9C3}"/>
              </a:ext>
            </a:extLst>
          </p:cNvPr>
          <p:cNvPicPr>
            <a:picLocks noChangeAspect="1"/>
          </p:cNvPicPr>
          <p:nvPr userDrawn="1"/>
        </p:nvPicPr>
        <p:blipFill>
          <a:blip r:embed="rId3"/>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F849C2CD-D7BF-6E16-ABB4-44F123B9552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247080653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1_Section Header">
    <p:bg>
      <p:bgPr>
        <a:solidFill>
          <a:schemeClr val="accent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EB9B6E3-02FA-7D65-EB82-99433C7A2972}"/>
              </a:ext>
            </a:extLst>
          </p:cNvPr>
          <p:cNvSpPr>
            <a:spLocks noGrp="1"/>
          </p:cNvSpPr>
          <p:nvPr>
            <p:ph type="title" hasCustomPrompt="1"/>
          </p:nvPr>
        </p:nvSpPr>
        <p:spPr>
          <a:xfrm>
            <a:off x="471955" y="1033738"/>
            <a:ext cx="3295712" cy="1318956"/>
          </a:xfrm>
        </p:spPr>
        <p:txBody>
          <a:bodyPr wrap="square" lIns="0" tIns="0" rIns="0" anchor="t">
            <a:noAutofit/>
          </a:bodyPr>
          <a:lstStyle>
            <a:lvl1pPr algn="l">
              <a:lnSpc>
                <a:spcPct val="95000"/>
              </a:lnSpc>
              <a:defRPr sz="4500" b="0" i="0">
                <a:solidFill>
                  <a:schemeClr val="bg2"/>
                </a:solidFill>
                <a:latin typeface="DM Sans 14pt ExtraLight" pitchFamily="2" charset="77"/>
              </a:defRPr>
            </a:lvl1pPr>
          </a:lstStyle>
          <a:p>
            <a:r>
              <a:rPr lang="en-US" dirty="0"/>
              <a:t>Click to add short title</a:t>
            </a:r>
          </a:p>
        </p:txBody>
      </p:sp>
      <p:sp>
        <p:nvSpPr>
          <p:cNvPr id="4" name="Text Placeholder 12">
            <a:extLst>
              <a:ext uri="{FF2B5EF4-FFF2-40B4-BE49-F238E27FC236}">
                <a16:creationId xmlns:a16="http://schemas.microsoft.com/office/drawing/2014/main" id="{20C8EF81-18F9-ED77-82EC-99A157DC6E6B}"/>
              </a:ext>
            </a:extLst>
          </p:cNvPr>
          <p:cNvSpPr>
            <a:spLocks noGrp="1"/>
          </p:cNvSpPr>
          <p:nvPr>
            <p:ph type="body" sz="quarter" idx="36" hasCustomPrompt="1"/>
          </p:nvPr>
        </p:nvSpPr>
        <p:spPr>
          <a:xfrm>
            <a:off x="471955" y="387691"/>
            <a:ext cx="2060821" cy="263277"/>
          </a:xfrm>
        </p:spPr>
        <p:txBody>
          <a:bodyPr wrap="none">
            <a:noAutofit/>
          </a:bodyPr>
          <a:lstStyle>
            <a:lvl1pPr algn="l">
              <a:defRPr sz="1200" b="1" i="1">
                <a:solidFill>
                  <a:schemeClr val="bg2"/>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A0826749-0157-064A-1E9E-8C04CDF8767D}"/>
              </a:ext>
            </a:extLst>
          </p:cNvPr>
          <p:cNvSpPr>
            <a:spLocks noGrp="1"/>
          </p:cNvSpPr>
          <p:nvPr>
            <p:ph type="body" sz="quarter" idx="37" hasCustomPrompt="1"/>
          </p:nvPr>
        </p:nvSpPr>
        <p:spPr>
          <a:xfrm>
            <a:off x="471955" y="2700653"/>
            <a:ext cx="3295712" cy="1129433"/>
          </a:xfrm>
        </p:spPr>
        <p:txBody>
          <a:bodyPr wrap="square">
            <a:noAutofit/>
          </a:bodyPr>
          <a:lstStyle>
            <a:lvl1pPr algn="l">
              <a:defRPr sz="1000" b="0" i="0">
                <a:solidFill>
                  <a:schemeClr val="bg2"/>
                </a:solidFill>
              </a:defRPr>
            </a:lvl1pPr>
          </a:lstStyle>
          <a:p>
            <a:pPr lvl="0"/>
            <a:r>
              <a:rPr lang="en-US" dirty="0"/>
              <a:t>Click to body copy.</a:t>
            </a:r>
          </a:p>
        </p:txBody>
      </p:sp>
      <p:pic>
        <p:nvPicPr>
          <p:cNvPr id="12" name="Picture 11" descr="A blue light in the dark&#10;&#10;AI-generated content may be incorrect.">
            <a:extLst>
              <a:ext uri="{FF2B5EF4-FFF2-40B4-BE49-F238E27FC236}">
                <a16:creationId xmlns:a16="http://schemas.microsoft.com/office/drawing/2014/main" id="{154AC6E9-622A-87AF-AAA6-4F30EEACDF24}"/>
              </a:ext>
            </a:extLst>
          </p:cNvPr>
          <p:cNvPicPr>
            <a:picLocks noChangeAspect="1"/>
          </p:cNvPicPr>
          <p:nvPr userDrawn="1"/>
        </p:nvPicPr>
        <p:blipFill>
          <a:blip r:embed="rId2"/>
          <a:stretch>
            <a:fillRect/>
          </a:stretch>
        </p:blipFill>
        <p:spPr>
          <a:xfrm>
            <a:off x="4091997" y="1179791"/>
            <a:ext cx="7772400" cy="3893266"/>
          </a:xfrm>
          <a:prstGeom prst="rect">
            <a:avLst/>
          </a:prstGeom>
        </p:spPr>
      </p:pic>
      <p:pic>
        <p:nvPicPr>
          <p:cNvPr id="16" name="Picture 15" descr="A colorful funnel with different layers&#10;&#10;AI-generated content may be incorrect.">
            <a:extLst>
              <a:ext uri="{FF2B5EF4-FFF2-40B4-BE49-F238E27FC236}">
                <a16:creationId xmlns:a16="http://schemas.microsoft.com/office/drawing/2014/main" id="{FA86846C-1FBE-C341-76F3-043525276B89}"/>
              </a:ext>
            </a:extLst>
          </p:cNvPr>
          <p:cNvPicPr>
            <a:picLocks noChangeAspect="1"/>
          </p:cNvPicPr>
          <p:nvPr userDrawn="1"/>
        </p:nvPicPr>
        <p:blipFill>
          <a:blip r:embed="rId3"/>
          <a:stretch>
            <a:fillRect/>
          </a:stretch>
        </p:blipFill>
        <p:spPr>
          <a:xfrm>
            <a:off x="6128588" y="1098152"/>
            <a:ext cx="3946515" cy="4157347"/>
          </a:xfrm>
          <a:prstGeom prst="rect">
            <a:avLst/>
          </a:prstGeom>
        </p:spPr>
      </p:pic>
      <p:cxnSp>
        <p:nvCxnSpPr>
          <p:cNvPr id="22" name="Straight Connector 21">
            <a:extLst>
              <a:ext uri="{FF2B5EF4-FFF2-40B4-BE49-F238E27FC236}">
                <a16:creationId xmlns:a16="http://schemas.microsoft.com/office/drawing/2014/main" id="{EE87EC03-7431-6030-BA6B-C31FFD817AA8}"/>
              </a:ext>
            </a:extLst>
          </p:cNvPr>
          <p:cNvCxnSpPr>
            <a:cxnSpLocks/>
          </p:cNvCxnSpPr>
          <p:nvPr userDrawn="1"/>
        </p:nvCxnSpPr>
        <p:spPr>
          <a:xfrm flipV="1">
            <a:off x="4213804" y="476994"/>
            <a:ext cx="0" cy="493397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20" name="Text Placeholder 12">
            <a:extLst>
              <a:ext uri="{FF2B5EF4-FFF2-40B4-BE49-F238E27FC236}">
                <a16:creationId xmlns:a16="http://schemas.microsoft.com/office/drawing/2014/main" id="{68A48DFC-432C-E359-7F6A-BB549F61429D}"/>
              </a:ext>
            </a:extLst>
          </p:cNvPr>
          <p:cNvSpPr>
            <a:spLocks noGrp="1"/>
          </p:cNvSpPr>
          <p:nvPr>
            <p:ph type="body" sz="quarter" idx="23" hasCustomPrompt="1"/>
          </p:nvPr>
        </p:nvSpPr>
        <p:spPr>
          <a:xfrm>
            <a:off x="7222175" y="1838336"/>
            <a:ext cx="1805808" cy="227050"/>
          </a:xfrm>
        </p:spPr>
        <p:txBody>
          <a:bodyPr wrap="none">
            <a:noAutofit/>
          </a:bodyPr>
          <a:lstStyle>
            <a:lvl1pPr algn="ctr">
              <a:defRPr sz="1000" b="1" i="0">
                <a:solidFill>
                  <a:schemeClr val="bg2"/>
                </a:solidFill>
              </a:defRPr>
            </a:lvl1pPr>
          </a:lstStyle>
          <a:p>
            <a:pPr lvl="0"/>
            <a:r>
              <a:rPr lang="en-US" dirty="0"/>
              <a:t>Click to add title</a:t>
            </a:r>
          </a:p>
        </p:txBody>
      </p:sp>
      <p:sp>
        <p:nvSpPr>
          <p:cNvPr id="27" name="Text Placeholder 12">
            <a:extLst>
              <a:ext uri="{FF2B5EF4-FFF2-40B4-BE49-F238E27FC236}">
                <a16:creationId xmlns:a16="http://schemas.microsoft.com/office/drawing/2014/main" id="{3382CC49-B2FB-CC0A-DD1B-3A714E2CD20D}"/>
              </a:ext>
            </a:extLst>
          </p:cNvPr>
          <p:cNvSpPr>
            <a:spLocks noGrp="1"/>
          </p:cNvSpPr>
          <p:nvPr>
            <p:ph type="body" sz="quarter" idx="38" hasCustomPrompt="1"/>
          </p:nvPr>
        </p:nvSpPr>
        <p:spPr>
          <a:xfrm>
            <a:off x="7222175" y="2759767"/>
            <a:ext cx="1805808" cy="227050"/>
          </a:xfrm>
        </p:spPr>
        <p:txBody>
          <a:bodyPr wrap="none">
            <a:noAutofit/>
          </a:bodyPr>
          <a:lstStyle>
            <a:lvl1pPr algn="ctr">
              <a:defRPr sz="1000" b="1" i="0">
                <a:solidFill>
                  <a:schemeClr val="bg2"/>
                </a:solidFill>
              </a:defRPr>
            </a:lvl1pPr>
          </a:lstStyle>
          <a:p>
            <a:pPr lvl="0"/>
            <a:r>
              <a:rPr lang="en-US" dirty="0"/>
              <a:t>Click to add title</a:t>
            </a:r>
          </a:p>
        </p:txBody>
      </p:sp>
      <p:sp>
        <p:nvSpPr>
          <p:cNvPr id="28" name="Text Placeholder 12">
            <a:extLst>
              <a:ext uri="{FF2B5EF4-FFF2-40B4-BE49-F238E27FC236}">
                <a16:creationId xmlns:a16="http://schemas.microsoft.com/office/drawing/2014/main" id="{E325788B-37B8-8DE9-EC0D-5328FEE8EE87}"/>
              </a:ext>
            </a:extLst>
          </p:cNvPr>
          <p:cNvSpPr>
            <a:spLocks noGrp="1"/>
          </p:cNvSpPr>
          <p:nvPr>
            <p:ph type="body" sz="quarter" idx="39" hasCustomPrompt="1"/>
          </p:nvPr>
        </p:nvSpPr>
        <p:spPr>
          <a:xfrm>
            <a:off x="7222175" y="3632622"/>
            <a:ext cx="1805808" cy="227050"/>
          </a:xfrm>
        </p:spPr>
        <p:txBody>
          <a:bodyPr wrap="none">
            <a:noAutofit/>
          </a:bodyPr>
          <a:lstStyle>
            <a:lvl1pPr algn="ctr">
              <a:defRPr sz="1000" b="1" i="0">
                <a:solidFill>
                  <a:schemeClr val="bg2"/>
                </a:solidFill>
              </a:defRPr>
            </a:lvl1pPr>
          </a:lstStyle>
          <a:p>
            <a:pPr lvl="0"/>
            <a:r>
              <a:rPr lang="en-US" dirty="0"/>
              <a:t>Click to add title</a:t>
            </a:r>
          </a:p>
        </p:txBody>
      </p:sp>
      <p:sp>
        <p:nvSpPr>
          <p:cNvPr id="29" name="Text Placeholder 12">
            <a:extLst>
              <a:ext uri="{FF2B5EF4-FFF2-40B4-BE49-F238E27FC236}">
                <a16:creationId xmlns:a16="http://schemas.microsoft.com/office/drawing/2014/main" id="{FC7D611E-184E-82E1-ADE5-76699D1D4645}"/>
              </a:ext>
            </a:extLst>
          </p:cNvPr>
          <p:cNvSpPr>
            <a:spLocks noGrp="1"/>
          </p:cNvSpPr>
          <p:nvPr>
            <p:ph type="body" sz="quarter" idx="40" hasCustomPrompt="1"/>
          </p:nvPr>
        </p:nvSpPr>
        <p:spPr>
          <a:xfrm>
            <a:off x="7476122" y="4639859"/>
            <a:ext cx="1240357" cy="180883"/>
          </a:xfrm>
        </p:spPr>
        <p:txBody>
          <a:bodyPr wrap="none" rIns="0" bIns="0">
            <a:noAutofit/>
          </a:bodyPr>
          <a:lstStyle>
            <a:lvl1pPr algn="ctr">
              <a:defRPr sz="1000" b="1" i="0">
                <a:solidFill>
                  <a:schemeClr val="bg2"/>
                </a:solidFill>
              </a:defRPr>
            </a:lvl1pPr>
          </a:lstStyle>
          <a:p>
            <a:pPr lvl="0"/>
            <a:r>
              <a:rPr lang="en-US" dirty="0"/>
              <a:t>Loyalty</a:t>
            </a:r>
          </a:p>
        </p:txBody>
      </p:sp>
      <p:sp>
        <p:nvSpPr>
          <p:cNvPr id="30" name="Text Placeholder 12">
            <a:extLst>
              <a:ext uri="{FF2B5EF4-FFF2-40B4-BE49-F238E27FC236}">
                <a16:creationId xmlns:a16="http://schemas.microsoft.com/office/drawing/2014/main" id="{8757F5CC-6235-FD5C-81AB-4A0CB9E322FF}"/>
              </a:ext>
            </a:extLst>
          </p:cNvPr>
          <p:cNvSpPr>
            <a:spLocks noGrp="1"/>
          </p:cNvSpPr>
          <p:nvPr>
            <p:ph type="body" sz="quarter" idx="41" hasCustomPrompt="1"/>
          </p:nvPr>
        </p:nvSpPr>
        <p:spPr>
          <a:xfrm>
            <a:off x="7694673" y="660239"/>
            <a:ext cx="860813" cy="289438"/>
          </a:xfrm>
        </p:spPr>
        <p:txBody>
          <a:bodyPr wrap="none" rIns="0" bIns="0">
            <a:noAutofit/>
          </a:bodyPr>
          <a:lstStyle>
            <a:lvl1pPr algn="ctr">
              <a:defRPr sz="1600" b="1" i="1">
                <a:solidFill>
                  <a:schemeClr val="bg2"/>
                </a:solidFill>
              </a:defRPr>
            </a:lvl1pPr>
          </a:lstStyle>
          <a:p>
            <a:pPr lvl="0"/>
            <a:r>
              <a:rPr lang="en-US" dirty="0"/>
              <a:t>The How</a:t>
            </a:r>
          </a:p>
        </p:txBody>
      </p:sp>
      <p:sp>
        <p:nvSpPr>
          <p:cNvPr id="31" name="Text Placeholder 12">
            <a:extLst>
              <a:ext uri="{FF2B5EF4-FFF2-40B4-BE49-F238E27FC236}">
                <a16:creationId xmlns:a16="http://schemas.microsoft.com/office/drawing/2014/main" id="{E085D225-D77A-AD30-76D1-CF2992CA9808}"/>
              </a:ext>
            </a:extLst>
          </p:cNvPr>
          <p:cNvSpPr>
            <a:spLocks noGrp="1"/>
          </p:cNvSpPr>
          <p:nvPr>
            <p:ph type="body" sz="quarter" idx="42" hasCustomPrompt="1"/>
          </p:nvPr>
        </p:nvSpPr>
        <p:spPr>
          <a:xfrm>
            <a:off x="5063519" y="3282704"/>
            <a:ext cx="1805808" cy="263277"/>
          </a:xfrm>
        </p:spPr>
        <p:txBody>
          <a:bodyPr wrap="none">
            <a:noAutofit/>
          </a:bodyPr>
          <a:lstStyle>
            <a:lvl1pPr algn="ctr">
              <a:defRPr sz="1200" b="0" i="0">
                <a:solidFill>
                  <a:schemeClr val="bg2"/>
                </a:solidFill>
              </a:defRPr>
            </a:lvl1pPr>
          </a:lstStyle>
          <a:p>
            <a:pPr lvl="0"/>
            <a:r>
              <a:rPr lang="en-US" dirty="0"/>
              <a:t>Hyper Targeted</a:t>
            </a:r>
          </a:p>
        </p:txBody>
      </p:sp>
      <p:sp>
        <p:nvSpPr>
          <p:cNvPr id="38" name="Text Placeholder 12">
            <a:extLst>
              <a:ext uri="{FF2B5EF4-FFF2-40B4-BE49-F238E27FC236}">
                <a16:creationId xmlns:a16="http://schemas.microsoft.com/office/drawing/2014/main" id="{30D988A5-A4CB-5E74-A1C7-4BAC7F97408C}"/>
              </a:ext>
            </a:extLst>
          </p:cNvPr>
          <p:cNvSpPr>
            <a:spLocks noGrp="1"/>
          </p:cNvSpPr>
          <p:nvPr>
            <p:ph type="body" sz="quarter" idx="43" hasCustomPrompt="1"/>
          </p:nvPr>
        </p:nvSpPr>
        <p:spPr>
          <a:xfrm>
            <a:off x="9410607" y="3282704"/>
            <a:ext cx="1805808" cy="263277"/>
          </a:xfrm>
        </p:spPr>
        <p:txBody>
          <a:bodyPr wrap="none">
            <a:noAutofit/>
          </a:bodyPr>
          <a:lstStyle>
            <a:lvl1pPr algn="ctr">
              <a:defRPr sz="1200" b="0" i="0">
                <a:solidFill>
                  <a:schemeClr val="bg2"/>
                </a:solidFill>
              </a:defRPr>
            </a:lvl1pPr>
          </a:lstStyle>
          <a:p>
            <a:pPr lvl="0"/>
            <a:r>
              <a:rPr lang="en-US" dirty="0"/>
              <a:t>Hyper Local</a:t>
            </a:r>
          </a:p>
        </p:txBody>
      </p:sp>
      <p:sp>
        <p:nvSpPr>
          <p:cNvPr id="2" name="Footer Placeholder 3">
            <a:extLst>
              <a:ext uri="{FF2B5EF4-FFF2-40B4-BE49-F238E27FC236}">
                <a16:creationId xmlns:a16="http://schemas.microsoft.com/office/drawing/2014/main" id="{C8FF23A9-8622-0CDB-DA19-7D4B1A4FC94D}"/>
              </a:ext>
            </a:extLst>
          </p:cNvPr>
          <p:cNvSpPr>
            <a:spLocks noGrp="1"/>
          </p:cNvSpPr>
          <p:nvPr>
            <p:ph type="ftr" sz="quarter" idx="11"/>
          </p:nvPr>
        </p:nvSpPr>
        <p:spPr>
          <a:xfrm>
            <a:off x="1102149" y="6363845"/>
            <a:ext cx="3684035" cy="200055"/>
          </a:xfrm>
        </p:spPr>
        <p:txBody>
          <a:bodyPr wrap="square">
            <a:spAutoFit/>
          </a:bodyPr>
          <a:lstStyle>
            <a:lvl1pPr>
              <a:defRPr sz="1000">
                <a:solidFill>
                  <a:schemeClr val="bg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BFACF969-16A6-4576-3059-56B6EE08D358}"/>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8" name="Picture 7" descr="A close up of a logo&#10;&#10;AI-generated content may be incorrect.">
            <a:extLst>
              <a:ext uri="{FF2B5EF4-FFF2-40B4-BE49-F238E27FC236}">
                <a16:creationId xmlns:a16="http://schemas.microsoft.com/office/drawing/2014/main" id="{46C12F50-E272-EC4A-190F-3F04B112310F}"/>
              </a:ext>
            </a:extLst>
          </p:cNvPr>
          <p:cNvPicPr>
            <a:picLocks noChangeAspect="1"/>
          </p:cNvPicPr>
          <p:nvPr userDrawn="1"/>
        </p:nvPicPr>
        <p:blipFill>
          <a:blip r:embed="rId4"/>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2848476546"/>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2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5" name="Rectangle 4">
            <a:extLst>
              <a:ext uri="{FF2B5EF4-FFF2-40B4-BE49-F238E27FC236}">
                <a16:creationId xmlns:a16="http://schemas.microsoft.com/office/drawing/2014/main" id="{38DEF97A-12D1-9ED3-89DA-8D81AA313185}"/>
              </a:ext>
            </a:extLst>
          </p:cNvPr>
          <p:cNvSpPr/>
          <p:nvPr userDrawn="1"/>
        </p:nvSpPr>
        <p:spPr>
          <a:xfrm>
            <a:off x="477624" y="2744572"/>
            <a:ext cx="3491653"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93A215-28C9-3E90-DA58-463EF7694092}"/>
              </a:ext>
            </a:extLst>
          </p:cNvPr>
          <p:cNvSpPr/>
          <p:nvPr userDrawn="1"/>
        </p:nvSpPr>
        <p:spPr>
          <a:xfrm>
            <a:off x="477624" y="2131729"/>
            <a:ext cx="3491654" cy="49906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3">
            <a:extLst>
              <a:ext uri="{FF2B5EF4-FFF2-40B4-BE49-F238E27FC236}">
                <a16:creationId xmlns:a16="http://schemas.microsoft.com/office/drawing/2014/main" id="{6CB2FDD5-CFBB-B78C-B2EC-A60C0C0EFF29}"/>
              </a:ext>
            </a:extLst>
          </p:cNvPr>
          <p:cNvSpPr>
            <a:spLocks noGrp="1"/>
          </p:cNvSpPr>
          <p:nvPr>
            <p:ph type="body" sz="quarter" idx="17" hasCustomPrompt="1"/>
          </p:nvPr>
        </p:nvSpPr>
        <p:spPr>
          <a:xfrm>
            <a:off x="1094048" y="2271675"/>
            <a:ext cx="2101569" cy="217111"/>
          </a:xfrm>
        </p:spPr>
        <p:txBody>
          <a:bodyPr wrap="square" rIns="0" bIns="0">
            <a:noAutofit/>
          </a:bodyPr>
          <a:lstStyle>
            <a:lvl1pPr>
              <a:defRPr sz="1200" b="1">
                <a:solidFill>
                  <a:schemeClr val="bg2"/>
                </a:solidFill>
              </a:defRPr>
            </a:lvl1pPr>
          </a:lstStyle>
          <a:p>
            <a:pPr lvl="0"/>
            <a:r>
              <a:rPr lang="en-US" dirty="0"/>
              <a:t>Click to Add Title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36" name="Title 1">
            <a:extLst>
              <a:ext uri="{FF2B5EF4-FFF2-40B4-BE49-F238E27FC236}">
                <a16:creationId xmlns:a16="http://schemas.microsoft.com/office/drawing/2014/main" id="{D85474DB-2619-746D-30F1-01DFC3DA0C00}"/>
              </a:ext>
            </a:extLst>
          </p:cNvPr>
          <p:cNvSpPr>
            <a:spLocks noGrp="1"/>
          </p:cNvSpPr>
          <p:nvPr>
            <p:ph type="title" hasCustomPrompt="1"/>
          </p:nvPr>
        </p:nvSpPr>
        <p:spPr>
          <a:xfrm>
            <a:off x="471955" y="1017216"/>
            <a:ext cx="7867712" cy="830204"/>
          </a:xfrm>
        </p:spPr>
        <p:txBody>
          <a:bodyPr wrap="none" lIns="0" tIns="0" rIns="0" anchor="t">
            <a:noAutofit/>
          </a:bodyPr>
          <a:lstStyle>
            <a:lvl1pPr algn="l">
              <a:lnSpc>
                <a:spcPct val="114000"/>
              </a:lnSpc>
              <a:defRPr sz="4500" b="0" i="0">
                <a:solidFill>
                  <a:schemeClr val="tx2"/>
                </a:solidFill>
                <a:latin typeface="DM Sans 14pt ExtraLight" pitchFamily="2" charset="77"/>
              </a:defRPr>
            </a:lvl1pPr>
          </a:lstStyle>
          <a:p>
            <a:r>
              <a:rPr lang="en-US" dirty="0"/>
              <a:t>Media Strategy Overview</a:t>
            </a:r>
          </a:p>
        </p:txBody>
      </p:sp>
      <p:sp>
        <p:nvSpPr>
          <p:cNvPr id="38" name="Text Placeholder 13">
            <a:extLst>
              <a:ext uri="{FF2B5EF4-FFF2-40B4-BE49-F238E27FC236}">
                <a16:creationId xmlns:a16="http://schemas.microsoft.com/office/drawing/2014/main" id="{85E2590A-B247-DAB9-68D7-158A8715CB45}"/>
              </a:ext>
            </a:extLst>
          </p:cNvPr>
          <p:cNvSpPr>
            <a:spLocks noGrp="1"/>
          </p:cNvSpPr>
          <p:nvPr>
            <p:ph type="body" sz="quarter" idx="16" hasCustomPrompt="1"/>
          </p:nvPr>
        </p:nvSpPr>
        <p:spPr>
          <a:xfrm>
            <a:off x="722741" y="3183827"/>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42" name="Text Placeholder 13">
            <a:extLst>
              <a:ext uri="{FF2B5EF4-FFF2-40B4-BE49-F238E27FC236}">
                <a16:creationId xmlns:a16="http://schemas.microsoft.com/office/drawing/2014/main" id="{0F3993E7-3BEF-FF1A-0622-0E0E26D5616D}"/>
              </a:ext>
            </a:extLst>
          </p:cNvPr>
          <p:cNvSpPr>
            <a:spLocks noGrp="1"/>
          </p:cNvSpPr>
          <p:nvPr>
            <p:ph type="body" sz="quarter" idx="40" hasCustomPrompt="1"/>
          </p:nvPr>
        </p:nvSpPr>
        <p:spPr>
          <a:xfrm>
            <a:off x="722741" y="2977304"/>
            <a:ext cx="1713611" cy="180883"/>
          </a:xfrm>
        </p:spPr>
        <p:txBody>
          <a:bodyPr wrap="square" rIns="0" bIns="0">
            <a:noAutofit/>
          </a:bodyPr>
          <a:lstStyle>
            <a:lvl1pPr>
              <a:defRPr sz="1000" b="1">
                <a:solidFill>
                  <a:schemeClr val="tx1"/>
                </a:solidFill>
              </a:defRPr>
            </a:lvl1pPr>
          </a:lstStyle>
          <a:p>
            <a:pPr lvl="0"/>
            <a:r>
              <a:rPr lang="en-US" dirty="0"/>
              <a:t>Click to short subtitle here.</a:t>
            </a:r>
          </a:p>
        </p:txBody>
      </p:sp>
      <p:cxnSp>
        <p:nvCxnSpPr>
          <p:cNvPr id="67" name="Straight Arrow Connector 66">
            <a:extLst>
              <a:ext uri="{FF2B5EF4-FFF2-40B4-BE49-F238E27FC236}">
                <a16:creationId xmlns:a16="http://schemas.microsoft.com/office/drawing/2014/main" id="{815930EC-3F58-082A-BDE3-A31820974A33}"/>
              </a:ext>
            </a:extLst>
          </p:cNvPr>
          <p:cNvCxnSpPr>
            <a:cxnSpLocks/>
          </p:cNvCxnSpPr>
          <p:nvPr userDrawn="1"/>
        </p:nvCxnSpPr>
        <p:spPr>
          <a:xfrm>
            <a:off x="3048001"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pic>
        <p:nvPicPr>
          <p:cNvPr id="3" name="Picture 2" descr="A white arrow in a circle&#10;&#10;AI-generated content may be incorrect.">
            <a:extLst>
              <a:ext uri="{FF2B5EF4-FFF2-40B4-BE49-F238E27FC236}">
                <a16:creationId xmlns:a16="http://schemas.microsoft.com/office/drawing/2014/main" id="{E58ECE98-8D00-5DA1-B2F1-5C4B6FBAF0F8}"/>
              </a:ext>
            </a:extLst>
          </p:cNvPr>
          <p:cNvPicPr>
            <a:picLocks noChangeAspect="1"/>
          </p:cNvPicPr>
          <p:nvPr userDrawn="1"/>
        </p:nvPicPr>
        <p:blipFill>
          <a:blip r:embed="rId3"/>
          <a:stretch>
            <a:fillRect/>
          </a:stretch>
        </p:blipFill>
        <p:spPr>
          <a:xfrm>
            <a:off x="710378" y="2248188"/>
            <a:ext cx="261802" cy="261802"/>
          </a:xfrm>
          <a:prstGeom prst="rect">
            <a:avLst/>
          </a:prstGeom>
        </p:spPr>
      </p:pic>
      <p:sp>
        <p:nvSpPr>
          <p:cNvPr id="10" name="Text Placeholder 13">
            <a:extLst>
              <a:ext uri="{FF2B5EF4-FFF2-40B4-BE49-F238E27FC236}">
                <a16:creationId xmlns:a16="http://schemas.microsoft.com/office/drawing/2014/main" id="{40DA7CF5-C896-47E7-19A0-6073B327336E}"/>
              </a:ext>
            </a:extLst>
          </p:cNvPr>
          <p:cNvSpPr>
            <a:spLocks noGrp="1"/>
          </p:cNvSpPr>
          <p:nvPr>
            <p:ph type="body" sz="quarter" idx="41" hasCustomPrompt="1"/>
          </p:nvPr>
        </p:nvSpPr>
        <p:spPr>
          <a:xfrm>
            <a:off x="722741" y="4451228"/>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12" name="Text Placeholder 13">
            <a:extLst>
              <a:ext uri="{FF2B5EF4-FFF2-40B4-BE49-F238E27FC236}">
                <a16:creationId xmlns:a16="http://schemas.microsoft.com/office/drawing/2014/main" id="{5A3B1729-5825-345F-690D-ED46824E1039}"/>
              </a:ext>
            </a:extLst>
          </p:cNvPr>
          <p:cNvSpPr>
            <a:spLocks noGrp="1"/>
          </p:cNvSpPr>
          <p:nvPr>
            <p:ph type="body" sz="quarter" idx="42" hasCustomPrompt="1"/>
          </p:nvPr>
        </p:nvSpPr>
        <p:spPr>
          <a:xfrm>
            <a:off x="722741" y="4244705"/>
            <a:ext cx="1713611" cy="180883"/>
          </a:xfrm>
        </p:spPr>
        <p:txBody>
          <a:bodyPr wrap="square" rIns="0" bIns="0">
            <a:noAutofit/>
          </a:bodyPr>
          <a:lstStyle>
            <a:lvl1pPr>
              <a:defRPr sz="1000" b="1">
                <a:solidFill>
                  <a:schemeClr val="tx1"/>
                </a:solidFill>
              </a:defRPr>
            </a:lvl1pPr>
          </a:lstStyle>
          <a:p>
            <a:pPr lvl="0"/>
            <a:r>
              <a:rPr lang="en-US" dirty="0"/>
              <a:t>Click to short subtitle here.</a:t>
            </a:r>
          </a:p>
        </p:txBody>
      </p:sp>
      <p:sp>
        <p:nvSpPr>
          <p:cNvPr id="14" name="Rectangle 13">
            <a:extLst>
              <a:ext uri="{FF2B5EF4-FFF2-40B4-BE49-F238E27FC236}">
                <a16:creationId xmlns:a16="http://schemas.microsoft.com/office/drawing/2014/main" id="{732BC3E4-2931-52D6-B549-ED23124D8435}"/>
              </a:ext>
            </a:extLst>
          </p:cNvPr>
          <p:cNvSpPr/>
          <p:nvPr userDrawn="1"/>
        </p:nvSpPr>
        <p:spPr>
          <a:xfrm>
            <a:off x="4458955" y="2739856"/>
            <a:ext cx="3491653"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BF2EA23-7E0D-23E0-2978-A037E01853CE}"/>
              </a:ext>
            </a:extLst>
          </p:cNvPr>
          <p:cNvSpPr/>
          <p:nvPr userDrawn="1"/>
        </p:nvSpPr>
        <p:spPr>
          <a:xfrm>
            <a:off x="4458955" y="2127013"/>
            <a:ext cx="3491654" cy="4990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13">
            <a:extLst>
              <a:ext uri="{FF2B5EF4-FFF2-40B4-BE49-F238E27FC236}">
                <a16:creationId xmlns:a16="http://schemas.microsoft.com/office/drawing/2014/main" id="{5AE544F2-E56B-F7A2-CF8A-56448F0349F7}"/>
              </a:ext>
            </a:extLst>
          </p:cNvPr>
          <p:cNvSpPr>
            <a:spLocks noGrp="1"/>
          </p:cNvSpPr>
          <p:nvPr>
            <p:ph type="body" sz="quarter" idx="43" hasCustomPrompt="1"/>
          </p:nvPr>
        </p:nvSpPr>
        <p:spPr>
          <a:xfrm>
            <a:off x="5075379" y="2266959"/>
            <a:ext cx="2101569" cy="217111"/>
          </a:xfrm>
        </p:spPr>
        <p:txBody>
          <a:bodyPr wrap="square" rIns="0" bIns="0">
            <a:noAutofit/>
          </a:bodyPr>
          <a:lstStyle>
            <a:lvl1pPr>
              <a:defRPr sz="1200" b="1">
                <a:solidFill>
                  <a:schemeClr val="bg2"/>
                </a:solidFill>
              </a:defRPr>
            </a:lvl1pPr>
          </a:lstStyle>
          <a:p>
            <a:pPr lvl="0"/>
            <a:r>
              <a:rPr lang="en-US" dirty="0"/>
              <a:t>Click to Add Title</a:t>
            </a:r>
          </a:p>
        </p:txBody>
      </p:sp>
      <p:sp>
        <p:nvSpPr>
          <p:cNvPr id="21" name="Text Placeholder 13">
            <a:extLst>
              <a:ext uri="{FF2B5EF4-FFF2-40B4-BE49-F238E27FC236}">
                <a16:creationId xmlns:a16="http://schemas.microsoft.com/office/drawing/2014/main" id="{169B894C-73E6-4B2A-2E6B-4FF3ACCDB2E9}"/>
              </a:ext>
            </a:extLst>
          </p:cNvPr>
          <p:cNvSpPr>
            <a:spLocks noGrp="1"/>
          </p:cNvSpPr>
          <p:nvPr>
            <p:ph type="body" sz="quarter" idx="44" hasCustomPrompt="1"/>
          </p:nvPr>
        </p:nvSpPr>
        <p:spPr>
          <a:xfrm>
            <a:off x="4704072" y="3179111"/>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22" name="Text Placeholder 13">
            <a:extLst>
              <a:ext uri="{FF2B5EF4-FFF2-40B4-BE49-F238E27FC236}">
                <a16:creationId xmlns:a16="http://schemas.microsoft.com/office/drawing/2014/main" id="{9138ABF2-8395-E529-D98D-6B2ABD5DC2C5}"/>
              </a:ext>
            </a:extLst>
          </p:cNvPr>
          <p:cNvSpPr>
            <a:spLocks noGrp="1"/>
          </p:cNvSpPr>
          <p:nvPr>
            <p:ph type="body" sz="quarter" idx="45" hasCustomPrompt="1"/>
          </p:nvPr>
        </p:nvSpPr>
        <p:spPr>
          <a:xfrm>
            <a:off x="4704072" y="2972588"/>
            <a:ext cx="1713611" cy="180883"/>
          </a:xfrm>
        </p:spPr>
        <p:txBody>
          <a:bodyPr wrap="square" rIns="0" bIns="0">
            <a:noAutofit/>
          </a:bodyPr>
          <a:lstStyle>
            <a:lvl1pPr>
              <a:defRPr sz="1000" b="1">
                <a:solidFill>
                  <a:schemeClr val="accent2"/>
                </a:solidFill>
              </a:defRPr>
            </a:lvl1pPr>
          </a:lstStyle>
          <a:p>
            <a:pPr lvl="0"/>
            <a:r>
              <a:rPr lang="en-US" dirty="0"/>
              <a:t>Click to short subtitle here.</a:t>
            </a:r>
          </a:p>
        </p:txBody>
      </p:sp>
      <p:cxnSp>
        <p:nvCxnSpPr>
          <p:cNvPr id="23" name="Straight Arrow Connector 22">
            <a:extLst>
              <a:ext uri="{FF2B5EF4-FFF2-40B4-BE49-F238E27FC236}">
                <a16:creationId xmlns:a16="http://schemas.microsoft.com/office/drawing/2014/main" id="{1BF169BD-D65E-1060-E81B-C60BCF410EAD}"/>
              </a:ext>
            </a:extLst>
          </p:cNvPr>
          <p:cNvCxnSpPr>
            <a:cxnSpLocks/>
          </p:cNvCxnSpPr>
          <p:nvPr userDrawn="1"/>
        </p:nvCxnSpPr>
        <p:spPr>
          <a:xfrm>
            <a:off x="7029332" y="2374414"/>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pic>
        <p:nvPicPr>
          <p:cNvPr id="24" name="Picture 23" descr="A white arrow in a circle&#10;&#10;AI-generated content may be incorrect.">
            <a:extLst>
              <a:ext uri="{FF2B5EF4-FFF2-40B4-BE49-F238E27FC236}">
                <a16:creationId xmlns:a16="http://schemas.microsoft.com/office/drawing/2014/main" id="{3A671086-1062-D9FC-6207-CCA799ECA1EA}"/>
              </a:ext>
            </a:extLst>
          </p:cNvPr>
          <p:cNvPicPr>
            <a:picLocks noChangeAspect="1"/>
          </p:cNvPicPr>
          <p:nvPr userDrawn="1"/>
        </p:nvPicPr>
        <p:blipFill>
          <a:blip r:embed="rId3"/>
          <a:stretch>
            <a:fillRect/>
          </a:stretch>
        </p:blipFill>
        <p:spPr>
          <a:xfrm>
            <a:off x="4691709" y="2243472"/>
            <a:ext cx="261802" cy="261802"/>
          </a:xfrm>
          <a:prstGeom prst="rect">
            <a:avLst/>
          </a:prstGeom>
        </p:spPr>
      </p:pic>
      <p:sp>
        <p:nvSpPr>
          <p:cNvPr id="25" name="Text Placeholder 13">
            <a:extLst>
              <a:ext uri="{FF2B5EF4-FFF2-40B4-BE49-F238E27FC236}">
                <a16:creationId xmlns:a16="http://schemas.microsoft.com/office/drawing/2014/main" id="{BD043182-51C9-45F4-DA9B-551EB2FDA9BF}"/>
              </a:ext>
            </a:extLst>
          </p:cNvPr>
          <p:cNvSpPr>
            <a:spLocks noGrp="1"/>
          </p:cNvSpPr>
          <p:nvPr>
            <p:ph type="body" sz="quarter" idx="46" hasCustomPrompt="1"/>
          </p:nvPr>
        </p:nvSpPr>
        <p:spPr>
          <a:xfrm>
            <a:off x="4704072" y="4446512"/>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26" name="Text Placeholder 13">
            <a:extLst>
              <a:ext uri="{FF2B5EF4-FFF2-40B4-BE49-F238E27FC236}">
                <a16:creationId xmlns:a16="http://schemas.microsoft.com/office/drawing/2014/main" id="{B004E732-CB4C-F8B7-CB22-8FF57E01A1B1}"/>
              </a:ext>
            </a:extLst>
          </p:cNvPr>
          <p:cNvSpPr>
            <a:spLocks noGrp="1"/>
          </p:cNvSpPr>
          <p:nvPr>
            <p:ph type="body" sz="quarter" idx="47" hasCustomPrompt="1"/>
          </p:nvPr>
        </p:nvSpPr>
        <p:spPr>
          <a:xfrm>
            <a:off x="4704072" y="4239989"/>
            <a:ext cx="1713611" cy="180883"/>
          </a:xfrm>
        </p:spPr>
        <p:txBody>
          <a:bodyPr wrap="square" rIns="0" bIns="0">
            <a:noAutofit/>
          </a:bodyPr>
          <a:lstStyle>
            <a:lvl1pPr>
              <a:defRPr sz="1000" b="1">
                <a:solidFill>
                  <a:schemeClr val="accent2"/>
                </a:solidFill>
              </a:defRPr>
            </a:lvl1pPr>
          </a:lstStyle>
          <a:p>
            <a:pPr lvl="0"/>
            <a:r>
              <a:rPr lang="en-US" dirty="0"/>
              <a:t>Click to short subtitle here.</a:t>
            </a:r>
          </a:p>
        </p:txBody>
      </p:sp>
      <p:sp>
        <p:nvSpPr>
          <p:cNvPr id="27" name="Text Placeholder 13">
            <a:extLst>
              <a:ext uri="{FF2B5EF4-FFF2-40B4-BE49-F238E27FC236}">
                <a16:creationId xmlns:a16="http://schemas.microsoft.com/office/drawing/2014/main" id="{72F50192-26B4-F30D-8204-2A1DA73FEC9B}"/>
              </a:ext>
            </a:extLst>
          </p:cNvPr>
          <p:cNvSpPr>
            <a:spLocks noGrp="1"/>
          </p:cNvSpPr>
          <p:nvPr>
            <p:ph type="body" sz="quarter" idx="48" hasCustomPrompt="1"/>
          </p:nvPr>
        </p:nvSpPr>
        <p:spPr>
          <a:xfrm>
            <a:off x="8440288" y="2098219"/>
            <a:ext cx="3041334" cy="1525514"/>
          </a:xfrm>
        </p:spPr>
        <p:txBody>
          <a:bodyPr wrap="square" rIns="0" bIns="0">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effectLst/>
              </a:rPr>
              <a:t>*Our primary goal is to optimize for app installs. App install campaigns require additional backend setup and come with higher CPMs. A secondary option is driving landing page traffic This would send users to a page that links to both app stores—adding one extra step in the user journey but still a smooth execution if app tracking cannot be setup in time.</a:t>
            </a:r>
            <a:endParaRPr lang="en-US" dirty="0"/>
          </a:p>
        </p:txBody>
      </p:sp>
      <p:sp>
        <p:nvSpPr>
          <p:cNvPr id="2" name="Text Placeholder 12">
            <a:extLst>
              <a:ext uri="{FF2B5EF4-FFF2-40B4-BE49-F238E27FC236}">
                <a16:creationId xmlns:a16="http://schemas.microsoft.com/office/drawing/2014/main" id="{B16FA5CE-057C-6C12-6621-15CDCAE94900}"/>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446794769"/>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3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36" name="Title 1">
            <a:extLst>
              <a:ext uri="{FF2B5EF4-FFF2-40B4-BE49-F238E27FC236}">
                <a16:creationId xmlns:a16="http://schemas.microsoft.com/office/drawing/2014/main" id="{D85474DB-2619-746D-30F1-01DFC3DA0C00}"/>
              </a:ext>
            </a:extLst>
          </p:cNvPr>
          <p:cNvSpPr>
            <a:spLocks noGrp="1"/>
          </p:cNvSpPr>
          <p:nvPr>
            <p:ph type="title" hasCustomPrompt="1"/>
          </p:nvPr>
        </p:nvSpPr>
        <p:spPr>
          <a:xfrm>
            <a:off x="471955" y="1017216"/>
            <a:ext cx="7867712" cy="830204"/>
          </a:xfrm>
        </p:spPr>
        <p:txBody>
          <a:bodyPr wrap="none" lIns="0" tIns="0" rIns="0" anchor="t">
            <a:noAutofit/>
          </a:bodyPr>
          <a:lstStyle>
            <a:lvl1pPr algn="l">
              <a:lnSpc>
                <a:spcPct val="114000"/>
              </a:lnSpc>
              <a:defRPr sz="4500" b="0" i="0">
                <a:solidFill>
                  <a:schemeClr val="tx2"/>
                </a:solidFill>
                <a:latin typeface="DM Sans 14pt ExtraLight" pitchFamily="2" charset="77"/>
              </a:defRPr>
            </a:lvl1pPr>
          </a:lstStyle>
          <a:p>
            <a:r>
              <a:rPr lang="en-US" dirty="0"/>
              <a:t>Media Strategy Overview</a:t>
            </a:r>
          </a:p>
        </p:txBody>
      </p:sp>
      <p:sp>
        <p:nvSpPr>
          <p:cNvPr id="2" name="Text Placeholder 12">
            <a:extLst>
              <a:ext uri="{FF2B5EF4-FFF2-40B4-BE49-F238E27FC236}">
                <a16:creationId xmlns:a16="http://schemas.microsoft.com/office/drawing/2014/main" id="{6AF567BA-0E31-E89F-AF17-B8A4C9CAF33B}"/>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367314250"/>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4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 name="Text Placeholder 12">
            <a:extLst>
              <a:ext uri="{FF2B5EF4-FFF2-40B4-BE49-F238E27FC236}">
                <a16:creationId xmlns:a16="http://schemas.microsoft.com/office/drawing/2014/main" id="{B5D291ED-385F-C5A2-4F43-C6D94C7A34A3}"/>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4128422233"/>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cxnSp>
        <p:nvCxnSpPr>
          <p:cNvPr id="8" name="Straight Connector 7">
            <a:extLst>
              <a:ext uri="{FF2B5EF4-FFF2-40B4-BE49-F238E27FC236}">
                <a16:creationId xmlns:a16="http://schemas.microsoft.com/office/drawing/2014/main" id="{7A125ED5-C775-CD9C-E69F-AA658DBE2CA4}"/>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2BF5880E-9786-96C3-F13E-98C9BB74775C}"/>
              </a:ext>
            </a:extLst>
          </p:cNvPr>
          <p:cNvPicPr>
            <a:picLocks noChangeAspect="1"/>
          </p:cNvPicPr>
          <p:nvPr userDrawn="1"/>
        </p:nvPicPr>
        <p:blipFill>
          <a:blip r:embed="rId3"/>
          <a:stretch>
            <a:fillRect/>
          </a:stretch>
        </p:blipFill>
        <p:spPr>
          <a:xfrm>
            <a:off x="10808329" y="6212665"/>
            <a:ext cx="927312" cy="377794"/>
          </a:xfrm>
          <a:prstGeom prst="rect">
            <a:avLst/>
          </a:prstGeom>
        </p:spPr>
      </p:pic>
      <p:pic>
        <p:nvPicPr>
          <p:cNvPr id="9" name="Picture 8" descr="A white flame with black background&#10;&#10;AI-generated content may be incorrect.">
            <a:extLst>
              <a:ext uri="{FF2B5EF4-FFF2-40B4-BE49-F238E27FC236}">
                <a16:creationId xmlns:a16="http://schemas.microsoft.com/office/drawing/2014/main" id="{41B64856-1429-1ABA-F2C8-8F922603EB66}"/>
              </a:ext>
            </a:extLst>
          </p:cNvPr>
          <p:cNvPicPr>
            <a:picLocks noChangeAspect="1"/>
          </p:cNvPicPr>
          <p:nvPr userDrawn="1"/>
        </p:nvPicPr>
        <p:blipFill>
          <a:blip r:embed="rId4"/>
          <a:stretch>
            <a:fillRect/>
          </a:stretch>
        </p:blipFill>
        <p:spPr>
          <a:xfrm>
            <a:off x="7446433" y="2045579"/>
            <a:ext cx="1282701" cy="1554460"/>
          </a:xfrm>
          <a:prstGeom prst="rect">
            <a:avLst/>
          </a:prstGeom>
        </p:spPr>
      </p:pic>
      <p:sp>
        <p:nvSpPr>
          <p:cNvPr id="11" name="TextBox 10">
            <a:extLst>
              <a:ext uri="{FF2B5EF4-FFF2-40B4-BE49-F238E27FC236}">
                <a16:creationId xmlns:a16="http://schemas.microsoft.com/office/drawing/2014/main" id="{0D679CEB-F53F-2D2F-1341-D4F2E73E7E36}"/>
              </a:ext>
            </a:extLst>
          </p:cNvPr>
          <p:cNvSpPr txBox="1"/>
          <p:nvPr userDrawn="1"/>
        </p:nvSpPr>
        <p:spPr>
          <a:xfrm>
            <a:off x="3378200" y="2464768"/>
            <a:ext cx="4229043" cy="1200329"/>
          </a:xfrm>
          <a:prstGeom prst="rect">
            <a:avLst/>
          </a:prstGeom>
          <a:noFill/>
        </p:spPr>
        <p:txBody>
          <a:bodyPr wrap="none">
            <a:spAutoFit/>
          </a:bodyPr>
          <a:lstStyle/>
          <a:p>
            <a:r>
              <a:rPr lang="en-US" sz="7200" b="0" i="0" dirty="0">
                <a:solidFill>
                  <a:schemeClr val="bg2"/>
                </a:solidFill>
                <a:latin typeface="DM Sans 14pt ExtraLight" pitchFamily="2" charset="77"/>
              </a:rPr>
              <a:t>Thank You</a:t>
            </a:r>
          </a:p>
        </p:txBody>
      </p:sp>
    </p:spTree>
    <p:extLst>
      <p:ext uri="{BB962C8B-B14F-4D97-AF65-F5344CB8AC3E}">
        <p14:creationId xmlns:p14="http://schemas.microsoft.com/office/powerpoint/2010/main" val="187262078"/>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4685B-D2A9-D62E-5CE9-C7365950D5BF}"/>
              </a:ext>
            </a:extLst>
          </p:cNvPr>
          <p:cNvSpPr>
            <a:spLocks noGrp="1"/>
          </p:cNvSpPr>
          <p:nvPr>
            <p:ph type="title"/>
          </p:nvPr>
        </p:nvSpPr>
        <p:spPr>
          <a:xfrm>
            <a:off x="466058" y="915346"/>
            <a:ext cx="3559758" cy="2042643"/>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0B4EE912-5ACA-4749-3FD6-AAED00D16FF7}"/>
              </a:ext>
            </a:extLst>
          </p:cNvPr>
          <p:cNvSpPr>
            <a:spLocks noGrp="1"/>
          </p:cNvSpPr>
          <p:nvPr>
            <p:ph type="dt" sz="half" idx="10"/>
          </p:nvPr>
        </p:nvSpPr>
        <p:spPr/>
        <p:txBody>
          <a:bodyPr/>
          <a:lstStyle/>
          <a:p>
            <a:fld id="{FF0EEA6F-DFCD-7149-9CFF-59EB36D76ACF}" type="datetime1">
              <a:rPr lang="en-US" smtClean="0"/>
              <a:t>3/12/26</a:t>
            </a:fld>
            <a:endParaRPr lang="en-US" sz="1000" dirty="0"/>
          </a:p>
        </p:txBody>
      </p:sp>
      <p:sp>
        <p:nvSpPr>
          <p:cNvPr id="4" name="Footer Placeholder 3">
            <a:extLst>
              <a:ext uri="{FF2B5EF4-FFF2-40B4-BE49-F238E27FC236}">
                <a16:creationId xmlns:a16="http://schemas.microsoft.com/office/drawing/2014/main" id="{69A1111D-2FF3-E4D5-09E3-0FDC38D56C34}"/>
              </a:ext>
            </a:extLst>
          </p:cNvPr>
          <p:cNvSpPr>
            <a:spLocks noGrp="1"/>
          </p:cNvSpPr>
          <p:nvPr>
            <p:ph type="ftr" sz="quarter" idx="11"/>
          </p:nvPr>
        </p:nvSpPr>
        <p:spPr/>
        <p:txBody>
          <a:bodyPr/>
          <a:lstStyle/>
          <a:p>
            <a:r>
              <a:rPr lang="en-US" sz="1000"/>
              <a:t>Add Metadata here in Slide Masster &gt; Insert &gt; Slide Number</a:t>
            </a:r>
            <a:endParaRPr lang="en-US" sz="1000" dirty="0"/>
          </a:p>
        </p:txBody>
      </p:sp>
      <p:sp>
        <p:nvSpPr>
          <p:cNvPr id="5" name="Slide Number Placeholder 4">
            <a:extLst>
              <a:ext uri="{FF2B5EF4-FFF2-40B4-BE49-F238E27FC236}">
                <a16:creationId xmlns:a16="http://schemas.microsoft.com/office/drawing/2014/main" id="{BC4A6598-C85B-285D-2F88-E2B9FF713036}"/>
              </a:ext>
            </a:extLst>
          </p:cNvPr>
          <p:cNvSpPr>
            <a:spLocks noGrp="1"/>
          </p:cNvSpPr>
          <p:nvPr>
            <p:ph type="sldNum" sz="quarter" idx="12"/>
          </p:nvPr>
        </p:nvSpPr>
        <p:spPr/>
        <p:txBody>
          <a:bodyPr/>
          <a:lstStyle/>
          <a:p>
            <a:r>
              <a:rPr lang="en-US" sz="1000"/>
              <a:t>&lt;#&gt;</a:t>
            </a:r>
            <a:endParaRPr lang="en-US" sz="1000" dirty="0"/>
          </a:p>
        </p:txBody>
      </p:sp>
      <p:sp>
        <p:nvSpPr>
          <p:cNvPr id="7" name="Content Placeholder 6">
            <a:extLst>
              <a:ext uri="{FF2B5EF4-FFF2-40B4-BE49-F238E27FC236}">
                <a16:creationId xmlns:a16="http://schemas.microsoft.com/office/drawing/2014/main" id="{610BAF22-D592-A370-18D8-B617D1B9C91C}"/>
              </a:ext>
            </a:extLst>
          </p:cNvPr>
          <p:cNvSpPr>
            <a:spLocks noGrp="1"/>
          </p:cNvSpPr>
          <p:nvPr>
            <p:ph sz="quarter" idx="13"/>
          </p:nvPr>
        </p:nvSpPr>
        <p:spPr>
          <a:xfrm>
            <a:off x="4921805" y="915347"/>
            <a:ext cx="6738384" cy="4663108"/>
          </a:xfrm>
        </p:spPr>
        <p:txBody>
          <a:bodyPr/>
          <a:lstStyle/>
          <a:p>
            <a:pPr lvl="0"/>
            <a:endParaRPr lang="en-US" dirty="0"/>
          </a:p>
        </p:txBody>
      </p:sp>
      <p:sp>
        <p:nvSpPr>
          <p:cNvPr id="8" name="Text Placeholder 12">
            <a:extLst>
              <a:ext uri="{FF2B5EF4-FFF2-40B4-BE49-F238E27FC236}">
                <a16:creationId xmlns:a16="http://schemas.microsoft.com/office/drawing/2014/main" id="{0F3D4D17-DD1E-7735-5CEA-548372EE1893}"/>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cxnSp>
        <p:nvCxnSpPr>
          <p:cNvPr id="11" name="Straight Connector 10">
            <a:extLst>
              <a:ext uri="{FF2B5EF4-FFF2-40B4-BE49-F238E27FC236}">
                <a16:creationId xmlns:a16="http://schemas.microsoft.com/office/drawing/2014/main" id="{8D568092-AB0E-CD7C-A557-DA13A8569071}"/>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2" name="Picture 11" descr="A blue and orange logo&#10;&#10;AI-generated content may be incorrect.">
            <a:extLst>
              <a:ext uri="{FF2B5EF4-FFF2-40B4-BE49-F238E27FC236}">
                <a16:creationId xmlns:a16="http://schemas.microsoft.com/office/drawing/2014/main" id="{2C33B3B5-4AE0-AB22-6E8E-E751FF48283D}"/>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13327683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8F70E4-6740-04D6-A264-C607B18DEB8F}"/>
              </a:ext>
            </a:extLst>
          </p:cNvPr>
          <p:cNvSpPr>
            <a:spLocks noGrp="1"/>
          </p:cNvSpPr>
          <p:nvPr>
            <p:ph type="title"/>
          </p:nvPr>
        </p:nvSpPr>
        <p:spPr>
          <a:xfrm>
            <a:off x="466057" y="365125"/>
            <a:ext cx="10515600" cy="1325563"/>
          </a:xfrm>
          <a:prstGeom prst="rect">
            <a:avLst/>
          </a:prstGeom>
        </p:spPr>
        <p:txBody>
          <a:bodyPr vert="horz" lIns="0" tIns="0" rIns="91440" bIns="45720" rtlCol="0" anchor="t" anchorCtr="0">
            <a:normAutofit/>
          </a:bodyPr>
          <a:lstStyle/>
          <a:p>
            <a:r>
              <a:rPr lang="en-US" dirty="0"/>
              <a:t>Click to edit Master title style</a:t>
            </a:r>
          </a:p>
        </p:txBody>
      </p:sp>
      <p:sp>
        <p:nvSpPr>
          <p:cNvPr id="3" name="Text Placeholder 2">
            <a:extLst>
              <a:ext uri="{FF2B5EF4-FFF2-40B4-BE49-F238E27FC236}">
                <a16:creationId xmlns:a16="http://schemas.microsoft.com/office/drawing/2014/main" id="{CA385EEF-250E-7A4D-772F-6E03DAA144D4}"/>
              </a:ext>
            </a:extLst>
          </p:cNvPr>
          <p:cNvSpPr>
            <a:spLocks noGrp="1"/>
          </p:cNvSpPr>
          <p:nvPr>
            <p:ph type="body" idx="1"/>
          </p:nvPr>
        </p:nvSpPr>
        <p:spPr>
          <a:xfrm>
            <a:off x="466057" y="1825625"/>
            <a:ext cx="10515600" cy="3059884"/>
          </a:xfrm>
          <a:prstGeom prst="rect">
            <a:avLst/>
          </a:prstGeom>
        </p:spPr>
        <p:txBody>
          <a:bodyPr vert="horz" lIns="0" tIns="0" rIns="91440" bIns="45720" rtlCol="0" anchor="t" anchorCtr="0">
            <a:normAutofit/>
          </a:bodyPr>
          <a:lstStyle/>
          <a:p>
            <a:pPr lvl="0"/>
            <a:r>
              <a:rPr lang="en-US" dirty="0"/>
              <a:t>Click to add body copy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8D2A77-04D8-0EE1-DC65-532155FEB31D}"/>
              </a:ext>
            </a:extLst>
          </p:cNvPr>
          <p:cNvSpPr>
            <a:spLocks noGrp="1"/>
          </p:cNvSpPr>
          <p:nvPr>
            <p:ph type="dt" sz="half" idx="2"/>
          </p:nvPr>
        </p:nvSpPr>
        <p:spPr>
          <a:xfrm>
            <a:off x="9772453" y="6939605"/>
            <a:ext cx="2743200" cy="200055"/>
          </a:xfrm>
          <a:prstGeom prst="rect">
            <a:avLst/>
          </a:prstGeom>
        </p:spPr>
        <p:txBody>
          <a:bodyPr vert="horz" wrap="square" lIns="0" tIns="0" rIns="91440" bIns="45720" rtlCol="0" anchor="t" anchorCtr="0">
            <a:spAutoFit/>
          </a:bodyPr>
          <a:lstStyle>
            <a:lvl1pPr algn="l">
              <a:defRPr sz="1000" b="0" i="0">
                <a:solidFill>
                  <a:schemeClr val="tx1">
                    <a:tint val="82000"/>
                  </a:schemeClr>
                </a:solidFill>
                <a:latin typeface="DM Sans 14pt" pitchFamily="2" charset="77"/>
              </a:defRPr>
            </a:lvl1pPr>
          </a:lstStyle>
          <a:p>
            <a:fld id="{FF0EEA6F-DFCD-7149-9CFF-59EB36D76ACF}" type="datetime1">
              <a:rPr lang="en-US" smtClean="0"/>
              <a:t>3/12/26</a:t>
            </a:fld>
            <a:endParaRPr lang="en-US" sz="1000" dirty="0"/>
          </a:p>
        </p:txBody>
      </p:sp>
      <p:sp>
        <p:nvSpPr>
          <p:cNvPr id="5" name="Footer Placeholder 4">
            <a:extLst>
              <a:ext uri="{FF2B5EF4-FFF2-40B4-BE49-F238E27FC236}">
                <a16:creationId xmlns:a16="http://schemas.microsoft.com/office/drawing/2014/main" id="{05614034-E95B-62C5-15BD-1C4ACC91EF75}"/>
              </a:ext>
            </a:extLst>
          </p:cNvPr>
          <p:cNvSpPr>
            <a:spLocks noGrp="1"/>
          </p:cNvSpPr>
          <p:nvPr>
            <p:ph type="ftr" sz="quarter" idx="3"/>
          </p:nvPr>
        </p:nvSpPr>
        <p:spPr>
          <a:xfrm>
            <a:off x="1227878" y="6345717"/>
            <a:ext cx="4114800" cy="200055"/>
          </a:xfrm>
          <a:prstGeom prst="rect">
            <a:avLst/>
          </a:prstGeom>
        </p:spPr>
        <p:txBody>
          <a:bodyPr vert="horz" lIns="0" tIns="0" rIns="91440" bIns="45720" rtlCol="0" anchor="t" anchorCtr="0">
            <a:spAutoFit/>
          </a:bodyPr>
          <a:lstStyle>
            <a:lvl1pPr algn="l">
              <a:defRPr sz="1000" b="0" i="0">
                <a:solidFill>
                  <a:schemeClr val="tx1">
                    <a:tint val="82000"/>
                  </a:schemeClr>
                </a:solidFill>
                <a:latin typeface="DM Sans 14pt" pitchFamily="2" charset="77"/>
              </a:defRPr>
            </a:lvl1pPr>
          </a:lstStyle>
          <a:p>
            <a:r>
              <a:rPr lang="en-US" sz="1000"/>
              <a:t>Add Metadata here in Slide Masster &gt; Insert &gt; Slide Number</a:t>
            </a:r>
            <a:endParaRPr lang="en-US" sz="1000" dirty="0"/>
          </a:p>
        </p:txBody>
      </p:sp>
      <p:sp>
        <p:nvSpPr>
          <p:cNvPr id="6" name="Slide Number Placeholder 5">
            <a:extLst>
              <a:ext uri="{FF2B5EF4-FFF2-40B4-BE49-F238E27FC236}">
                <a16:creationId xmlns:a16="http://schemas.microsoft.com/office/drawing/2014/main" id="{87781769-9746-BBA6-199A-E7113575867E}"/>
              </a:ext>
            </a:extLst>
          </p:cNvPr>
          <p:cNvSpPr>
            <a:spLocks noGrp="1"/>
          </p:cNvSpPr>
          <p:nvPr>
            <p:ph type="sldNum" sz="quarter" idx="4"/>
          </p:nvPr>
        </p:nvSpPr>
        <p:spPr>
          <a:xfrm>
            <a:off x="466057" y="6345717"/>
            <a:ext cx="429489" cy="200055"/>
          </a:xfrm>
          <a:prstGeom prst="rect">
            <a:avLst/>
          </a:prstGeom>
        </p:spPr>
        <p:txBody>
          <a:bodyPr vert="horz" wrap="square" lIns="0" tIns="0" rIns="91440" bIns="45720" rtlCol="0" anchor="t" anchorCtr="0">
            <a:spAutoFit/>
          </a:bodyPr>
          <a:lstStyle>
            <a:lvl1pPr algn="l">
              <a:defRPr sz="1000" b="0" i="0">
                <a:solidFill>
                  <a:schemeClr val="tx1">
                    <a:tint val="82000"/>
                  </a:schemeClr>
                </a:solidFill>
                <a:latin typeface="DM Sans 14pt" pitchFamily="2" charset="77"/>
              </a:defRPr>
            </a:lvl1pPr>
          </a:lstStyle>
          <a:p>
            <a:r>
              <a:rPr lang="en-US" sz="1000" dirty="0"/>
              <a:t>&lt;#&gt;</a:t>
            </a:r>
          </a:p>
        </p:txBody>
      </p:sp>
    </p:spTree>
    <p:extLst>
      <p:ext uri="{BB962C8B-B14F-4D97-AF65-F5344CB8AC3E}">
        <p14:creationId xmlns:p14="http://schemas.microsoft.com/office/powerpoint/2010/main" val="1655324016"/>
      </p:ext>
    </p:extLst>
  </p:cSld>
  <p:clrMap bg1="lt1" tx1="dk1" bg2="lt2" tx2="dk2" accent1="accent1" accent2="accent2" accent3="accent3" accent4="accent4" accent5="accent5" accent6="accent6" hlink="hlink" folHlink="folHlink"/>
  <p:sldLayoutIdLst>
    <p:sldLayoutId id="2147483660" r:id="rId1"/>
    <p:sldLayoutId id="2147483681" r:id="rId2"/>
    <p:sldLayoutId id="2147483662" r:id="rId3"/>
    <p:sldLayoutId id="2147483663" r:id="rId4"/>
    <p:sldLayoutId id="2147483664" r:id="rId5"/>
    <p:sldLayoutId id="2147483661" r:id="rId6"/>
    <p:sldLayoutId id="2147483665" r:id="rId7"/>
    <p:sldLayoutId id="2147483690" r:id="rId8"/>
    <p:sldLayoutId id="2147483666" r:id="rId9"/>
    <p:sldLayoutId id="2147483691" r:id="rId10"/>
    <p:sldLayoutId id="2147483667" r:id="rId11"/>
    <p:sldLayoutId id="2147483668" r:id="rId12"/>
    <p:sldLayoutId id="2147483649" r:id="rId13"/>
    <p:sldLayoutId id="2147483677" r:id="rId14"/>
    <p:sldLayoutId id="2147483682" r:id="rId15"/>
    <p:sldLayoutId id="2147483687" r:id="rId16"/>
    <p:sldLayoutId id="2147483674" r:id="rId17"/>
    <p:sldLayoutId id="2147483693" r:id="rId18"/>
    <p:sldLayoutId id="2147483694" r:id="rId19"/>
    <p:sldLayoutId id="2147483692" r:id="rId20"/>
    <p:sldLayoutId id="2147483675" r:id="rId21"/>
    <p:sldLayoutId id="2147483671" r:id="rId22"/>
    <p:sldLayoutId id="2147483672" r:id="rId23"/>
    <p:sldLayoutId id="2147483673" r:id="rId24"/>
    <p:sldLayoutId id="2147483678" r:id="rId25"/>
    <p:sldLayoutId id="2147483695" r:id="rId26"/>
    <p:sldLayoutId id="2147483676" r:id="rId27"/>
    <p:sldLayoutId id="2147483679" r:id="rId28"/>
    <p:sldLayoutId id="2147483680" r:id="rId29"/>
    <p:sldLayoutId id="2147483683" r:id="rId30"/>
    <p:sldLayoutId id="2147483684" r:id="rId31"/>
    <p:sldLayoutId id="2147483685" r:id="rId32"/>
    <p:sldLayoutId id="2147483688" r:id="rId33"/>
    <p:sldLayoutId id="2147483689" r:id="rId34"/>
    <p:sldLayoutId id="2147483686" r:id="rId35"/>
    <p:sldLayoutId id="2147483696" r:id="rId36"/>
  </p:sldLayoutIdLst>
  <p:hf hdr="0" dt="0"/>
  <p:txStyles>
    <p:titleStyle>
      <a:lvl1pPr algn="l"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p:titleStyle>
    <p:body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417320"/>
            <a:ext cx="8686800" cy="2194560"/>
          </a:xfrm>
        </p:spPr>
        <p:txBody>
          <a:bodyPr/>
          <a:lstStyle/>
          <a:p>
            <a:r>
              <a:rPr sz="6600" b="0" i="0">
                <a:solidFill>
                  <a:srgbClr val="FFFFFF"/>
                </a:solidFill>
                <a:latin typeface="DM Sans 14pt ExtraLight"/>
              </a:rPr>
              <a:t>Stop selling </a:t>
            </a:r>
            <a:r>
              <a:rPr sz="6600" b="0" i="1">
                <a:solidFill>
                  <a:srgbClr val="FFFFFF"/>
                </a:solidFill>
                <a:latin typeface="DM Sans 14pt SemiBold"/>
              </a:rPr>
              <a:t>hours</a:t>
            </a:r>
          </a:p>
        </p:txBody>
      </p:sp>
      <p:sp>
        <p:nvSpPr>
          <p:cNvPr id="20" name="Footer Placeholder 3">
            <a:extLst>
              <a:ext uri="{FF2B5EF4-FFF2-40B4-BE49-F238E27FC236}">
                <a16:creationId xmlns:a16="http://schemas.microsoft.com/office/drawing/2014/main" id="{0E62FB1D-5C95-528B-B85F-F4D4B4E9C9A0}"/>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WTA Commercial Operating System  |  Leadership Retreat  |  Maple Ranch</a:t>
            </a:r>
          </a:p>
        </p:txBody>
      </p:sp>
      <p:sp>
        <p:nvSpPr>
          <p:cNvPr id="21" name="Slide Number Placeholder 4">
            <a:extLst>
              <a:ext uri="{FF2B5EF4-FFF2-40B4-BE49-F238E27FC236}">
                <a16:creationId xmlns:a16="http://schemas.microsoft.com/office/drawing/2014/main" id="{2FC2235C-2650-9F83-B2F9-DF15866D3837}"/>
              </a:ext>
            </a:extLst>
          </p:cNvPr>
          <p:cNvSpPr>
            <a:spLocks noGrp="1"/>
          </p:cNvSpPr>
          <p:nvPr>
            <p:ph type="sldNum" sz="quarter" idx="14"/>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
        <p:nvSpPr>
          <p:cNvPr id="22" name="TextBox 21"/>
          <p:cNvSpPr txBox="1"/>
          <p:nvPr/>
        </p:nvSpPr>
        <p:spPr>
          <a:xfrm>
            <a:off x="475488" y="3520440"/>
            <a:ext cx="7863840" cy="822960"/>
          </a:xfrm>
          <a:prstGeom prst="rect">
            <a:avLst/>
          </a:prstGeom>
          <a:noFill/>
        </p:spPr>
        <p:txBody>
          <a:bodyPr wrap="square" lIns="0" rIns="0" tIns="0" bIns="0" anchor="t"/>
          <a:lstStyle/>
          <a:p>
            <a:pPr algn="l">
              <a:lnSpc>
                <a:spcPct val="110000"/>
              </a:lnSpc>
              <a:spcAft>
                <a:spcPts val="0"/>
              </a:spcAft>
            </a:pPr>
            <a:r>
              <a:rPr sz="2000" b="0" i="0">
                <a:solidFill>
                  <a:srgbClr val="FFFFFF"/>
                </a:solidFill>
                <a:latin typeface="DM Sans 14pt"/>
              </a:rPr>
              <a:t>The WTA Commercial Operating System: how to productize agency services and price for value</a:t>
            </a:r>
          </a:p>
        </p:txBody>
      </p:sp>
      <p:cxnSp>
        <p:nvCxnSpPr>
          <p:cNvPr id="23" name="Connector 22"/>
          <p:cNvCxnSpPr/>
          <p:nvPr/>
        </p:nvCxnSpPr>
        <p:spPr>
          <a:xfrm>
            <a:off x="475488" y="4617720"/>
            <a:ext cx="987552"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4800600"/>
            <a:ext cx="7863840" cy="731520"/>
          </a:xfrm>
          <a:prstGeom prst="rect">
            <a:avLst/>
          </a:prstGeom>
          <a:noFill/>
        </p:spPr>
        <p:txBody>
          <a:bodyPr wrap="square" lIns="0" rIns="0" tIns="0" bIns="0" anchor="t"/>
          <a:lstStyle/>
          <a:p>
            <a:pPr algn="l">
              <a:lnSpc>
                <a:spcPct val="115000"/>
              </a:lnSpc>
              <a:spcAft>
                <a:spcPts val="0"/>
              </a:spcAft>
            </a:pPr>
            <a:r>
              <a:rPr sz="1600" b="0" i="0">
                <a:solidFill>
                  <a:srgbClr val="FFFFFF"/>
                </a:solidFill>
                <a:latin typeface="DM Sans 14pt SemiBold"/>
              </a:rPr>
              <a:t>Erin Jemas</a:t>
            </a:r>
          </a:p>
          <a:p>
            <a:pPr algn="l">
              <a:lnSpc>
                <a:spcPct val="115000"/>
              </a:lnSpc>
              <a:spcAft>
                <a:spcPts val="0"/>
              </a:spcAft>
            </a:pPr>
            <a:r>
              <a:rPr sz="1400" b="0" i="0">
                <a:solidFill>
                  <a:srgbClr val="FFFFFF"/>
                </a:solidFill>
                <a:latin typeface="DM Sans 14pt"/>
              </a:rPr>
              <a:t>Founder &amp; Principal, Price It Right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36" sz="quarter"/>
          </p:nvPr>
        </p:nvSpPr>
        <p:spPr/>
        <p:txBody>
          <a:bodyPr/>
          <a:lstStyle/>
          <a:p>
            <a:r>
              <a:t>AGENDA  ·  60 MINUTES</a:t>
            </a:r>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4" name="TextBox 3"/>
          <p:cNvSpPr txBox="1"/>
          <p:nvPr/>
        </p:nvSpPr>
        <p:spPr>
          <a:xfrm>
            <a:off x="475488" y="960120"/>
            <a:ext cx="914400" cy="685800"/>
          </a:xfrm>
          <a:prstGeom prst="rect">
            <a:avLst/>
          </a:prstGeom>
          <a:noFill/>
        </p:spPr>
        <p:txBody>
          <a:bodyPr wrap="square" lIns="0" rIns="0" tIns="0" bIns="0" anchor="ctr"/>
          <a:lstStyle/>
          <a:p>
            <a:pPr algn="l">
              <a:spcAft>
                <a:spcPts val="0"/>
              </a:spcAft>
            </a:pPr>
            <a:r>
              <a:rPr sz="3600" b="0" i="0">
                <a:solidFill>
                  <a:srgbClr val="FF3333"/>
                </a:solidFill>
                <a:latin typeface="DM Sans 14pt ExtraLight"/>
              </a:rPr>
              <a:t>01</a:t>
            </a:r>
          </a:p>
        </p:txBody>
      </p:sp>
      <p:sp>
        <p:nvSpPr>
          <p:cNvPr id="5" name="TextBox 4"/>
          <p:cNvSpPr txBox="1"/>
          <p:nvPr/>
        </p:nvSpPr>
        <p:spPr>
          <a:xfrm>
            <a:off x="1417320" y="960120"/>
            <a:ext cx="6217920" cy="685800"/>
          </a:xfrm>
          <a:prstGeom prst="rect">
            <a:avLst/>
          </a:prstGeom>
          <a:noFill/>
        </p:spPr>
        <p:txBody>
          <a:bodyPr wrap="square" lIns="0" rIns="0" tIns="0" bIns="0" anchor="ctr"/>
          <a:lstStyle/>
          <a:p>
            <a:pPr algn="l">
              <a:spcAft>
                <a:spcPts val="0"/>
              </a:spcAft>
            </a:pPr>
            <a:r>
              <a:rPr sz="2600" b="0" i="0">
                <a:solidFill>
                  <a:srgbClr val="122A4E"/>
                </a:solidFill>
                <a:latin typeface="DM Sans 14pt"/>
              </a:rPr>
              <a:t>The Provocation</a:t>
            </a:r>
          </a:p>
        </p:txBody>
      </p:sp>
      <p:sp>
        <p:nvSpPr>
          <p:cNvPr id="6" name="TextBox 5"/>
          <p:cNvSpPr txBox="1"/>
          <p:nvPr/>
        </p:nvSpPr>
        <p:spPr>
          <a:xfrm>
            <a:off x="6949440" y="960120"/>
            <a:ext cx="3108960" cy="685800"/>
          </a:xfrm>
          <a:prstGeom prst="rect">
            <a:avLst/>
          </a:prstGeom>
          <a:noFill/>
        </p:spPr>
        <p:txBody>
          <a:bodyPr wrap="square" lIns="0" rIns="0" tIns="0" bIns="0" anchor="ctr"/>
          <a:lstStyle/>
          <a:p>
            <a:pPr algn="l">
              <a:spcAft>
                <a:spcPts val="0"/>
              </a:spcAft>
            </a:pPr>
            <a:r>
              <a:rPr sz="1400" b="0" i="0">
                <a:solidFill>
                  <a:srgbClr val="6B6B6B"/>
                </a:solidFill>
                <a:latin typeface="DM Sans 14pt"/>
              </a:rPr>
              <a:t>Why pricing inputs is breaking</a:t>
            </a:r>
          </a:p>
        </p:txBody>
      </p:sp>
      <p:sp>
        <p:nvSpPr>
          <p:cNvPr id="7" name="TextBox 6"/>
          <p:cNvSpPr txBox="1"/>
          <p:nvPr/>
        </p:nvSpPr>
        <p:spPr>
          <a:xfrm>
            <a:off x="9966960" y="960120"/>
            <a:ext cx="1737360" cy="685800"/>
          </a:xfrm>
          <a:prstGeom prst="rect">
            <a:avLst/>
          </a:prstGeom>
          <a:noFill/>
        </p:spPr>
        <p:txBody>
          <a:bodyPr wrap="square" lIns="0" rIns="0" tIns="0" bIns="0" anchor="ctr"/>
          <a:lstStyle/>
          <a:p>
            <a:pPr algn="r">
              <a:spcAft>
                <a:spcPts val="0"/>
              </a:spcAft>
            </a:pPr>
            <a:r>
              <a:rPr sz="1400" b="0" i="0">
                <a:solidFill>
                  <a:srgbClr val="122A4E"/>
                </a:solidFill>
                <a:latin typeface="DM Sans 14pt SemiBold"/>
              </a:rPr>
              <a:t>00:00 – 05:00</a:t>
            </a:r>
          </a:p>
        </p:txBody>
      </p:sp>
      <p:cxnSp>
        <p:nvCxnSpPr>
          <p:cNvPr id="8" name="Connector 7"/>
          <p:cNvCxnSpPr/>
          <p:nvPr/>
        </p:nvCxnSpPr>
        <p:spPr>
          <a:xfrm>
            <a:off x="475488" y="1746504"/>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5488" y="1892808"/>
            <a:ext cx="914400" cy="685800"/>
          </a:xfrm>
          <a:prstGeom prst="rect">
            <a:avLst/>
          </a:prstGeom>
          <a:noFill/>
        </p:spPr>
        <p:txBody>
          <a:bodyPr wrap="square" lIns="0" rIns="0" tIns="0" bIns="0" anchor="ctr"/>
          <a:lstStyle/>
          <a:p>
            <a:pPr algn="l">
              <a:spcAft>
                <a:spcPts val="0"/>
              </a:spcAft>
            </a:pPr>
            <a:r>
              <a:rPr sz="3600" b="0" i="0">
                <a:solidFill>
                  <a:srgbClr val="FF3333"/>
                </a:solidFill>
                <a:latin typeface="DM Sans 14pt ExtraLight"/>
              </a:rPr>
              <a:t>02</a:t>
            </a:r>
          </a:p>
        </p:txBody>
      </p:sp>
      <p:sp>
        <p:nvSpPr>
          <p:cNvPr id="10" name="TextBox 9"/>
          <p:cNvSpPr txBox="1"/>
          <p:nvPr/>
        </p:nvSpPr>
        <p:spPr>
          <a:xfrm>
            <a:off x="1417320" y="1892808"/>
            <a:ext cx="6217920" cy="685800"/>
          </a:xfrm>
          <a:prstGeom prst="rect">
            <a:avLst/>
          </a:prstGeom>
          <a:noFill/>
        </p:spPr>
        <p:txBody>
          <a:bodyPr wrap="square" lIns="0" rIns="0" tIns="0" bIns="0" anchor="ctr"/>
          <a:lstStyle/>
          <a:p>
            <a:pPr algn="l">
              <a:spcAft>
                <a:spcPts val="0"/>
              </a:spcAft>
            </a:pPr>
            <a:r>
              <a:rPr sz="2600" b="0" i="0">
                <a:solidFill>
                  <a:srgbClr val="122A4E"/>
                </a:solidFill>
                <a:latin typeface="DM Sans 14pt"/>
              </a:rPr>
              <a:t>Agency Economics 101</a:t>
            </a:r>
          </a:p>
        </p:txBody>
      </p:sp>
      <p:sp>
        <p:nvSpPr>
          <p:cNvPr id="11" name="TextBox 10"/>
          <p:cNvSpPr txBox="1"/>
          <p:nvPr/>
        </p:nvSpPr>
        <p:spPr>
          <a:xfrm>
            <a:off x="6949440" y="1892808"/>
            <a:ext cx="3108960" cy="685800"/>
          </a:xfrm>
          <a:prstGeom prst="rect">
            <a:avLst/>
          </a:prstGeom>
          <a:noFill/>
        </p:spPr>
        <p:txBody>
          <a:bodyPr wrap="square" lIns="0" rIns="0" tIns="0" bIns="0" anchor="ctr"/>
          <a:lstStyle/>
          <a:p>
            <a:pPr algn="l">
              <a:spcAft>
                <a:spcPts val="0"/>
              </a:spcAft>
            </a:pPr>
            <a:r>
              <a:rPr sz="1400" b="0" i="0">
                <a:solidFill>
                  <a:srgbClr val="6B6B6B"/>
                </a:solidFill>
                <a:latin typeface="DM Sans 14pt"/>
              </a:rPr>
              <a:t>The direct margin engine</a:t>
            </a:r>
          </a:p>
        </p:txBody>
      </p:sp>
      <p:sp>
        <p:nvSpPr>
          <p:cNvPr id="12" name="TextBox 11"/>
          <p:cNvSpPr txBox="1"/>
          <p:nvPr/>
        </p:nvSpPr>
        <p:spPr>
          <a:xfrm>
            <a:off x="9966960" y="1892808"/>
            <a:ext cx="1737360" cy="685800"/>
          </a:xfrm>
          <a:prstGeom prst="rect">
            <a:avLst/>
          </a:prstGeom>
          <a:noFill/>
        </p:spPr>
        <p:txBody>
          <a:bodyPr wrap="square" lIns="0" rIns="0" tIns="0" bIns="0" anchor="ctr"/>
          <a:lstStyle/>
          <a:p>
            <a:pPr algn="r">
              <a:spcAft>
                <a:spcPts val="0"/>
              </a:spcAft>
            </a:pPr>
            <a:r>
              <a:rPr sz="1400" b="0" i="0">
                <a:solidFill>
                  <a:srgbClr val="122A4E"/>
                </a:solidFill>
                <a:latin typeface="DM Sans 14pt SemiBold"/>
              </a:rPr>
              <a:t>05:00 – 20:00</a:t>
            </a:r>
          </a:p>
        </p:txBody>
      </p:sp>
      <p:cxnSp>
        <p:nvCxnSpPr>
          <p:cNvPr id="13" name="Connector 12"/>
          <p:cNvCxnSpPr/>
          <p:nvPr/>
        </p:nvCxnSpPr>
        <p:spPr>
          <a:xfrm>
            <a:off x="475488" y="2679192"/>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75488" y="2825496"/>
            <a:ext cx="914400" cy="685800"/>
          </a:xfrm>
          <a:prstGeom prst="rect">
            <a:avLst/>
          </a:prstGeom>
          <a:noFill/>
        </p:spPr>
        <p:txBody>
          <a:bodyPr wrap="square" lIns="0" rIns="0" tIns="0" bIns="0" anchor="ctr"/>
          <a:lstStyle/>
          <a:p>
            <a:pPr algn="l">
              <a:spcAft>
                <a:spcPts val="0"/>
              </a:spcAft>
            </a:pPr>
            <a:r>
              <a:rPr sz="3600" b="0" i="0">
                <a:solidFill>
                  <a:srgbClr val="FF3333"/>
                </a:solidFill>
                <a:latin typeface="DM Sans 14pt ExtraLight"/>
              </a:rPr>
              <a:t>03</a:t>
            </a:r>
          </a:p>
        </p:txBody>
      </p:sp>
      <p:sp>
        <p:nvSpPr>
          <p:cNvPr id="15" name="TextBox 14"/>
          <p:cNvSpPr txBox="1"/>
          <p:nvPr/>
        </p:nvSpPr>
        <p:spPr>
          <a:xfrm>
            <a:off x="1417320" y="2825496"/>
            <a:ext cx="6217920" cy="685800"/>
          </a:xfrm>
          <a:prstGeom prst="rect">
            <a:avLst/>
          </a:prstGeom>
          <a:noFill/>
        </p:spPr>
        <p:txBody>
          <a:bodyPr wrap="square" lIns="0" rIns="0" tIns="0" bIns="0" anchor="ctr"/>
          <a:lstStyle/>
          <a:p>
            <a:pPr algn="l">
              <a:spcAft>
                <a:spcPts val="0"/>
              </a:spcAft>
            </a:pPr>
            <a:r>
              <a:rPr sz="2600" b="0" i="0">
                <a:solidFill>
                  <a:srgbClr val="122A4E"/>
                </a:solidFill>
                <a:latin typeface="DM Sans 14pt"/>
              </a:rPr>
              <a:t>WTA in Action</a:t>
            </a:r>
          </a:p>
        </p:txBody>
      </p:sp>
      <p:sp>
        <p:nvSpPr>
          <p:cNvPr id="16" name="TextBox 15"/>
          <p:cNvSpPr txBox="1"/>
          <p:nvPr/>
        </p:nvSpPr>
        <p:spPr>
          <a:xfrm>
            <a:off x="6949440" y="2825496"/>
            <a:ext cx="3108960" cy="685800"/>
          </a:xfrm>
          <a:prstGeom prst="rect">
            <a:avLst/>
          </a:prstGeom>
          <a:noFill/>
        </p:spPr>
        <p:txBody>
          <a:bodyPr wrap="square" lIns="0" rIns="0" tIns="0" bIns="0" anchor="ctr"/>
          <a:lstStyle/>
          <a:p>
            <a:pPr algn="l">
              <a:spcAft>
                <a:spcPts val="0"/>
              </a:spcAft>
            </a:pPr>
            <a:r>
              <a:rPr sz="1400" b="0" i="0">
                <a:solidFill>
                  <a:srgbClr val="6B6B6B"/>
                </a:solidFill>
                <a:latin typeface="DM Sans 14pt"/>
              </a:rPr>
              <a:t>Front-line portfolio stewardship</a:t>
            </a:r>
          </a:p>
        </p:txBody>
      </p:sp>
      <p:sp>
        <p:nvSpPr>
          <p:cNvPr id="17" name="TextBox 16"/>
          <p:cNvSpPr txBox="1"/>
          <p:nvPr/>
        </p:nvSpPr>
        <p:spPr>
          <a:xfrm>
            <a:off x="9966960" y="2825496"/>
            <a:ext cx="1737360" cy="685800"/>
          </a:xfrm>
          <a:prstGeom prst="rect">
            <a:avLst/>
          </a:prstGeom>
          <a:noFill/>
        </p:spPr>
        <p:txBody>
          <a:bodyPr wrap="square" lIns="0" rIns="0" tIns="0" bIns="0" anchor="ctr"/>
          <a:lstStyle/>
          <a:p>
            <a:pPr algn="r">
              <a:spcAft>
                <a:spcPts val="0"/>
              </a:spcAft>
            </a:pPr>
            <a:r>
              <a:rPr sz="1400" b="0" i="0">
                <a:solidFill>
                  <a:srgbClr val="122A4E"/>
                </a:solidFill>
                <a:latin typeface="DM Sans 14pt SemiBold"/>
              </a:rPr>
              <a:t>20:00 – 38:00</a:t>
            </a:r>
          </a:p>
        </p:txBody>
      </p:sp>
      <p:cxnSp>
        <p:nvCxnSpPr>
          <p:cNvPr id="18" name="Connector 17"/>
          <p:cNvCxnSpPr/>
          <p:nvPr/>
        </p:nvCxnSpPr>
        <p:spPr>
          <a:xfrm>
            <a:off x="475488" y="3611879"/>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75488" y="3758184"/>
            <a:ext cx="914400" cy="685800"/>
          </a:xfrm>
          <a:prstGeom prst="rect">
            <a:avLst/>
          </a:prstGeom>
          <a:noFill/>
        </p:spPr>
        <p:txBody>
          <a:bodyPr wrap="square" lIns="0" rIns="0" tIns="0" bIns="0" anchor="ctr"/>
          <a:lstStyle/>
          <a:p>
            <a:pPr algn="l">
              <a:spcAft>
                <a:spcPts val="0"/>
              </a:spcAft>
            </a:pPr>
            <a:r>
              <a:rPr sz="3600" b="0" i="0">
                <a:solidFill>
                  <a:srgbClr val="FF3333"/>
                </a:solidFill>
                <a:latin typeface="DM Sans 14pt ExtraLight"/>
              </a:rPr>
              <a:t>04</a:t>
            </a:r>
          </a:p>
        </p:txBody>
      </p:sp>
      <p:sp>
        <p:nvSpPr>
          <p:cNvPr id="20" name="TextBox 19"/>
          <p:cNvSpPr txBox="1"/>
          <p:nvPr/>
        </p:nvSpPr>
        <p:spPr>
          <a:xfrm>
            <a:off x="1417320" y="3758184"/>
            <a:ext cx="6217920" cy="685800"/>
          </a:xfrm>
          <a:prstGeom prst="rect">
            <a:avLst/>
          </a:prstGeom>
          <a:noFill/>
        </p:spPr>
        <p:txBody>
          <a:bodyPr wrap="square" lIns="0" rIns="0" tIns="0" bIns="0" anchor="ctr"/>
          <a:lstStyle/>
          <a:p>
            <a:pPr algn="l">
              <a:spcAft>
                <a:spcPts val="0"/>
              </a:spcAft>
            </a:pPr>
            <a:r>
              <a:rPr sz="2600" b="0" i="0">
                <a:solidFill>
                  <a:srgbClr val="122A4E"/>
                </a:solidFill>
                <a:latin typeface="DM Sans 14pt"/>
              </a:rPr>
              <a:t>The Commercial Operating System</a:t>
            </a:r>
          </a:p>
        </p:txBody>
      </p:sp>
      <p:sp>
        <p:nvSpPr>
          <p:cNvPr id="21" name="TextBox 20"/>
          <p:cNvSpPr txBox="1"/>
          <p:nvPr/>
        </p:nvSpPr>
        <p:spPr>
          <a:xfrm>
            <a:off x="6949440" y="3758184"/>
            <a:ext cx="3108960" cy="685800"/>
          </a:xfrm>
          <a:prstGeom prst="rect">
            <a:avLst/>
          </a:prstGeom>
          <a:noFill/>
        </p:spPr>
        <p:txBody>
          <a:bodyPr wrap="square" lIns="0" rIns="0" tIns="0" bIns="0" anchor="ctr"/>
          <a:lstStyle/>
          <a:p>
            <a:pPr algn="l">
              <a:spcAft>
                <a:spcPts val="0"/>
              </a:spcAft>
            </a:pPr>
            <a:r>
              <a:rPr sz="1400" b="0" i="0">
                <a:solidFill>
                  <a:srgbClr val="6B6B6B"/>
                </a:solidFill>
                <a:latin typeface="DM Sans 14pt"/>
              </a:rPr>
              <a:t>Stop selling hours</a:t>
            </a:r>
          </a:p>
        </p:txBody>
      </p:sp>
      <p:sp>
        <p:nvSpPr>
          <p:cNvPr id="22" name="TextBox 21"/>
          <p:cNvSpPr txBox="1"/>
          <p:nvPr/>
        </p:nvSpPr>
        <p:spPr>
          <a:xfrm>
            <a:off x="9966960" y="3758184"/>
            <a:ext cx="1737360" cy="685800"/>
          </a:xfrm>
          <a:prstGeom prst="rect">
            <a:avLst/>
          </a:prstGeom>
          <a:noFill/>
        </p:spPr>
        <p:txBody>
          <a:bodyPr wrap="square" lIns="0" rIns="0" tIns="0" bIns="0" anchor="ctr"/>
          <a:lstStyle/>
          <a:p>
            <a:pPr algn="r">
              <a:spcAft>
                <a:spcPts val="0"/>
              </a:spcAft>
            </a:pPr>
            <a:r>
              <a:rPr sz="1400" b="0" i="0">
                <a:solidFill>
                  <a:srgbClr val="122A4E"/>
                </a:solidFill>
                <a:latin typeface="DM Sans 14pt SemiBold"/>
              </a:rPr>
              <a:t>38:00 – 55:00</a:t>
            </a:r>
          </a:p>
        </p:txBody>
      </p:sp>
      <p:cxnSp>
        <p:nvCxnSpPr>
          <p:cNvPr id="23" name="Connector 22"/>
          <p:cNvCxnSpPr/>
          <p:nvPr/>
        </p:nvCxnSpPr>
        <p:spPr>
          <a:xfrm>
            <a:off x="475488" y="4544568"/>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4690872"/>
            <a:ext cx="914400" cy="685800"/>
          </a:xfrm>
          <a:prstGeom prst="rect">
            <a:avLst/>
          </a:prstGeom>
          <a:noFill/>
        </p:spPr>
        <p:txBody>
          <a:bodyPr wrap="square" lIns="0" rIns="0" tIns="0" bIns="0" anchor="ctr"/>
          <a:lstStyle/>
          <a:p>
            <a:pPr algn="l">
              <a:spcAft>
                <a:spcPts val="0"/>
              </a:spcAft>
            </a:pPr>
            <a:r>
              <a:rPr sz="3600" b="0" i="0">
                <a:solidFill>
                  <a:srgbClr val="FF3333"/>
                </a:solidFill>
                <a:latin typeface="DM Sans 14pt ExtraLight"/>
              </a:rPr>
              <a:t>05</a:t>
            </a:r>
          </a:p>
        </p:txBody>
      </p:sp>
      <p:sp>
        <p:nvSpPr>
          <p:cNvPr id="25" name="TextBox 24"/>
          <p:cNvSpPr txBox="1"/>
          <p:nvPr/>
        </p:nvSpPr>
        <p:spPr>
          <a:xfrm>
            <a:off x="1417320" y="4690872"/>
            <a:ext cx="6217920" cy="685800"/>
          </a:xfrm>
          <a:prstGeom prst="rect">
            <a:avLst/>
          </a:prstGeom>
          <a:noFill/>
        </p:spPr>
        <p:txBody>
          <a:bodyPr wrap="square" lIns="0" rIns="0" tIns="0" bIns="0" anchor="ctr"/>
          <a:lstStyle/>
          <a:p>
            <a:pPr algn="l">
              <a:spcAft>
                <a:spcPts val="0"/>
              </a:spcAft>
            </a:pPr>
            <a:r>
              <a:rPr sz="2600" b="0" i="0">
                <a:solidFill>
                  <a:srgbClr val="122A4E"/>
                </a:solidFill>
                <a:latin typeface="DM Sans 14pt"/>
              </a:rPr>
              <a:t>Roadmap &amp; Q&amp;A</a:t>
            </a:r>
          </a:p>
        </p:txBody>
      </p:sp>
      <p:sp>
        <p:nvSpPr>
          <p:cNvPr id="26" name="TextBox 25"/>
          <p:cNvSpPr txBox="1"/>
          <p:nvPr/>
        </p:nvSpPr>
        <p:spPr>
          <a:xfrm>
            <a:off x="6949440" y="4690872"/>
            <a:ext cx="3108960" cy="685800"/>
          </a:xfrm>
          <a:prstGeom prst="rect">
            <a:avLst/>
          </a:prstGeom>
          <a:noFill/>
        </p:spPr>
        <p:txBody>
          <a:bodyPr wrap="square" lIns="0" rIns="0" tIns="0" bIns="0" anchor="ctr"/>
          <a:lstStyle/>
          <a:p>
            <a:pPr algn="l">
              <a:spcAft>
                <a:spcPts val="0"/>
              </a:spcAft>
            </a:pPr>
            <a:r>
              <a:rPr sz="1400" b="0" i="0">
                <a:solidFill>
                  <a:srgbClr val="6B6B6B"/>
                </a:solidFill>
                <a:latin typeface="DM Sans 14pt"/>
              </a:rPr>
              <a:t>Our FY2027 commercial mandate</a:t>
            </a:r>
          </a:p>
        </p:txBody>
      </p:sp>
      <p:sp>
        <p:nvSpPr>
          <p:cNvPr id="27" name="TextBox 26"/>
          <p:cNvSpPr txBox="1"/>
          <p:nvPr/>
        </p:nvSpPr>
        <p:spPr>
          <a:xfrm>
            <a:off x="9966960" y="4690872"/>
            <a:ext cx="1737360" cy="685800"/>
          </a:xfrm>
          <a:prstGeom prst="rect">
            <a:avLst/>
          </a:prstGeom>
          <a:noFill/>
        </p:spPr>
        <p:txBody>
          <a:bodyPr wrap="square" lIns="0" rIns="0" tIns="0" bIns="0" anchor="ctr"/>
          <a:lstStyle/>
          <a:p>
            <a:pPr algn="r">
              <a:spcAft>
                <a:spcPts val="0"/>
              </a:spcAft>
            </a:pPr>
            <a:r>
              <a:rPr sz="1400" b="0" i="0">
                <a:solidFill>
                  <a:srgbClr val="122A4E"/>
                </a:solidFill>
                <a:latin typeface="DM Sans 14pt SemiBold"/>
              </a:rPr>
              <a:t>55:00 – 60:00</a:t>
            </a:r>
          </a:p>
        </p:txBody>
      </p:sp>
      <p:cxnSp>
        <p:nvCxnSpPr>
          <p:cNvPr id="28" name="Connector 27"/>
          <p:cNvCxnSpPr/>
          <p:nvPr/>
        </p:nvCxnSpPr>
        <p:spPr>
          <a:xfrm>
            <a:off x="475488" y="5477256"/>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Why time-based pricing is collapsing</a:t>
            </a:r>
          </a:p>
        </p:txBody>
      </p:sp>
      <p:sp>
        <p:nvSpPr>
          <p:cNvPr id="3" name="Text Placeholder 2"/>
          <p:cNvSpPr>
            <a:spLocks noGrp="1"/>
          </p:cNvSpPr>
          <p:nvPr>
            <p:ph type="body" idx="36" sz="quarter"/>
          </p:nvPr>
        </p:nvSpPr>
        <p:spPr/>
        <p:txBody>
          <a:bodyPr/>
          <a:lstStyle/>
          <a:p>
            <a:r>
              <a:t>THE PROVOCATION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03120"/>
            <a:ext cx="3593592" cy="2148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9808" y="2286000"/>
            <a:ext cx="1097280" cy="548640"/>
          </a:xfrm>
          <a:prstGeom prst="rect">
            <a:avLst/>
          </a:prstGeom>
          <a:noFill/>
        </p:spPr>
        <p:txBody>
          <a:bodyPr wrap="square" lIns="0" rIns="0" tIns="0" bIns="0" anchor="t"/>
          <a:lstStyle/>
          <a:p>
            <a:pPr algn="l">
              <a:spcAft>
                <a:spcPts val="0"/>
              </a:spcAft>
            </a:pPr>
            <a:r>
              <a:rPr sz="3200" b="0" i="0">
                <a:solidFill>
                  <a:srgbClr val="FF3333"/>
                </a:solidFill>
                <a:latin typeface="DM Sans 14pt ExtraLight"/>
              </a:rPr>
              <a:t>01</a:t>
            </a:r>
          </a:p>
        </p:txBody>
      </p:sp>
      <p:sp>
        <p:nvSpPr>
          <p:cNvPr id="23" name="TextBox 22"/>
          <p:cNvSpPr txBox="1"/>
          <p:nvPr/>
        </p:nvSpPr>
        <p:spPr>
          <a:xfrm>
            <a:off x="749808" y="2880360"/>
            <a:ext cx="3044952" cy="365760"/>
          </a:xfrm>
          <a:prstGeom prst="rect">
            <a:avLst/>
          </a:prstGeom>
          <a:noFill/>
        </p:spPr>
        <p:txBody>
          <a:bodyPr wrap="square" lIns="0" rIns="0" tIns="0" bIns="0" anchor="t"/>
          <a:lstStyle/>
          <a:p>
            <a:pPr algn="l">
              <a:spcAft>
                <a:spcPts val="0"/>
              </a:spcAft>
            </a:pPr>
            <a:r>
              <a:rPr sz="1800" b="0" i="0">
                <a:solidFill>
                  <a:srgbClr val="122A4E"/>
                </a:solidFill>
                <a:latin typeface="DM Sans 14pt SemiBold"/>
              </a:rPr>
              <a:t>Economic scrutiny</a:t>
            </a:r>
          </a:p>
        </p:txBody>
      </p:sp>
      <p:sp>
        <p:nvSpPr>
          <p:cNvPr id="24" name="TextBox 23"/>
          <p:cNvSpPr txBox="1"/>
          <p:nvPr/>
        </p:nvSpPr>
        <p:spPr>
          <a:xfrm>
            <a:off x="749808" y="3310128"/>
            <a:ext cx="3044952" cy="86868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Clients demand total transparency and predictable ROI on every dollar.</a:t>
            </a:r>
          </a:p>
        </p:txBody>
      </p:sp>
      <p:sp>
        <p:nvSpPr>
          <p:cNvPr id="25" name="Rectangle 24"/>
          <p:cNvSpPr/>
          <p:nvPr/>
        </p:nvSpPr>
        <p:spPr>
          <a:xfrm>
            <a:off x="4297679" y="2103120"/>
            <a:ext cx="3593592" cy="2148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71999" y="2286000"/>
            <a:ext cx="1097280" cy="548640"/>
          </a:xfrm>
          <a:prstGeom prst="rect">
            <a:avLst/>
          </a:prstGeom>
          <a:noFill/>
        </p:spPr>
        <p:txBody>
          <a:bodyPr wrap="square" lIns="0" rIns="0" tIns="0" bIns="0" anchor="t"/>
          <a:lstStyle/>
          <a:p>
            <a:pPr algn="l">
              <a:spcAft>
                <a:spcPts val="0"/>
              </a:spcAft>
            </a:pPr>
            <a:r>
              <a:rPr sz="3200" b="0" i="0">
                <a:solidFill>
                  <a:srgbClr val="FF3333"/>
                </a:solidFill>
                <a:latin typeface="DM Sans 14pt ExtraLight"/>
              </a:rPr>
              <a:t>02</a:t>
            </a:r>
          </a:p>
        </p:txBody>
      </p:sp>
      <p:sp>
        <p:nvSpPr>
          <p:cNvPr id="27" name="TextBox 26"/>
          <p:cNvSpPr txBox="1"/>
          <p:nvPr/>
        </p:nvSpPr>
        <p:spPr>
          <a:xfrm>
            <a:off x="4571999" y="2880360"/>
            <a:ext cx="3044952" cy="365760"/>
          </a:xfrm>
          <a:prstGeom prst="rect">
            <a:avLst/>
          </a:prstGeom>
          <a:noFill/>
        </p:spPr>
        <p:txBody>
          <a:bodyPr wrap="square" lIns="0" rIns="0" tIns="0" bIns="0" anchor="t"/>
          <a:lstStyle/>
          <a:p>
            <a:pPr algn="l">
              <a:spcAft>
                <a:spcPts val="0"/>
              </a:spcAft>
            </a:pPr>
            <a:r>
              <a:rPr sz="1800" b="0" i="0">
                <a:solidFill>
                  <a:srgbClr val="122A4E"/>
                </a:solidFill>
                <a:latin typeface="DM Sans 14pt SemiBold"/>
              </a:rPr>
              <a:t>Procurement influence</a:t>
            </a:r>
          </a:p>
        </p:txBody>
      </p:sp>
      <p:sp>
        <p:nvSpPr>
          <p:cNvPr id="28" name="TextBox 27"/>
          <p:cNvSpPr txBox="1"/>
          <p:nvPr/>
        </p:nvSpPr>
        <p:spPr>
          <a:xfrm>
            <a:off x="4571999" y="3310128"/>
            <a:ext cx="3044952" cy="86868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Rate cards are treated as commodities to compare and grind down.</a:t>
            </a:r>
          </a:p>
        </p:txBody>
      </p:sp>
      <p:sp>
        <p:nvSpPr>
          <p:cNvPr id="29" name="Rectangle 28"/>
          <p:cNvSpPr/>
          <p:nvPr/>
        </p:nvSpPr>
        <p:spPr>
          <a:xfrm>
            <a:off x="8119871" y="2103120"/>
            <a:ext cx="3593592" cy="2148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394192" y="2286000"/>
            <a:ext cx="1097280" cy="548640"/>
          </a:xfrm>
          <a:prstGeom prst="rect">
            <a:avLst/>
          </a:prstGeom>
          <a:noFill/>
        </p:spPr>
        <p:txBody>
          <a:bodyPr wrap="square" lIns="0" rIns="0" tIns="0" bIns="0" anchor="t"/>
          <a:lstStyle/>
          <a:p>
            <a:pPr algn="l">
              <a:spcAft>
                <a:spcPts val="0"/>
              </a:spcAft>
            </a:pPr>
            <a:r>
              <a:rPr sz="3200" b="0" i="0">
                <a:solidFill>
                  <a:srgbClr val="FF3333"/>
                </a:solidFill>
                <a:latin typeface="DM Sans 14pt ExtraLight"/>
              </a:rPr>
              <a:t>03</a:t>
            </a:r>
          </a:p>
        </p:txBody>
      </p:sp>
      <p:sp>
        <p:nvSpPr>
          <p:cNvPr id="31" name="TextBox 30"/>
          <p:cNvSpPr txBox="1"/>
          <p:nvPr/>
        </p:nvSpPr>
        <p:spPr>
          <a:xfrm>
            <a:off x="8394192" y="2880360"/>
            <a:ext cx="3044952" cy="365760"/>
          </a:xfrm>
          <a:prstGeom prst="rect">
            <a:avLst/>
          </a:prstGeom>
          <a:noFill/>
        </p:spPr>
        <p:txBody>
          <a:bodyPr wrap="square" lIns="0" rIns="0" tIns="0" bIns="0" anchor="t"/>
          <a:lstStyle/>
          <a:p>
            <a:pPr algn="l">
              <a:spcAft>
                <a:spcPts val="0"/>
              </a:spcAft>
            </a:pPr>
            <a:r>
              <a:rPr sz="1800" b="0" i="0">
                <a:solidFill>
                  <a:srgbClr val="122A4E"/>
                </a:solidFill>
                <a:latin typeface="DM Sans 14pt SemiBold"/>
              </a:rPr>
              <a:t>AI &amp; technology disruption</a:t>
            </a:r>
          </a:p>
        </p:txBody>
      </p:sp>
      <p:sp>
        <p:nvSpPr>
          <p:cNvPr id="32" name="TextBox 31"/>
          <p:cNvSpPr txBox="1"/>
          <p:nvPr/>
        </p:nvSpPr>
        <p:spPr>
          <a:xfrm>
            <a:off x="8394192" y="3310128"/>
            <a:ext cx="3044952" cy="86868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The time it takes to deliver brilliance is compressing fast.</a:t>
            </a:r>
          </a:p>
        </p:txBody>
      </p:sp>
      <p:sp>
        <p:nvSpPr>
          <p:cNvPr id="33" name="Rectangle 32"/>
          <p:cNvSpPr/>
          <p:nvPr/>
        </p:nvSpPr>
        <p:spPr>
          <a:xfrm>
            <a:off x="475488" y="4526280"/>
            <a:ext cx="11237976" cy="11887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68680" y="4617720"/>
            <a:ext cx="10424160" cy="1005840"/>
          </a:xfrm>
          <a:prstGeom prst="rect">
            <a:avLst/>
          </a:prstGeom>
          <a:noFill/>
        </p:spPr>
        <p:txBody>
          <a:bodyPr wrap="square" lIns="0" rIns="0" tIns="0" bIns="0" anchor="ctr"/>
          <a:lstStyle/>
          <a:p>
            <a:pPr algn="l">
              <a:lnSpc>
                <a:spcPct val="110000"/>
              </a:lnSpc>
              <a:spcAft>
                <a:spcPts val="0"/>
              </a:spcAft>
            </a:pPr>
            <a:r>
              <a:rPr sz="2000" b="0" i="0">
                <a:solidFill>
                  <a:srgbClr val="FFFFFF"/>
                </a:solidFill>
                <a:latin typeface="DM Sans 14pt ExtraLight"/>
              </a:rPr>
              <a:t>When your team can do in two hours what used to take twenty, </a:t>
            </a:r>
            <a:r>
              <a:rPr sz="2000" b="0" i="0">
                <a:solidFill>
                  <a:srgbClr val="FFFFFF"/>
                </a:solidFill>
                <a:latin typeface="DM Sans 14pt SemiBold"/>
              </a:rPr>
              <a:t>selling by the hour makes efficiency financial suicide.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9768" y="2240280"/>
            <a:ext cx="10515600" cy="1371600"/>
          </a:xfrm>
        </p:spPr>
        <p:txBody>
          <a:bodyPr anchor="b" wrap="none"/>
          <a:lstStyle/>
          <a:p>
            <a:r>
              <a:rPr sz="5400" b="0" i="0">
                <a:solidFill>
                  <a:srgbClr val="FFFFFF"/>
                </a:solidFill>
                <a:latin typeface="DM Sans 14pt ExtraLight"/>
              </a:rPr>
              <a:t>Agency Economics 101</a:t>
            </a:r>
          </a:p>
        </p:txBody>
      </p:sp>
      <p:sp>
        <p:nvSpPr>
          <p:cNvPr id="3" name="Text Placeholder 2"/>
          <p:cNvSpPr>
            <a:spLocks noGrp="1"/>
          </p:cNvSpPr>
          <p:nvPr>
            <p:ph type="body" idx="36" sz="quarter"/>
          </p:nvPr>
        </p:nvSpPr>
        <p:spPr/>
        <p:txBody>
          <a:bodyPr/>
          <a:lstStyle/>
          <a:p>
            <a:r>
              <a:t>PART 1  ·  05:00 – 20:00</a:t>
            </a:r>
          </a:p>
        </p:txBody>
      </p:sp>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WTA Commercial Operating System  |  Leadership Retreat  |  Maple Ranch</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
        <p:nvSpPr>
          <p:cNvPr id="6" name="TextBox 5"/>
          <p:cNvSpPr txBox="1"/>
          <p:nvPr/>
        </p:nvSpPr>
        <p:spPr>
          <a:xfrm>
            <a:off x="448056" y="3794760"/>
            <a:ext cx="7315200" cy="548640"/>
          </a:xfrm>
          <a:prstGeom prst="rect">
            <a:avLst/>
          </a:prstGeom>
          <a:noFill/>
        </p:spPr>
        <p:txBody>
          <a:bodyPr wrap="square" lIns="0" rIns="0" tIns="0" bIns="0" anchor="t"/>
          <a:lstStyle/>
          <a:p>
            <a:pPr algn="l">
              <a:spcAft>
                <a:spcPts val="0"/>
              </a:spcAft>
            </a:pPr>
            <a:r>
              <a:rPr sz="2200" b="0" i="0">
                <a:solidFill>
                  <a:srgbClr val="FFFFFF"/>
                </a:solidFill>
                <a:latin typeface="DM Sans 14pt"/>
              </a:rPr>
              <a:t>The direct margin engine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Not every dollar we bill is agency revenue</a:t>
            </a:r>
          </a:p>
        </p:txBody>
      </p:sp>
      <p:sp>
        <p:nvSpPr>
          <p:cNvPr id="3" name="Text Placeholder 2"/>
          <p:cNvSpPr>
            <a:spLocks noGrp="1"/>
          </p:cNvSpPr>
          <p:nvPr>
            <p:ph type="body" idx="36" sz="quarter"/>
          </p:nvPr>
        </p:nvSpPr>
        <p:spPr/>
        <p:txBody>
          <a:bodyPr/>
          <a:lstStyle/>
          <a:p>
            <a:r>
              <a:t>AGENCY ECONOMICS 101</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3154680" cy="160020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9808" y="2286000"/>
            <a:ext cx="2606040" cy="365760"/>
          </a:xfrm>
          <a:prstGeom prst="rect">
            <a:avLst/>
          </a:prstGeom>
          <a:noFill/>
        </p:spPr>
        <p:txBody>
          <a:bodyPr wrap="square" lIns="0" rIns="0" tIns="0" bIns="0" anchor="t"/>
          <a:lstStyle/>
          <a:p>
            <a:pPr algn="l">
              <a:spcAft>
                <a:spcPts val="0"/>
              </a:spcAft>
            </a:pPr>
            <a:r>
              <a:rPr sz="1400" b="0" i="0">
                <a:solidFill>
                  <a:srgbClr val="FFFFFF"/>
                </a:solidFill>
                <a:latin typeface="DM Sans 14pt SemiBold"/>
              </a:rPr>
              <a:t>GROSS BILLINGS</a:t>
            </a:r>
          </a:p>
        </p:txBody>
      </p:sp>
      <p:sp>
        <p:nvSpPr>
          <p:cNvPr id="23" name="TextBox 22"/>
          <p:cNvSpPr txBox="1"/>
          <p:nvPr/>
        </p:nvSpPr>
        <p:spPr>
          <a:xfrm>
            <a:off x="749808" y="2697480"/>
            <a:ext cx="2606040" cy="868680"/>
          </a:xfrm>
          <a:prstGeom prst="rect">
            <a:avLst/>
          </a:prstGeom>
          <a:noFill/>
        </p:spPr>
        <p:txBody>
          <a:bodyPr wrap="square" lIns="0" rIns="0" tIns="0" bIns="0" anchor="t"/>
          <a:lstStyle/>
          <a:p>
            <a:pPr algn="l">
              <a:spcAft>
                <a:spcPts val="0"/>
              </a:spcAft>
            </a:pPr>
            <a:r>
              <a:rPr sz="4800" b="0" i="0">
                <a:solidFill>
                  <a:srgbClr val="FFFFFF"/>
                </a:solidFill>
                <a:latin typeface="DM Sans 14pt ExtraLight"/>
              </a:rPr>
              <a:t>$1.0M</a:t>
            </a:r>
          </a:p>
        </p:txBody>
      </p:sp>
      <p:sp>
        <p:nvSpPr>
          <p:cNvPr id="24" name="TextBox 23"/>
          <p:cNvSpPr txBox="1"/>
          <p:nvPr/>
        </p:nvSpPr>
        <p:spPr>
          <a:xfrm>
            <a:off x="475488" y="3931920"/>
            <a:ext cx="3154680" cy="82296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Everything we invoice the client</a:t>
            </a:r>
          </a:p>
        </p:txBody>
      </p:sp>
      <p:sp>
        <p:nvSpPr>
          <p:cNvPr id="25" name="TextBox 24"/>
          <p:cNvSpPr txBox="1"/>
          <p:nvPr/>
        </p:nvSpPr>
        <p:spPr>
          <a:xfrm>
            <a:off x="3630168" y="2148840"/>
            <a:ext cx="886968" cy="1600200"/>
          </a:xfrm>
          <a:prstGeom prst="rect">
            <a:avLst/>
          </a:prstGeom>
          <a:noFill/>
        </p:spPr>
        <p:txBody>
          <a:bodyPr wrap="square" lIns="0" rIns="0" tIns="0" bIns="0" anchor="ctr"/>
          <a:lstStyle/>
          <a:p>
            <a:pPr algn="ctr">
              <a:spcAft>
                <a:spcPts val="0"/>
              </a:spcAft>
            </a:pPr>
            <a:r>
              <a:rPr sz="4800" b="0" i="0">
                <a:solidFill>
                  <a:srgbClr val="122A4E"/>
                </a:solidFill>
                <a:latin typeface="DM Sans 14pt ExtraLight"/>
              </a:rPr>
              <a:t>−</a:t>
            </a:r>
          </a:p>
        </p:txBody>
      </p:sp>
      <p:sp>
        <p:nvSpPr>
          <p:cNvPr id="26" name="Rectangle 25"/>
          <p:cNvSpPr/>
          <p:nvPr/>
        </p:nvSpPr>
        <p:spPr>
          <a:xfrm>
            <a:off x="4517136" y="2148840"/>
            <a:ext cx="3154680" cy="16002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91455" y="2286000"/>
            <a:ext cx="2606040" cy="365760"/>
          </a:xfrm>
          <a:prstGeom prst="rect">
            <a:avLst/>
          </a:prstGeom>
          <a:noFill/>
        </p:spPr>
        <p:txBody>
          <a:bodyPr wrap="square" lIns="0" rIns="0" tIns="0" bIns="0" anchor="t"/>
          <a:lstStyle/>
          <a:p>
            <a:pPr algn="l">
              <a:spcAft>
                <a:spcPts val="0"/>
              </a:spcAft>
            </a:pPr>
            <a:r>
              <a:rPr sz="1400" b="0" i="0">
                <a:solidFill>
                  <a:srgbClr val="122A4E"/>
                </a:solidFill>
                <a:latin typeface="DM Sans 14pt SemiBold"/>
              </a:rPr>
              <a:t>PASS-THROUGH</a:t>
            </a:r>
          </a:p>
        </p:txBody>
      </p:sp>
      <p:sp>
        <p:nvSpPr>
          <p:cNvPr id="28" name="TextBox 27"/>
          <p:cNvSpPr txBox="1"/>
          <p:nvPr/>
        </p:nvSpPr>
        <p:spPr>
          <a:xfrm>
            <a:off x="4791455" y="2697480"/>
            <a:ext cx="2606040" cy="868680"/>
          </a:xfrm>
          <a:prstGeom prst="rect">
            <a:avLst/>
          </a:prstGeom>
          <a:noFill/>
        </p:spPr>
        <p:txBody>
          <a:bodyPr wrap="square" lIns="0" rIns="0" tIns="0" bIns="0" anchor="t"/>
          <a:lstStyle/>
          <a:p>
            <a:pPr algn="l">
              <a:spcAft>
                <a:spcPts val="0"/>
              </a:spcAft>
            </a:pPr>
            <a:r>
              <a:rPr sz="4800" b="0" i="0">
                <a:solidFill>
                  <a:srgbClr val="122A4E"/>
                </a:solidFill>
                <a:latin typeface="DM Sans 14pt ExtraLight"/>
              </a:rPr>
              <a:t>$0.4M</a:t>
            </a:r>
          </a:p>
        </p:txBody>
      </p:sp>
      <p:sp>
        <p:nvSpPr>
          <p:cNvPr id="29" name="TextBox 28"/>
          <p:cNvSpPr txBox="1"/>
          <p:nvPr/>
        </p:nvSpPr>
        <p:spPr>
          <a:xfrm>
            <a:off x="4517136" y="3931920"/>
            <a:ext cx="3154680" cy="82296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Media, third-party production, research, travel — reimbursed, not earned</a:t>
            </a:r>
          </a:p>
        </p:txBody>
      </p:sp>
      <p:sp>
        <p:nvSpPr>
          <p:cNvPr id="30" name="TextBox 29"/>
          <p:cNvSpPr txBox="1"/>
          <p:nvPr/>
        </p:nvSpPr>
        <p:spPr>
          <a:xfrm>
            <a:off x="7671816" y="2148840"/>
            <a:ext cx="886968" cy="1600200"/>
          </a:xfrm>
          <a:prstGeom prst="rect">
            <a:avLst/>
          </a:prstGeom>
          <a:noFill/>
        </p:spPr>
        <p:txBody>
          <a:bodyPr wrap="square" lIns="0" rIns="0" tIns="0" bIns="0" anchor="ctr"/>
          <a:lstStyle/>
          <a:p>
            <a:pPr algn="ctr">
              <a:spcAft>
                <a:spcPts val="0"/>
              </a:spcAft>
            </a:pPr>
            <a:r>
              <a:rPr sz="4800" b="0" i="0">
                <a:solidFill>
                  <a:srgbClr val="122A4E"/>
                </a:solidFill>
                <a:latin typeface="DM Sans 14pt ExtraLight"/>
              </a:rPr>
              <a:t>=</a:t>
            </a:r>
          </a:p>
        </p:txBody>
      </p:sp>
      <p:sp>
        <p:nvSpPr>
          <p:cNvPr id="31" name="Rectangle 30"/>
          <p:cNvSpPr/>
          <p:nvPr/>
        </p:nvSpPr>
        <p:spPr>
          <a:xfrm>
            <a:off x="8558784" y="2148840"/>
            <a:ext cx="3154680" cy="1600200"/>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833104" y="2286000"/>
            <a:ext cx="2606040" cy="365760"/>
          </a:xfrm>
          <a:prstGeom prst="rect">
            <a:avLst/>
          </a:prstGeom>
          <a:noFill/>
        </p:spPr>
        <p:txBody>
          <a:bodyPr wrap="square" lIns="0" rIns="0" tIns="0" bIns="0" anchor="t"/>
          <a:lstStyle/>
          <a:p>
            <a:pPr algn="l">
              <a:spcAft>
                <a:spcPts val="0"/>
              </a:spcAft>
            </a:pPr>
            <a:r>
              <a:rPr sz="1400" b="0" i="0">
                <a:solidFill>
                  <a:srgbClr val="FFFFFF"/>
                </a:solidFill>
                <a:latin typeface="DM Sans 14pt SemiBold"/>
              </a:rPr>
              <a:t>NET REVENUE</a:t>
            </a:r>
          </a:p>
        </p:txBody>
      </p:sp>
      <p:sp>
        <p:nvSpPr>
          <p:cNvPr id="33" name="TextBox 32"/>
          <p:cNvSpPr txBox="1"/>
          <p:nvPr/>
        </p:nvSpPr>
        <p:spPr>
          <a:xfrm>
            <a:off x="8833104" y="2697480"/>
            <a:ext cx="2606040" cy="868680"/>
          </a:xfrm>
          <a:prstGeom prst="rect">
            <a:avLst/>
          </a:prstGeom>
          <a:noFill/>
        </p:spPr>
        <p:txBody>
          <a:bodyPr wrap="square" lIns="0" rIns="0" tIns="0" bIns="0" anchor="t"/>
          <a:lstStyle/>
          <a:p>
            <a:pPr algn="l">
              <a:spcAft>
                <a:spcPts val="0"/>
              </a:spcAft>
            </a:pPr>
            <a:r>
              <a:rPr sz="4800" b="0" i="0">
                <a:solidFill>
                  <a:srgbClr val="FFFFFF"/>
                </a:solidFill>
                <a:latin typeface="DM Sans 14pt ExtraLight"/>
              </a:rPr>
              <a:t>$0.6M</a:t>
            </a:r>
          </a:p>
        </p:txBody>
      </p:sp>
      <p:sp>
        <p:nvSpPr>
          <p:cNvPr id="34" name="TextBox 33"/>
          <p:cNvSpPr txBox="1"/>
          <p:nvPr/>
        </p:nvSpPr>
        <p:spPr>
          <a:xfrm>
            <a:off x="8558784" y="3931920"/>
            <a:ext cx="3154680" cy="82296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What remains. Our true revenue baseline — every margin starts here</a:t>
            </a:r>
          </a:p>
        </p:txBody>
      </p:sp>
      <p:sp>
        <p:nvSpPr>
          <p:cNvPr id="35" name="TextBox 34"/>
          <p:cNvSpPr txBox="1"/>
          <p:nvPr/>
        </p:nvSpPr>
        <p:spPr>
          <a:xfrm>
            <a:off x="475488" y="5120640"/>
            <a:ext cx="11237976" cy="548640"/>
          </a:xfrm>
          <a:prstGeom prst="rect">
            <a:avLst/>
          </a:prstGeom>
          <a:noFill/>
        </p:spPr>
        <p:txBody>
          <a:bodyPr wrap="square" lIns="0" rIns="0" tIns="0" bIns="0" anchor="t"/>
          <a:lstStyle/>
          <a:p>
            <a:pPr algn="l">
              <a:spcAft>
                <a:spcPts val="0"/>
              </a:spcAft>
            </a:pPr>
            <a:r>
              <a:rPr sz="1600" b="0" i="0">
                <a:solidFill>
                  <a:srgbClr val="122A4E"/>
                </a:solidFill>
                <a:latin typeface="DM Sans 14pt SemiBold"/>
              </a:rPr>
              <a:t>Rule of thumb  </a:t>
            </a:r>
            <a:r>
              <a:rPr sz="1600" b="0" i="0">
                <a:solidFill>
                  <a:srgbClr val="333333"/>
                </a:solidFill>
                <a:latin typeface="DM Sans 14pt"/>
              </a:rPr>
              <a:t>Every margin metric in this session is measured against Net Revenue, never billings.</a:t>
            </a:r>
          </a:p>
        </p:txBody>
      </p:sp>
      <p:sp>
        <p:nvSpPr>
          <p:cNvPr id="36" name="TextBox 35"/>
          <p:cNvSpPr txBox="1"/>
          <p:nvPr/>
        </p:nvSpPr>
        <p:spPr>
          <a:xfrm>
            <a:off x="475488" y="5623560"/>
            <a:ext cx="5486400" cy="274320"/>
          </a:xfrm>
          <a:prstGeom prst="rect">
            <a:avLst/>
          </a:prstGeom>
          <a:noFill/>
        </p:spPr>
        <p:txBody>
          <a:bodyPr wrap="square" lIns="0" rIns="0" tIns="0" bIns="0" anchor="t"/>
          <a:lstStyle/>
          <a:p>
            <a:pPr algn="l">
              <a:spcAft>
                <a:spcPts val="0"/>
              </a:spcAft>
            </a:pPr>
            <a:r>
              <a:rPr sz="1000" b="0" i="0">
                <a:solidFill>
                  <a:srgbClr val="6B6B6B"/>
                </a:solidFill>
                <a:latin typeface="DM Sans 14pt"/>
              </a:rPr>
              <a:t>Figures illustrative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What account leads control</a:t>
            </a:r>
          </a:p>
        </p:txBody>
      </p:sp>
      <p:sp>
        <p:nvSpPr>
          <p:cNvPr id="3" name="Text Placeholder 2"/>
          <p:cNvSpPr>
            <a:spLocks noGrp="1"/>
          </p:cNvSpPr>
          <p:nvPr>
            <p:ph type="body" idx="36" sz="quarter"/>
          </p:nvPr>
        </p:nvSpPr>
        <p:spPr/>
        <p:txBody>
          <a:bodyPr/>
          <a:lstStyle/>
          <a:p>
            <a:r>
              <a:t>AGENCY ECONOMICS 101</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03120"/>
            <a:ext cx="5486400" cy="361188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7240" y="2286000"/>
            <a:ext cx="4937760" cy="320040"/>
          </a:xfrm>
          <a:prstGeom prst="rect">
            <a:avLst/>
          </a:prstGeom>
          <a:noFill/>
        </p:spPr>
        <p:txBody>
          <a:bodyPr wrap="square" lIns="0" rIns="0" tIns="0" bIns="0" anchor="t"/>
          <a:lstStyle/>
          <a:p>
            <a:pPr algn="l">
              <a:spcAft>
                <a:spcPts val="0"/>
              </a:spcAft>
            </a:pPr>
            <a:r>
              <a:rPr sz="1400" b="0" i="0">
                <a:solidFill>
                  <a:srgbClr val="66CCCC"/>
                </a:solidFill>
                <a:latin typeface="DM Sans 14pt SemiBold"/>
              </a:rPr>
              <a:t>DIRECT COSTS  ·  IN YOUR CONTROL</a:t>
            </a:r>
          </a:p>
        </p:txBody>
      </p:sp>
      <p:sp>
        <p:nvSpPr>
          <p:cNvPr id="23" name="TextBox 22"/>
          <p:cNvSpPr txBox="1"/>
          <p:nvPr/>
        </p:nvSpPr>
        <p:spPr>
          <a:xfrm>
            <a:off x="777240" y="2743200"/>
            <a:ext cx="4937760" cy="2834640"/>
          </a:xfrm>
          <a:prstGeom prst="rect">
            <a:avLst/>
          </a:prstGeom>
          <a:noFill/>
        </p:spPr>
        <p:txBody>
          <a:bodyPr wrap="square" lIns="0" rIns="0" tIns="0" bIns="0" anchor="t"/>
          <a:lstStyle/>
          <a:p>
            <a:pPr algn="l">
              <a:lnSpc>
                <a:spcPct val="110000"/>
              </a:lnSpc>
              <a:spcAft>
                <a:spcPts val="200"/>
              </a:spcAft>
            </a:pPr>
            <a:r>
              <a:rPr sz="1800" b="0" i="0">
                <a:solidFill>
                  <a:srgbClr val="FFFFFF"/>
                </a:solidFill>
                <a:latin typeface="DM Sans 14pt SemiBold"/>
              </a:rPr>
              <a:t>Direct labor</a:t>
            </a:r>
          </a:p>
          <a:p>
            <a:pPr algn="l">
              <a:lnSpc>
                <a:spcPct val="110000"/>
              </a:lnSpc>
              <a:spcAft>
                <a:spcPts val="1400"/>
              </a:spcAft>
            </a:pPr>
            <a:r>
              <a:rPr sz="1400" b="0" i="0">
                <a:solidFill>
                  <a:srgbClr val="FFFFFF"/>
                </a:solidFill>
                <a:latin typeface="DM Sans 14pt"/>
              </a:rPr>
              <a:t>Salaries, payroll taxes and benefits of the billable talent on your accounts</a:t>
            </a:r>
          </a:p>
          <a:p>
            <a:pPr algn="l">
              <a:lnSpc>
                <a:spcPct val="110000"/>
              </a:lnSpc>
              <a:spcAft>
                <a:spcPts val="200"/>
              </a:spcAft>
            </a:pPr>
            <a:r>
              <a:rPr sz="1800" b="0" i="0">
                <a:solidFill>
                  <a:srgbClr val="FFFFFF"/>
                </a:solidFill>
                <a:latin typeface="DM Sans 14pt SemiBold"/>
              </a:rPr>
              <a:t>Non-billable client out-of-pockets</a:t>
            </a:r>
          </a:p>
          <a:p>
            <a:pPr algn="l">
              <a:lnSpc>
                <a:spcPct val="110000"/>
              </a:lnSpc>
              <a:spcAft>
                <a:spcPts val="1400"/>
              </a:spcAft>
            </a:pPr>
            <a:r>
              <a:rPr sz="1400" b="0" i="0">
                <a:solidFill>
                  <a:srgbClr val="FFFFFF"/>
                </a:solidFill>
                <a:latin typeface="DM Sans 14pt"/>
              </a:rPr>
              <a:t>Unapproved or local travel, entertainment, presentations, overtime meals and cars</a:t>
            </a:r>
          </a:p>
          <a:p>
            <a:pPr algn="l">
              <a:lnSpc>
                <a:spcPct val="110000"/>
              </a:lnSpc>
              <a:spcAft>
                <a:spcPts val="200"/>
              </a:spcAft>
            </a:pPr>
            <a:r>
              <a:rPr sz="1800" b="0" i="0">
                <a:solidFill>
                  <a:srgbClr val="FFFFFF"/>
                </a:solidFill>
                <a:latin typeface="DM Sans 14pt SemiBold"/>
              </a:rPr>
              <a:t>Write-offs</a:t>
            </a:r>
          </a:p>
          <a:p>
            <a:pPr algn="l">
              <a:lnSpc>
                <a:spcPct val="110000"/>
              </a:lnSpc>
              <a:spcAft>
                <a:spcPts val="0"/>
              </a:spcAft>
            </a:pPr>
            <a:r>
              <a:rPr sz="1400" b="0" i="0">
                <a:solidFill>
                  <a:srgbClr val="FFFFFF"/>
                </a:solidFill>
                <a:latin typeface="DM Sans 14pt"/>
              </a:rPr>
              <a:t>Unbilled WIP and aged receivables that never get collected</a:t>
            </a:r>
          </a:p>
        </p:txBody>
      </p:sp>
      <p:sp>
        <p:nvSpPr>
          <p:cNvPr id="24" name="Rectangle 23"/>
          <p:cNvSpPr/>
          <p:nvPr/>
        </p:nvSpPr>
        <p:spPr>
          <a:xfrm>
            <a:off x="6227064" y="2103120"/>
            <a:ext cx="5486400" cy="36118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28816" y="2286000"/>
            <a:ext cx="4937760" cy="320040"/>
          </a:xfrm>
          <a:prstGeom prst="rect">
            <a:avLst/>
          </a:prstGeom>
          <a:noFill/>
        </p:spPr>
        <p:txBody>
          <a:bodyPr wrap="square" lIns="0" rIns="0" tIns="0" bIns="0" anchor="t"/>
          <a:lstStyle/>
          <a:p>
            <a:pPr algn="l">
              <a:spcAft>
                <a:spcPts val="0"/>
              </a:spcAft>
            </a:pPr>
            <a:r>
              <a:rPr sz="1400" b="0" i="0">
                <a:solidFill>
                  <a:srgbClr val="6B6B6B"/>
                </a:solidFill>
                <a:latin typeface="DM Sans 14pt SemiBold"/>
              </a:rPr>
              <a:t>INDIRECT COSTS / OVERHEAD  ·  FINANCE’S CONTROL</a:t>
            </a:r>
          </a:p>
        </p:txBody>
      </p:sp>
      <p:sp>
        <p:nvSpPr>
          <p:cNvPr id="26" name="TextBox 25"/>
          <p:cNvSpPr txBox="1"/>
          <p:nvPr/>
        </p:nvSpPr>
        <p:spPr>
          <a:xfrm>
            <a:off x="6528816" y="2743200"/>
            <a:ext cx="4937760" cy="2834640"/>
          </a:xfrm>
          <a:prstGeom prst="rect">
            <a:avLst/>
          </a:prstGeom>
          <a:noFill/>
        </p:spPr>
        <p:txBody>
          <a:bodyPr wrap="square" lIns="0" rIns="0" tIns="0" bIns="0" anchor="t"/>
          <a:lstStyle/>
          <a:p>
            <a:pPr algn="l" marL="201168" indent="-201168">
              <a:spcAft>
                <a:spcPts val="800"/>
              </a:spcAft>
              <a:buClr>
                <a:srgbClr val="6B6B6B"/>
              </a:buClr>
              <a:buFont typeface="Arial"/>
              <a:buChar char="•"/>
            </a:pPr>
            <a:r>
              <a:rPr sz="1600" b="0" i="0">
                <a:solidFill>
                  <a:srgbClr val="333333"/>
                </a:solidFill>
                <a:latin typeface="DM Sans 14pt"/>
              </a:rPr>
              <a:t>Rent and facilities</a:t>
            </a:r>
          </a:p>
          <a:p>
            <a:pPr algn="l" marL="201168" indent="-201168">
              <a:spcAft>
                <a:spcPts val="800"/>
              </a:spcAft>
              <a:buClr>
                <a:srgbClr val="6B6B6B"/>
              </a:buClr>
              <a:buFont typeface="Arial"/>
              <a:buChar char="•"/>
            </a:pPr>
            <a:r>
              <a:rPr sz="1600" b="0" i="0">
                <a:solidFill>
                  <a:srgbClr val="333333"/>
                </a:solidFill>
                <a:latin typeface="DM Sans 14pt"/>
              </a:rPr>
              <a:t>IT infrastructure and equipment</a:t>
            </a:r>
          </a:p>
          <a:p>
            <a:pPr algn="l" marL="201168" indent="-201168">
              <a:spcAft>
                <a:spcPts val="800"/>
              </a:spcAft>
              <a:buClr>
                <a:srgbClr val="6B6B6B"/>
              </a:buClr>
              <a:buFont typeface="Arial"/>
              <a:buChar char="•"/>
            </a:pPr>
            <a:r>
              <a:rPr sz="1600" b="0" i="0">
                <a:solidFill>
                  <a:srgbClr val="333333"/>
                </a:solidFill>
                <a:latin typeface="DM Sans 14pt"/>
              </a:rPr>
              <a:t>Administration and HR</a:t>
            </a:r>
          </a:p>
          <a:p>
            <a:pPr algn="l" marL="201168" indent="-201168">
              <a:spcAft>
                <a:spcPts val="800"/>
              </a:spcAft>
              <a:buClr>
                <a:srgbClr val="6B6B6B"/>
              </a:buClr>
              <a:buFont typeface="Arial"/>
              <a:buChar char="•"/>
            </a:pPr>
            <a:r>
              <a:rPr sz="1600" b="0" i="0">
                <a:solidFill>
                  <a:srgbClr val="333333"/>
                </a:solidFill>
                <a:latin typeface="DM Sans 14pt"/>
              </a:rPr>
              <a:t>Legal and accounting</a:t>
            </a:r>
          </a:p>
          <a:p>
            <a:pPr algn="l" marL="201168" indent="-201168">
              <a:spcAft>
                <a:spcPts val="800"/>
              </a:spcAft>
              <a:buClr>
                <a:srgbClr val="6B6B6B"/>
              </a:buClr>
              <a:buFont typeface="Arial"/>
              <a:buChar char="•"/>
            </a:pPr>
            <a:r>
              <a:rPr sz="1600" b="0" i="0">
                <a:solidFill>
                  <a:srgbClr val="333333"/>
                </a:solidFill>
                <a:latin typeface="DM Sans 14pt"/>
              </a:rPr>
              <a:t>Executive leadership</a:t>
            </a:r>
          </a:p>
          <a:p>
            <a:pPr algn="l" marL="201168" indent="-201168">
              <a:spcAft>
                <a:spcPts val="800"/>
              </a:spcAft>
              <a:buClr>
                <a:srgbClr val="6B6B6B"/>
              </a:buClr>
              <a:buFont typeface="Arial"/>
              <a:buChar char="•"/>
            </a:pPr>
            <a:r>
              <a:rPr sz="1600" b="0" i="0">
                <a:solidFill>
                  <a:srgbClr val="333333"/>
                </a:solidFill>
                <a:latin typeface="DM Sans 14pt"/>
              </a:rPr>
              <a:t>New business and pitch costs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The north star: Direct Contribution Margin</a:t>
            </a:r>
          </a:p>
        </p:txBody>
      </p:sp>
      <p:sp>
        <p:nvSpPr>
          <p:cNvPr id="3" name="Text Placeholder 2"/>
          <p:cNvSpPr>
            <a:spLocks noGrp="1"/>
          </p:cNvSpPr>
          <p:nvPr>
            <p:ph type="body" idx="36" sz="quarter"/>
          </p:nvPr>
        </p:nvSpPr>
        <p:spPr/>
        <p:txBody>
          <a:bodyPr/>
          <a:lstStyle/>
          <a:p>
            <a:r>
              <a:t>AGENCY ECONOMICS 101</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TextBox 20"/>
          <p:cNvSpPr txBox="1"/>
          <p:nvPr/>
        </p:nvSpPr>
        <p:spPr>
          <a:xfrm>
            <a:off x="475488" y="2011680"/>
            <a:ext cx="6583680"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THE FORMULA</a:t>
            </a:r>
          </a:p>
        </p:txBody>
      </p:sp>
      <p:sp>
        <p:nvSpPr>
          <p:cNvPr id="22" name="TextBox 21"/>
          <p:cNvSpPr txBox="1"/>
          <p:nvPr/>
        </p:nvSpPr>
        <p:spPr>
          <a:xfrm>
            <a:off x="475488" y="2377440"/>
            <a:ext cx="6766560" cy="640080"/>
          </a:xfrm>
          <a:prstGeom prst="rect">
            <a:avLst/>
          </a:prstGeom>
          <a:noFill/>
        </p:spPr>
        <p:txBody>
          <a:bodyPr wrap="square" lIns="0" rIns="0" tIns="0" bIns="0" anchor="t"/>
          <a:lstStyle/>
          <a:p>
            <a:pPr algn="l">
              <a:spcAft>
                <a:spcPts val="0"/>
              </a:spcAft>
            </a:pPr>
            <a:r>
              <a:rPr sz="2400" b="0" i="0">
                <a:solidFill>
                  <a:srgbClr val="122A4E"/>
                </a:solidFill>
                <a:latin typeface="DM Sans 14pt SemiBold"/>
              </a:rPr>
              <a:t>Direct Margin  =  </a:t>
            </a:r>
            <a:r>
              <a:rPr sz="2400" b="0" i="0">
                <a:solidFill>
                  <a:srgbClr val="122A4E"/>
                </a:solidFill>
                <a:latin typeface="DM Sans 14pt"/>
              </a:rPr>
              <a:t>Net Revenue  −  Direct Costs</a:t>
            </a:r>
          </a:p>
        </p:txBody>
      </p:sp>
      <p:cxnSp>
        <p:nvCxnSpPr>
          <p:cNvPr id="23" name="Connector 22"/>
          <p:cNvCxnSpPr/>
          <p:nvPr/>
        </p:nvCxnSpPr>
        <p:spPr>
          <a:xfrm>
            <a:off x="475488" y="3246120"/>
            <a:ext cx="6199632"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3474720"/>
            <a:ext cx="3200400" cy="914400"/>
          </a:xfrm>
          <a:prstGeom prst="rect">
            <a:avLst/>
          </a:prstGeom>
          <a:noFill/>
        </p:spPr>
        <p:txBody>
          <a:bodyPr wrap="square" lIns="0" rIns="0" tIns="0" bIns="0" anchor="t"/>
          <a:lstStyle/>
          <a:p>
            <a:pPr algn="l">
              <a:spcAft>
                <a:spcPts val="0"/>
              </a:spcAft>
            </a:pPr>
            <a:r>
              <a:rPr sz="5400" b="0" i="0">
                <a:solidFill>
                  <a:srgbClr val="FF3333"/>
                </a:solidFill>
                <a:latin typeface="DM Sans 14pt ExtraLight"/>
              </a:rPr>
              <a:t>55–62%</a:t>
            </a:r>
          </a:p>
        </p:txBody>
      </p:sp>
      <p:sp>
        <p:nvSpPr>
          <p:cNvPr id="25" name="TextBox 24"/>
          <p:cNvSpPr txBox="1"/>
          <p:nvPr/>
        </p:nvSpPr>
        <p:spPr>
          <a:xfrm>
            <a:off x="475488" y="4434840"/>
            <a:ext cx="3108960" cy="640080"/>
          </a:xfrm>
          <a:prstGeom prst="rect">
            <a:avLst/>
          </a:prstGeom>
          <a:noFill/>
        </p:spPr>
        <p:txBody>
          <a:bodyPr wrap="square" lIns="0" rIns="0" tIns="0" bIns="0" anchor="t"/>
          <a:lstStyle/>
          <a:p>
            <a:pPr algn="l">
              <a:spcAft>
                <a:spcPts val="0"/>
              </a:spcAft>
            </a:pPr>
            <a:r>
              <a:rPr sz="1600" b="0" i="0">
                <a:solidFill>
                  <a:srgbClr val="122A4E"/>
                </a:solidFill>
                <a:latin typeface="DM Sans 14pt SemiBold"/>
              </a:rPr>
              <a:t>Direct Margin target</a:t>
            </a:r>
          </a:p>
          <a:p>
            <a:pPr algn="l">
              <a:spcAft>
                <a:spcPts val="0"/>
              </a:spcAft>
            </a:pPr>
            <a:r>
              <a:rPr sz="1400" b="0" i="0">
                <a:solidFill>
                  <a:srgbClr val="6B6B6B"/>
                </a:solidFill>
                <a:latin typeface="DM Sans 14pt"/>
              </a:rPr>
              <a:t>of Net Revenue</a:t>
            </a:r>
          </a:p>
        </p:txBody>
      </p:sp>
      <p:sp>
        <p:nvSpPr>
          <p:cNvPr id="26" name="TextBox 25"/>
          <p:cNvSpPr txBox="1"/>
          <p:nvPr/>
        </p:nvSpPr>
        <p:spPr>
          <a:xfrm>
            <a:off x="3767328" y="3474720"/>
            <a:ext cx="3200400" cy="914400"/>
          </a:xfrm>
          <a:prstGeom prst="rect">
            <a:avLst/>
          </a:prstGeom>
          <a:noFill/>
        </p:spPr>
        <p:txBody>
          <a:bodyPr wrap="square" lIns="0" rIns="0" tIns="0" bIns="0" anchor="t"/>
          <a:lstStyle/>
          <a:p>
            <a:pPr algn="l">
              <a:spcAft>
                <a:spcPts val="0"/>
              </a:spcAft>
            </a:pPr>
            <a:r>
              <a:rPr sz="5400" b="0" i="0">
                <a:solidFill>
                  <a:srgbClr val="122A4E"/>
                </a:solidFill>
                <a:latin typeface="DM Sans 14pt ExtraLight"/>
              </a:rPr>
              <a:t>20–25%</a:t>
            </a:r>
          </a:p>
        </p:txBody>
      </p:sp>
      <p:sp>
        <p:nvSpPr>
          <p:cNvPr id="27" name="TextBox 26"/>
          <p:cNvSpPr txBox="1"/>
          <p:nvPr/>
        </p:nvSpPr>
        <p:spPr>
          <a:xfrm>
            <a:off x="3767328" y="4434840"/>
            <a:ext cx="3108960" cy="640080"/>
          </a:xfrm>
          <a:prstGeom prst="rect">
            <a:avLst/>
          </a:prstGeom>
          <a:noFill/>
        </p:spPr>
        <p:txBody>
          <a:bodyPr wrap="square" lIns="0" rIns="0" tIns="0" bIns="0" anchor="t"/>
          <a:lstStyle/>
          <a:p>
            <a:pPr algn="l">
              <a:spcAft>
                <a:spcPts val="0"/>
              </a:spcAft>
            </a:pPr>
            <a:r>
              <a:rPr sz="1600" b="0" i="0">
                <a:solidFill>
                  <a:srgbClr val="122A4E"/>
                </a:solidFill>
                <a:latin typeface="DM Sans 14pt SemiBold"/>
              </a:rPr>
              <a:t>Operating profit goal</a:t>
            </a:r>
          </a:p>
          <a:p>
            <a:pPr algn="l">
              <a:spcAft>
                <a:spcPts val="0"/>
              </a:spcAft>
            </a:pPr>
            <a:r>
              <a:rPr sz="1400" b="0" i="0">
                <a:solidFill>
                  <a:srgbClr val="6B6B6B"/>
                </a:solidFill>
                <a:latin typeface="DM Sans 14pt"/>
              </a:rPr>
              <a:t>net, after overhead</a:t>
            </a:r>
          </a:p>
        </p:txBody>
      </p:sp>
      <p:sp>
        <p:nvSpPr>
          <p:cNvPr id="28" name="Rectangle 27"/>
          <p:cNvSpPr/>
          <p:nvPr/>
        </p:nvSpPr>
        <p:spPr>
          <a:xfrm>
            <a:off x="8458200" y="2331720"/>
            <a:ext cx="1143000" cy="1522476"/>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784080" y="2818638"/>
            <a:ext cx="2011680" cy="548640"/>
          </a:xfrm>
          <a:prstGeom prst="rect">
            <a:avLst/>
          </a:prstGeom>
          <a:noFill/>
        </p:spPr>
        <p:txBody>
          <a:bodyPr wrap="square" lIns="0" rIns="0" tIns="0" bIns="0" anchor="t"/>
          <a:lstStyle/>
          <a:p>
            <a:pPr algn="l">
              <a:lnSpc>
                <a:spcPct val="100000"/>
              </a:lnSpc>
              <a:spcAft>
                <a:spcPts val="0"/>
              </a:spcAft>
            </a:pPr>
            <a:r>
              <a:rPr sz="1600" b="0" i="0">
                <a:solidFill>
                  <a:srgbClr val="122A4E"/>
                </a:solidFill>
                <a:latin typeface="DM Sans 14pt SemiBold"/>
              </a:rPr>
              <a:t>≤ $45K</a:t>
            </a:r>
          </a:p>
          <a:p>
            <a:pPr algn="l">
              <a:lnSpc>
                <a:spcPct val="100000"/>
              </a:lnSpc>
              <a:spcAft>
                <a:spcPts val="0"/>
              </a:spcAft>
            </a:pPr>
            <a:r>
              <a:rPr sz="1400" b="0" i="0">
                <a:solidFill>
                  <a:srgbClr val="333333"/>
                </a:solidFill>
                <a:latin typeface="DM Sans 14pt"/>
              </a:rPr>
              <a:t>Direct costs</a:t>
            </a:r>
          </a:p>
        </p:txBody>
      </p:sp>
      <p:sp>
        <p:nvSpPr>
          <p:cNvPr id="30" name="Rectangle 29"/>
          <p:cNvSpPr/>
          <p:nvPr/>
        </p:nvSpPr>
        <p:spPr>
          <a:xfrm>
            <a:off x="8458200" y="3854196"/>
            <a:ext cx="1143000" cy="1184148"/>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784080" y="4171950"/>
            <a:ext cx="2011680" cy="548640"/>
          </a:xfrm>
          <a:prstGeom prst="rect">
            <a:avLst/>
          </a:prstGeom>
          <a:noFill/>
        </p:spPr>
        <p:txBody>
          <a:bodyPr wrap="square" lIns="0" rIns="0" tIns="0" bIns="0" anchor="t"/>
          <a:lstStyle/>
          <a:p>
            <a:pPr algn="l">
              <a:lnSpc>
                <a:spcPct val="100000"/>
              </a:lnSpc>
              <a:spcAft>
                <a:spcPts val="0"/>
              </a:spcAft>
            </a:pPr>
            <a:r>
              <a:rPr sz="1600" b="0" i="0">
                <a:solidFill>
                  <a:srgbClr val="122A4E"/>
                </a:solidFill>
                <a:latin typeface="DM Sans 14pt SemiBold"/>
              </a:rPr>
              <a:t>≈ $35K</a:t>
            </a:r>
          </a:p>
          <a:p>
            <a:pPr algn="l">
              <a:lnSpc>
                <a:spcPct val="100000"/>
              </a:lnSpc>
              <a:spcAft>
                <a:spcPts val="0"/>
              </a:spcAft>
            </a:pPr>
            <a:r>
              <a:rPr sz="1400" b="0" i="0">
                <a:solidFill>
                  <a:srgbClr val="333333"/>
                </a:solidFill>
                <a:latin typeface="DM Sans 14pt"/>
              </a:rPr>
              <a:t>Overhead</a:t>
            </a:r>
          </a:p>
        </p:txBody>
      </p:sp>
      <p:sp>
        <p:nvSpPr>
          <p:cNvPr id="32" name="Rectangle 31"/>
          <p:cNvSpPr/>
          <p:nvPr/>
        </p:nvSpPr>
        <p:spPr>
          <a:xfrm>
            <a:off x="8458200" y="5038344"/>
            <a:ext cx="1143000" cy="676656"/>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84080" y="5102352"/>
            <a:ext cx="2011680" cy="548640"/>
          </a:xfrm>
          <a:prstGeom prst="rect">
            <a:avLst/>
          </a:prstGeom>
          <a:noFill/>
        </p:spPr>
        <p:txBody>
          <a:bodyPr wrap="square" lIns="0" rIns="0" tIns="0" bIns="0" anchor="t"/>
          <a:lstStyle/>
          <a:p>
            <a:pPr algn="l">
              <a:lnSpc>
                <a:spcPct val="100000"/>
              </a:lnSpc>
              <a:spcAft>
                <a:spcPts val="0"/>
              </a:spcAft>
            </a:pPr>
            <a:r>
              <a:rPr sz="1600" b="0" i="0">
                <a:solidFill>
                  <a:srgbClr val="FF3333"/>
                </a:solidFill>
                <a:latin typeface="DM Sans 14pt SemiBold"/>
              </a:rPr>
              <a:t>≥ $20K</a:t>
            </a:r>
          </a:p>
          <a:p>
            <a:pPr algn="l">
              <a:lnSpc>
                <a:spcPct val="100000"/>
              </a:lnSpc>
              <a:spcAft>
                <a:spcPts val="0"/>
              </a:spcAft>
            </a:pPr>
            <a:r>
              <a:rPr sz="1400" b="0" i="0">
                <a:solidFill>
                  <a:srgbClr val="333333"/>
                </a:solidFill>
                <a:latin typeface="DM Sans 14pt"/>
              </a:rPr>
              <a:t>Operating profit</a:t>
            </a:r>
          </a:p>
        </p:txBody>
      </p:sp>
      <p:sp>
        <p:nvSpPr>
          <p:cNvPr id="34" name="TextBox 33"/>
          <p:cNvSpPr txBox="1"/>
          <p:nvPr/>
        </p:nvSpPr>
        <p:spPr>
          <a:xfrm>
            <a:off x="7909560" y="1965960"/>
            <a:ext cx="2240280" cy="274320"/>
          </a:xfrm>
          <a:prstGeom prst="rect">
            <a:avLst/>
          </a:prstGeom>
          <a:noFill/>
        </p:spPr>
        <p:txBody>
          <a:bodyPr wrap="square" lIns="0" rIns="0" tIns="0" bIns="0" anchor="t"/>
          <a:lstStyle/>
          <a:p>
            <a:pPr algn="ctr">
              <a:spcAft>
                <a:spcPts val="0"/>
              </a:spcAft>
            </a:pPr>
            <a:r>
              <a:rPr sz="1200" b="0" i="0">
                <a:solidFill>
                  <a:srgbClr val="6B6B6B"/>
                </a:solidFill>
                <a:latin typeface="DM Sans 14pt"/>
              </a:rPr>
              <a:t>Every $100K of Net Revenue</a:t>
            </a:r>
          </a:p>
        </p:txBody>
      </p:sp>
      <p:cxnSp>
        <p:nvCxnSpPr>
          <p:cNvPr id="35" name="Connector 34"/>
          <p:cNvCxnSpPr/>
          <p:nvPr/>
        </p:nvCxnSpPr>
        <p:spPr>
          <a:xfrm>
            <a:off x="8275320" y="3854196"/>
            <a:ext cx="0" cy="1860804"/>
          </a:xfrm>
          <a:prstGeom prst="line">
            <a:avLst/>
          </a:prstGeom>
          <a:ln w="19050">
            <a:solidFill>
              <a:srgbClr val="FF333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275320" y="3854196"/>
            <a:ext cx="137160" cy="0"/>
          </a:xfrm>
          <a:prstGeom prst="line">
            <a:avLst/>
          </a:prstGeom>
          <a:ln w="19050">
            <a:solidFill>
              <a:srgbClr val="FF333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275320" y="5715000"/>
            <a:ext cx="137160" cy="0"/>
          </a:xfrm>
          <a:prstGeom prst="line">
            <a:avLst/>
          </a:prstGeom>
          <a:ln w="19050">
            <a:solidFill>
              <a:srgbClr val="FF3333"/>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675120" y="4510278"/>
            <a:ext cx="1508760" cy="548640"/>
          </a:xfrm>
          <a:prstGeom prst="rect">
            <a:avLst/>
          </a:prstGeom>
          <a:noFill/>
        </p:spPr>
        <p:txBody>
          <a:bodyPr wrap="square" lIns="0" rIns="0" tIns="0" bIns="0" anchor="t"/>
          <a:lstStyle/>
          <a:p>
            <a:pPr algn="r">
              <a:lnSpc>
                <a:spcPct val="100000"/>
              </a:lnSpc>
              <a:spcAft>
                <a:spcPts val="0"/>
              </a:spcAft>
            </a:pPr>
            <a:r>
              <a:rPr sz="1600" b="0" i="0">
                <a:solidFill>
                  <a:srgbClr val="FF3333"/>
                </a:solidFill>
                <a:latin typeface="DM Sans 14pt SemiBold"/>
              </a:rPr>
              <a:t>≥ $55K</a:t>
            </a:r>
          </a:p>
          <a:p>
            <a:pPr algn="r">
              <a:lnSpc>
                <a:spcPct val="100000"/>
              </a:lnSpc>
              <a:spcAft>
                <a:spcPts val="0"/>
              </a:spcAft>
            </a:pPr>
            <a:r>
              <a:rPr sz="1400" b="0" i="0">
                <a:solidFill>
                  <a:srgbClr val="333333"/>
                </a:solidFill>
                <a:latin typeface="DM Sans 14pt"/>
              </a:rPr>
              <a:t>Direct margin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Revenue is not the same as profitability</a:t>
            </a:r>
          </a:p>
        </p:txBody>
      </p:sp>
      <p:sp>
        <p:nvSpPr>
          <p:cNvPr id="3" name="Text Placeholder 2"/>
          <p:cNvSpPr>
            <a:spLocks noGrp="1"/>
          </p:cNvSpPr>
          <p:nvPr>
            <p:ph type="body" idx="36" sz="quarter"/>
          </p:nvPr>
        </p:nvSpPr>
        <p:spPr/>
        <p:txBody>
          <a:bodyPr/>
          <a:lstStyle/>
          <a:p>
            <a:r>
              <a:t>AGENCY ECONOMICS 101  ·  INTERACTIVE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011680"/>
            <a:ext cx="3593592" cy="45720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9808" y="2011680"/>
            <a:ext cx="3044952" cy="457200"/>
          </a:xfrm>
          <a:prstGeom prst="rect">
            <a:avLst/>
          </a:prstGeom>
          <a:noFill/>
        </p:spPr>
        <p:txBody>
          <a:bodyPr wrap="square" lIns="0" rIns="0" tIns="0" bIns="0" anchor="ctr"/>
          <a:lstStyle/>
          <a:p>
            <a:pPr algn="l">
              <a:spcAft>
                <a:spcPts val="0"/>
              </a:spcAft>
            </a:pPr>
            <a:r>
              <a:rPr sz="1400" b="0" i="0">
                <a:solidFill>
                  <a:srgbClr val="FFFFFF"/>
                </a:solidFill>
                <a:latin typeface="DM Sans 14pt SemiBold"/>
              </a:rPr>
              <a:t>ACCOUNT ALPHA</a:t>
            </a:r>
          </a:p>
        </p:txBody>
      </p:sp>
      <p:sp>
        <p:nvSpPr>
          <p:cNvPr id="23" name="Rectangle 22"/>
          <p:cNvSpPr/>
          <p:nvPr/>
        </p:nvSpPr>
        <p:spPr>
          <a:xfrm>
            <a:off x="475488" y="2468880"/>
            <a:ext cx="3593592" cy="25146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26060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Net Revenue</a:t>
            </a:r>
          </a:p>
        </p:txBody>
      </p:sp>
      <p:sp>
        <p:nvSpPr>
          <p:cNvPr id="25" name="TextBox 24"/>
          <p:cNvSpPr txBox="1"/>
          <p:nvPr/>
        </p:nvSpPr>
        <p:spPr>
          <a:xfrm>
            <a:off x="749808" y="2834640"/>
            <a:ext cx="1554480" cy="411480"/>
          </a:xfrm>
          <a:prstGeom prst="rect">
            <a:avLst/>
          </a:prstGeom>
          <a:noFill/>
        </p:spPr>
        <p:txBody>
          <a:bodyPr wrap="square" lIns="0" rIns="0" tIns="0" bIns="0" anchor="t"/>
          <a:lstStyle/>
          <a:p>
            <a:pPr algn="l">
              <a:spcAft>
                <a:spcPts val="0"/>
              </a:spcAft>
            </a:pPr>
            <a:r>
              <a:rPr sz="2200" b="0" i="0">
                <a:solidFill>
                  <a:srgbClr val="122A4E"/>
                </a:solidFill>
                <a:latin typeface="DM Sans 14pt SemiBold"/>
              </a:rPr>
              <a:t>$2.0M</a:t>
            </a:r>
          </a:p>
        </p:txBody>
      </p:sp>
      <p:sp>
        <p:nvSpPr>
          <p:cNvPr id="26" name="TextBox 25"/>
          <p:cNvSpPr txBox="1"/>
          <p:nvPr/>
        </p:nvSpPr>
        <p:spPr>
          <a:xfrm>
            <a:off x="2304288" y="26060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Direct labor</a:t>
            </a:r>
          </a:p>
        </p:txBody>
      </p:sp>
      <p:sp>
        <p:nvSpPr>
          <p:cNvPr id="27" name="TextBox 26"/>
          <p:cNvSpPr txBox="1"/>
          <p:nvPr/>
        </p:nvSpPr>
        <p:spPr>
          <a:xfrm>
            <a:off x="2304288" y="2834640"/>
            <a:ext cx="1554480" cy="411480"/>
          </a:xfrm>
          <a:prstGeom prst="rect">
            <a:avLst/>
          </a:prstGeom>
          <a:noFill/>
        </p:spPr>
        <p:txBody>
          <a:bodyPr wrap="square" lIns="0" rIns="0" tIns="0" bIns="0" anchor="t"/>
          <a:lstStyle/>
          <a:p>
            <a:pPr algn="l">
              <a:spcAft>
                <a:spcPts val="0"/>
              </a:spcAft>
            </a:pPr>
            <a:r>
              <a:rPr sz="2200" b="0" i="0">
                <a:solidFill>
                  <a:srgbClr val="122A4E"/>
                </a:solidFill>
                <a:latin typeface="DM Sans 14pt"/>
              </a:rPr>
              <a:t>$1.0M</a:t>
            </a:r>
          </a:p>
        </p:txBody>
      </p:sp>
      <p:cxnSp>
        <p:nvCxnSpPr>
          <p:cNvPr id="28" name="Connector 27"/>
          <p:cNvCxnSpPr/>
          <p:nvPr/>
        </p:nvCxnSpPr>
        <p:spPr>
          <a:xfrm>
            <a:off x="749808" y="3401568"/>
            <a:ext cx="3044952"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9808" y="35204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Direct Margin</a:t>
            </a:r>
          </a:p>
        </p:txBody>
      </p:sp>
      <p:sp>
        <p:nvSpPr>
          <p:cNvPr id="30" name="TextBox 29"/>
          <p:cNvSpPr txBox="1"/>
          <p:nvPr/>
        </p:nvSpPr>
        <p:spPr>
          <a:xfrm>
            <a:off x="749808" y="3749039"/>
            <a:ext cx="1554480" cy="731520"/>
          </a:xfrm>
          <a:prstGeom prst="rect">
            <a:avLst/>
          </a:prstGeom>
          <a:noFill/>
        </p:spPr>
        <p:txBody>
          <a:bodyPr wrap="square" lIns="0" rIns="0" tIns="0" bIns="0" anchor="t"/>
          <a:lstStyle/>
          <a:p>
            <a:pPr algn="l">
              <a:spcAft>
                <a:spcPts val="0"/>
              </a:spcAft>
            </a:pPr>
            <a:r>
              <a:rPr sz="4400" b="0" i="0">
                <a:solidFill>
                  <a:srgbClr val="FF3333"/>
                </a:solidFill>
                <a:latin typeface="DM Sans 14pt ExtraLight"/>
              </a:rPr>
              <a:t>50%</a:t>
            </a:r>
          </a:p>
        </p:txBody>
      </p:sp>
      <p:sp>
        <p:nvSpPr>
          <p:cNvPr id="31" name="TextBox 30"/>
          <p:cNvSpPr txBox="1"/>
          <p:nvPr/>
        </p:nvSpPr>
        <p:spPr>
          <a:xfrm>
            <a:off x="2304288" y="35204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Operating margin</a:t>
            </a:r>
          </a:p>
        </p:txBody>
      </p:sp>
      <p:sp>
        <p:nvSpPr>
          <p:cNvPr id="32" name="TextBox 31"/>
          <p:cNvSpPr txBox="1"/>
          <p:nvPr/>
        </p:nvSpPr>
        <p:spPr>
          <a:xfrm>
            <a:off x="2304288" y="3749039"/>
            <a:ext cx="1554480" cy="731520"/>
          </a:xfrm>
          <a:prstGeom prst="rect">
            <a:avLst/>
          </a:prstGeom>
          <a:noFill/>
        </p:spPr>
        <p:txBody>
          <a:bodyPr wrap="square" lIns="0" rIns="0" tIns="0" bIns="0" anchor="t"/>
          <a:lstStyle/>
          <a:p>
            <a:pPr algn="l">
              <a:spcAft>
                <a:spcPts val="0"/>
              </a:spcAft>
            </a:pPr>
            <a:r>
              <a:rPr sz="4400" b="0" i="0">
                <a:solidFill>
                  <a:srgbClr val="FF3333"/>
                </a:solidFill>
                <a:latin typeface="DM Sans 14pt ExtraLight"/>
              </a:rPr>
              <a:t>14%</a:t>
            </a:r>
          </a:p>
        </p:txBody>
      </p:sp>
      <p:sp>
        <p:nvSpPr>
          <p:cNvPr id="33" name="TextBox 32"/>
          <p:cNvSpPr txBox="1"/>
          <p:nvPr/>
        </p:nvSpPr>
        <p:spPr>
          <a:xfrm>
            <a:off x="749808" y="4526280"/>
            <a:ext cx="3044952" cy="320040"/>
          </a:xfrm>
          <a:prstGeom prst="rect">
            <a:avLst/>
          </a:prstGeom>
          <a:noFill/>
        </p:spPr>
        <p:txBody>
          <a:bodyPr wrap="square" lIns="0" rIns="0" tIns="0" bIns="0" anchor="t"/>
          <a:lstStyle/>
          <a:p>
            <a:pPr algn="l">
              <a:spcAft>
                <a:spcPts val="0"/>
              </a:spcAft>
            </a:pPr>
            <a:r>
              <a:rPr sz="1200" b="0" i="0">
                <a:solidFill>
                  <a:srgbClr val="FF3333"/>
                </a:solidFill>
                <a:latin typeface="DM Sans 14pt SemiBold"/>
              </a:rPr>
              <a:t>Below the 55% floor</a:t>
            </a:r>
          </a:p>
        </p:txBody>
      </p:sp>
      <p:sp>
        <p:nvSpPr>
          <p:cNvPr id="34" name="Rectangle 33"/>
          <p:cNvSpPr/>
          <p:nvPr/>
        </p:nvSpPr>
        <p:spPr>
          <a:xfrm>
            <a:off x="4297679" y="2011680"/>
            <a:ext cx="3593592" cy="45720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571999" y="2011680"/>
            <a:ext cx="3044952" cy="457200"/>
          </a:xfrm>
          <a:prstGeom prst="rect">
            <a:avLst/>
          </a:prstGeom>
          <a:noFill/>
        </p:spPr>
        <p:txBody>
          <a:bodyPr wrap="square" lIns="0" rIns="0" tIns="0" bIns="0" anchor="ctr"/>
          <a:lstStyle/>
          <a:p>
            <a:pPr algn="l">
              <a:spcAft>
                <a:spcPts val="0"/>
              </a:spcAft>
            </a:pPr>
            <a:r>
              <a:rPr sz="1400" b="0" i="0">
                <a:solidFill>
                  <a:srgbClr val="FFFFFF"/>
                </a:solidFill>
                <a:latin typeface="DM Sans 14pt SemiBold"/>
              </a:rPr>
              <a:t>ACCOUNT GAMMA</a:t>
            </a:r>
          </a:p>
        </p:txBody>
      </p:sp>
      <p:sp>
        <p:nvSpPr>
          <p:cNvPr id="36" name="Rectangle 35"/>
          <p:cNvSpPr/>
          <p:nvPr/>
        </p:nvSpPr>
        <p:spPr>
          <a:xfrm>
            <a:off x="4297679" y="2468880"/>
            <a:ext cx="3593592" cy="25146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571999" y="26060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Net Revenue</a:t>
            </a:r>
          </a:p>
        </p:txBody>
      </p:sp>
      <p:sp>
        <p:nvSpPr>
          <p:cNvPr id="38" name="TextBox 37"/>
          <p:cNvSpPr txBox="1"/>
          <p:nvPr/>
        </p:nvSpPr>
        <p:spPr>
          <a:xfrm>
            <a:off x="4571999" y="2834640"/>
            <a:ext cx="1554480" cy="411480"/>
          </a:xfrm>
          <a:prstGeom prst="rect">
            <a:avLst/>
          </a:prstGeom>
          <a:noFill/>
        </p:spPr>
        <p:txBody>
          <a:bodyPr wrap="square" lIns="0" rIns="0" tIns="0" bIns="0" anchor="t"/>
          <a:lstStyle/>
          <a:p>
            <a:pPr algn="l">
              <a:spcAft>
                <a:spcPts val="0"/>
              </a:spcAft>
            </a:pPr>
            <a:r>
              <a:rPr sz="2200" b="0" i="0">
                <a:solidFill>
                  <a:srgbClr val="122A4E"/>
                </a:solidFill>
                <a:latin typeface="DM Sans 14pt SemiBold"/>
              </a:rPr>
              <a:t>$1.0M</a:t>
            </a:r>
          </a:p>
        </p:txBody>
      </p:sp>
      <p:sp>
        <p:nvSpPr>
          <p:cNvPr id="39" name="TextBox 38"/>
          <p:cNvSpPr txBox="1"/>
          <p:nvPr/>
        </p:nvSpPr>
        <p:spPr>
          <a:xfrm>
            <a:off x="6126479" y="26060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Direct labor</a:t>
            </a:r>
          </a:p>
        </p:txBody>
      </p:sp>
      <p:sp>
        <p:nvSpPr>
          <p:cNvPr id="40" name="TextBox 39"/>
          <p:cNvSpPr txBox="1"/>
          <p:nvPr/>
        </p:nvSpPr>
        <p:spPr>
          <a:xfrm>
            <a:off x="6126479" y="2834640"/>
            <a:ext cx="1554480" cy="411480"/>
          </a:xfrm>
          <a:prstGeom prst="rect">
            <a:avLst/>
          </a:prstGeom>
          <a:noFill/>
        </p:spPr>
        <p:txBody>
          <a:bodyPr wrap="square" lIns="0" rIns="0" tIns="0" bIns="0" anchor="t"/>
          <a:lstStyle/>
          <a:p>
            <a:pPr algn="l">
              <a:spcAft>
                <a:spcPts val="0"/>
              </a:spcAft>
            </a:pPr>
            <a:r>
              <a:rPr sz="2200" b="0" i="0">
                <a:solidFill>
                  <a:srgbClr val="122A4E"/>
                </a:solidFill>
                <a:latin typeface="DM Sans 14pt"/>
              </a:rPr>
              <a:t>$450K</a:t>
            </a:r>
          </a:p>
        </p:txBody>
      </p:sp>
      <p:cxnSp>
        <p:nvCxnSpPr>
          <p:cNvPr id="41" name="Connector 40"/>
          <p:cNvCxnSpPr/>
          <p:nvPr/>
        </p:nvCxnSpPr>
        <p:spPr>
          <a:xfrm>
            <a:off x="4571999" y="3401568"/>
            <a:ext cx="3044952"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1999" y="35204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Direct Margin</a:t>
            </a:r>
          </a:p>
        </p:txBody>
      </p:sp>
      <p:sp>
        <p:nvSpPr>
          <p:cNvPr id="43" name="TextBox 42"/>
          <p:cNvSpPr txBox="1"/>
          <p:nvPr/>
        </p:nvSpPr>
        <p:spPr>
          <a:xfrm>
            <a:off x="4571999" y="3749039"/>
            <a:ext cx="1554480" cy="731520"/>
          </a:xfrm>
          <a:prstGeom prst="rect">
            <a:avLst/>
          </a:prstGeom>
          <a:noFill/>
        </p:spPr>
        <p:txBody>
          <a:bodyPr wrap="square" lIns="0" rIns="0" tIns="0" bIns="0" anchor="t"/>
          <a:lstStyle/>
          <a:p>
            <a:pPr algn="l">
              <a:spcAft>
                <a:spcPts val="0"/>
              </a:spcAft>
            </a:pPr>
            <a:r>
              <a:rPr sz="4400" b="0" i="0">
                <a:solidFill>
                  <a:srgbClr val="122A4E"/>
                </a:solidFill>
                <a:latin typeface="DM Sans 14pt ExtraLight"/>
              </a:rPr>
              <a:t>55%</a:t>
            </a:r>
          </a:p>
        </p:txBody>
      </p:sp>
      <p:sp>
        <p:nvSpPr>
          <p:cNvPr id="44" name="TextBox 43"/>
          <p:cNvSpPr txBox="1"/>
          <p:nvPr/>
        </p:nvSpPr>
        <p:spPr>
          <a:xfrm>
            <a:off x="6126479" y="35204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Operating margin</a:t>
            </a:r>
          </a:p>
        </p:txBody>
      </p:sp>
      <p:sp>
        <p:nvSpPr>
          <p:cNvPr id="45" name="TextBox 44"/>
          <p:cNvSpPr txBox="1"/>
          <p:nvPr/>
        </p:nvSpPr>
        <p:spPr>
          <a:xfrm>
            <a:off x="6126479" y="3749039"/>
            <a:ext cx="1554480" cy="731520"/>
          </a:xfrm>
          <a:prstGeom prst="rect">
            <a:avLst/>
          </a:prstGeom>
          <a:noFill/>
        </p:spPr>
        <p:txBody>
          <a:bodyPr wrap="square" lIns="0" rIns="0" tIns="0" bIns="0" anchor="t"/>
          <a:lstStyle/>
          <a:p>
            <a:pPr algn="l">
              <a:spcAft>
                <a:spcPts val="0"/>
              </a:spcAft>
            </a:pPr>
            <a:r>
              <a:rPr sz="4400" b="0" i="0">
                <a:solidFill>
                  <a:srgbClr val="122A4E"/>
                </a:solidFill>
                <a:latin typeface="DM Sans 14pt ExtraLight"/>
              </a:rPr>
              <a:t>19%</a:t>
            </a:r>
          </a:p>
        </p:txBody>
      </p:sp>
      <p:sp>
        <p:nvSpPr>
          <p:cNvPr id="46" name="TextBox 45"/>
          <p:cNvSpPr txBox="1"/>
          <p:nvPr/>
        </p:nvSpPr>
        <p:spPr>
          <a:xfrm>
            <a:off x="4571999" y="4526280"/>
            <a:ext cx="3044952" cy="320040"/>
          </a:xfrm>
          <a:prstGeom prst="rect">
            <a:avLst/>
          </a:prstGeom>
          <a:noFill/>
        </p:spPr>
        <p:txBody>
          <a:bodyPr wrap="square" lIns="0" rIns="0" tIns="0" bIns="0" anchor="t"/>
          <a:lstStyle/>
          <a:p>
            <a:pPr algn="l">
              <a:spcAft>
                <a:spcPts val="0"/>
              </a:spcAft>
            </a:pPr>
            <a:r>
              <a:rPr sz="1200" b="0" i="0">
                <a:solidFill>
                  <a:srgbClr val="00509A"/>
                </a:solidFill>
                <a:latin typeface="DM Sans 14pt SemiBold"/>
              </a:rPr>
              <a:t>Within target</a:t>
            </a:r>
          </a:p>
        </p:txBody>
      </p:sp>
      <p:sp>
        <p:nvSpPr>
          <p:cNvPr id="47" name="Rectangle 46"/>
          <p:cNvSpPr/>
          <p:nvPr/>
        </p:nvSpPr>
        <p:spPr>
          <a:xfrm>
            <a:off x="8119871" y="2011680"/>
            <a:ext cx="3593592" cy="45720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394192" y="2011680"/>
            <a:ext cx="3044952" cy="457200"/>
          </a:xfrm>
          <a:prstGeom prst="rect">
            <a:avLst/>
          </a:prstGeom>
          <a:noFill/>
        </p:spPr>
        <p:txBody>
          <a:bodyPr wrap="square" lIns="0" rIns="0" tIns="0" bIns="0" anchor="ctr"/>
          <a:lstStyle/>
          <a:p>
            <a:pPr algn="l">
              <a:spcAft>
                <a:spcPts val="0"/>
              </a:spcAft>
            </a:pPr>
            <a:r>
              <a:rPr sz="1400" b="0" i="0">
                <a:solidFill>
                  <a:srgbClr val="FFFFFF"/>
                </a:solidFill>
                <a:latin typeface="DM Sans 14pt SemiBold"/>
              </a:rPr>
              <a:t>ACCOUNT BETA</a:t>
            </a:r>
          </a:p>
        </p:txBody>
      </p:sp>
      <p:sp>
        <p:nvSpPr>
          <p:cNvPr id="49" name="Rectangle 48"/>
          <p:cNvSpPr/>
          <p:nvPr/>
        </p:nvSpPr>
        <p:spPr>
          <a:xfrm>
            <a:off x="8119871" y="2468880"/>
            <a:ext cx="3593592" cy="25146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394192" y="26060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Net Revenue</a:t>
            </a:r>
          </a:p>
        </p:txBody>
      </p:sp>
      <p:sp>
        <p:nvSpPr>
          <p:cNvPr id="51" name="TextBox 50"/>
          <p:cNvSpPr txBox="1"/>
          <p:nvPr/>
        </p:nvSpPr>
        <p:spPr>
          <a:xfrm>
            <a:off x="8394192" y="2834640"/>
            <a:ext cx="1554480" cy="411480"/>
          </a:xfrm>
          <a:prstGeom prst="rect">
            <a:avLst/>
          </a:prstGeom>
          <a:noFill/>
        </p:spPr>
        <p:txBody>
          <a:bodyPr wrap="square" lIns="0" rIns="0" tIns="0" bIns="0" anchor="t"/>
          <a:lstStyle/>
          <a:p>
            <a:pPr algn="l">
              <a:spcAft>
                <a:spcPts val="0"/>
              </a:spcAft>
            </a:pPr>
            <a:r>
              <a:rPr sz="2200" b="0" i="0">
                <a:solidFill>
                  <a:srgbClr val="122A4E"/>
                </a:solidFill>
                <a:latin typeface="DM Sans 14pt SemiBold"/>
              </a:rPr>
              <a:t>$250K</a:t>
            </a:r>
          </a:p>
        </p:txBody>
      </p:sp>
      <p:sp>
        <p:nvSpPr>
          <p:cNvPr id="52" name="TextBox 51"/>
          <p:cNvSpPr txBox="1"/>
          <p:nvPr/>
        </p:nvSpPr>
        <p:spPr>
          <a:xfrm>
            <a:off x="9948672" y="26060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Direct labor</a:t>
            </a:r>
          </a:p>
        </p:txBody>
      </p:sp>
      <p:sp>
        <p:nvSpPr>
          <p:cNvPr id="53" name="TextBox 52"/>
          <p:cNvSpPr txBox="1"/>
          <p:nvPr/>
        </p:nvSpPr>
        <p:spPr>
          <a:xfrm>
            <a:off x="9948672" y="2834640"/>
            <a:ext cx="1554480" cy="411480"/>
          </a:xfrm>
          <a:prstGeom prst="rect">
            <a:avLst/>
          </a:prstGeom>
          <a:noFill/>
        </p:spPr>
        <p:txBody>
          <a:bodyPr wrap="square" lIns="0" rIns="0" tIns="0" bIns="0" anchor="t"/>
          <a:lstStyle/>
          <a:p>
            <a:pPr algn="l">
              <a:spcAft>
                <a:spcPts val="0"/>
              </a:spcAft>
            </a:pPr>
            <a:r>
              <a:rPr sz="2200" b="0" i="0">
                <a:solidFill>
                  <a:srgbClr val="122A4E"/>
                </a:solidFill>
                <a:latin typeface="DM Sans 14pt"/>
              </a:rPr>
              <a:t>$100K</a:t>
            </a:r>
          </a:p>
        </p:txBody>
      </p:sp>
      <p:cxnSp>
        <p:nvCxnSpPr>
          <p:cNvPr id="54" name="Connector 53"/>
          <p:cNvCxnSpPr/>
          <p:nvPr/>
        </p:nvCxnSpPr>
        <p:spPr>
          <a:xfrm>
            <a:off x="8394192" y="3401568"/>
            <a:ext cx="3044951"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394192" y="35204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Direct Margin</a:t>
            </a:r>
          </a:p>
        </p:txBody>
      </p:sp>
      <p:sp>
        <p:nvSpPr>
          <p:cNvPr id="56" name="TextBox 55"/>
          <p:cNvSpPr txBox="1"/>
          <p:nvPr/>
        </p:nvSpPr>
        <p:spPr>
          <a:xfrm>
            <a:off x="8394192" y="3749039"/>
            <a:ext cx="1554480" cy="731520"/>
          </a:xfrm>
          <a:prstGeom prst="rect">
            <a:avLst/>
          </a:prstGeom>
          <a:noFill/>
        </p:spPr>
        <p:txBody>
          <a:bodyPr wrap="square" lIns="0" rIns="0" tIns="0" bIns="0" anchor="t"/>
          <a:lstStyle/>
          <a:p>
            <a:pPr algn="l">
              <a:spcAft>
                <a:spcPts val="0"/>
              </a:spcAft>
            </a:pPr>
            <a:r>
              <a:rPr sz="4400" b="0" i="0">
                <a:solidFill>
                  <a:srgbClr val="122A4E"/>
                </a:solidFill>
                <a:latin typeface="DM Sans 14pt ExtraLight"/>
              </a:rPr>
              <a:t>60%</a:t>
            </a:r>
          </a:p>
        </p:txBody>
      </p:sp>
      <p:sp>
        <p:nvSpPr>
          <p:cNvPr id="57" name="TextBox 56"/>
          <p:cNvSpPr txBox="1"/>
          <p:nvPr/>
        </p:nvSpPr>
        <p:spPr>
          <a:xfrm>
            <a:off x="9948672" y="3520440"/>
            <a:ext cx="155448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Operating margin</a:t>
            </a:r>
          </a:p>
        </p:txBody>
      </p:sp>
      <p:sp>
        <p:nvSpPr>
          <p:cNvPr id="58" name="TextBox 57"/>
          <p:cNvSpPr txBox="1"/>
          <p:nvPr/>
        </p:nvSpPr>
        <p:spPr>
          <a:xfrm>
            <a:off x="9948672" y="3749039"/>
            <a:ext cx="1554480" cy="731520"/>
          </a:xfrm>
          <a:prstGeom prst="rect">
            <a:avLst/>
          </a:prstGeom>
          <a:noFill/>
        </p:spPr>
        <p:txBody>
          <a:bodyPr wrap="square" lIns="0" rIns="0" tIns="0" bIns="0" anchor="t"/>
          <a:lstStyle/>
          <a:p>
            <a:pPr algn="l">
              <a:spcAft>
                <a:spcPts val="0"/>
              </a:spcAft>
            </a:pPr>
            <a:r>
              <a:rPr sz="4400" b="0" i="0">
                <a:solidFill>
                  <a:srgbClr val="122A4E"/>
                </a:solidFill>
                <a:latin typeface="DM Sans 14pt ExtraLight"/>
              </a:rPr>
              <a:t>24%</a:t>
            </a:r>
          </a:p>
        </p:txBody>
      </p:sp>
      <p:sp>
        <p:nvSpPr>
          <p:cNvPr id="59" name="TextBox 58"/>
          <p:cNvSpPr txBox="1"/>
          <p:nvPr/>
        </p:nvSpPr>
        <p:spPr>
          <a:xfrm>
            <a:off x="8394192" y="4526280"/>
            <a:ext cx="3044952" cy="320040"/>
          </a:xfrm>
          <a:prstGeom prst="rect">
            <a:avLst/>
          </a:prstGeom>
          <a:noFill/>
        </p:spPr>
        <p:txBody>
          <a:bodyPr wrap="square" lIns="0" rIns="0" tIns="0" bIns="0" anchor="t"/>
          <a:lstStyle/>
          <a:p>
            <a:pPr algn="l">
              <a:spcAft>
                <a:spcPts val="0"/>
              </a:spcAft>
            </a:pPr>
            <a:r>
              <a:rPr sz="1200" b="0" i="0">
                <a:solidFill>
                  <a:srgbClr val="00509A"/>
                </a:solidFill>
                <a:latin typeface="DM Sans 14pt SemiBold"/>
              </a:rPr>
              <a:t>Within target</a:t>
            </a:r>
          </a:p>
        </p:txBody>
      </p:sp>
      <p:sp>
        <p:nvSpPr>
          <p:cNvPr id="60" name="TextBox 59"/>
          <p:cNvSpPr txBox="1"/>
          <p:nvPr/>
        </p:nvSpPr>
        <p:spPr>
          <a:xfrm>
            <a:off x="475488" y="5212080"/>
            <a:ext cx="11237976" cy="548640"/>
          </a:xfrm>
          <a:prstGeom prst="rect">
            <a:avLst/>
          </a:prstGeom>
          <a:noFill/>
        </p:spPr>
        <p:txBody>
          <a:bodyPr wrap="square" lIns="0" rIns="0" tIns="0" bIns="0" anchor="t"/>
          <a:lstStyle/>
          <a:p>
            <a:pPr algn="l">
              <a:spcAft>
                <a:spcPts val="0"/>
              </a:spcAft>
            </a:pPr>
            <a:r>
              <a:rPr sz="1400" b="0" i="0">
                <a:solidFill>
                  <a:srgbClr val="122A4E"/>
                </a:solidFill>
                <a:latin typeface="DM Sans 14pt SemiBold"/>
              </a:rPr>
              <a:t>Agency total  </a:t>
            </a:r>
            <a:r>
              <a:rPr sz="1400" b="0" i="0">
                <a:solidFill>
                  <a:srgbClr val="333333"/>
                </a:solidFill>
                <a:latin typeface="DM Sans 14pt"/>
              </a:rPr>
              <a:t>$3.25M Net Revenue  ·  52% Direct Margin  ·  17% operating margin. </a:t>
            </a:r>
            <a:r>
              <a:rPr sz="1400" b="0" i="0">
                <a:solidFill>
                  <a:srgbClr val="FF3333"/>
                </a:solidFill>
                <a:latin typeface="DM Sans 14pt SemiBold"/>
              </a:rPr>
              <a:t>One account pulls the agency below its 20% goal.</a:t>
            </a:r>
          </a:p>
        </p:txBody>
      </p:sp>
      <p:sp>
        <p:nvSpPr>
          <p:cNvPr id="61" name="TextBox 60"/>
          <p:cNvSpPr txBox="1"/>
          <p:nvPr/>
        </p:nvSpPr>
        <p:spPr>
          <a:xfrm>
            <a:off x="475488" y="5596128"/>
            <a:ext cx="8229600" cy="274320"/>
          </a:xfrm>
          <a:prstGeom prst="rect">
            <a:avLst/>
          </a:prstGeom>
          <a:noFill/>
        </p:spPr>
        <p:txBody>
          <a:bodyPr wrap="square" lIns="0" rIns="0" tIns="0" bIns="0" anchor="t"/>
          <a:lstStyle/>
          <a:p>
            <a:pPr algn="l">
              <a:spcAft>
                <a:spcPts val="0"/>
              </a:spcAft>
            </a:pPr>
            <a:r>
              <a:rPr sz="1000" b="0" i="0">
                <a:solidFill>
                  <a:srgbClr val="6B6B6B"/>
                </a:solidFill>
                <a:latin typeface="DM Sans 14pt"/>
              </a:rPr>
              <a:t>Illustrative accounts; overhead allocated at the same share of Net Revenue to each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9768" y="2240280"/>
            <a:ext cx="10515600" cy="1371600"/>
          </a:xfrm>
        </p:spPr>
        <p:txBody>
          <a:bodyPr anchor="b" wrap="none"/>
          <a:lstStyle/>
          <a:p>
            <a:r>
              <a:rPr sz="5400" b="0" i="0">
                <a:solidFill>
                  <a:srgbClr val="FFFFFF"/>
                </a:solidFill>
                <a:latin typeface="DM Sans 14pt ExtraLight"/>
              </a:rPr>
              <a:t>WTA in Action</a:t>
            </a:r>
          </a:p>
        </p:txBody>
      </p:sp>
      <p:sp>
        <p:nvSpPr>
          <p:cNvPr id="3" name="Text Placeholder 2"/>
          <p:cNvSpPr>
            <a:spLocks noGrp="1"/>
          </p:cNvSpPr>
          <p:nvPr>
            <p:ph type="body" idx="36" sz="quarter"/>
          </p:nvPr>
        </p:nvSpPr>
        <p:spPr/>
        <p:txBody>
          <a:bodyPr/>
          <a:lstStyle/>
          <a:p>
            <a:r>
              <a:t>PART 2  ·  20:00 – 38:00</a:t>
            </a:r>
          </a:p>
        </p:txBody>
      </p:sp>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WTA Commercial Operating System  |  Leadership Retreat  |  Maple Ranch</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
        <p:nvSpPr>
          <p:cNvPr id="6" name="TextBox 5"/>
          <p:cNvSpPr txBox="1"/>
          <p:nvPr/>
        </p:nvSpPr>
        <p:spPr>
          <a:xfrm>
            <a:off x="448056" y="3794760"/>
            <a:ext cx="7315200" cy="548640"/>
          </a:xfrm>
          <a:prstGeom prst="rect">
            <a:avLst/>
          </a:prstGeom>
          <a:noFill/>
        </p:spPr>
        <p:txBody>
          <a:bodyPr wrap="square" lIns="0" rIns="0" tIns="0" bIns="0" anchor="t"/>
          <a:lstStyle/>
          <a:p>
            <a:pPr algn="l">
              <a:spcAft>
                <a:spcPts val="0"/>
              </a:spcAft>
            </a:pPr>
            <a:r>
              <a:rPr sz="2200" b="0" i="0">
                <a:solidFill>
                  <a:srgbClr val="FFFFFF"/>
                </a:solidFill>
                <a:latin typeface="DM Sans 14pt"/>
              </a:rPr>
              <a:t>Front-line portfolio stewardship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You are portfolio managers</a:t>
            </a:r>
          </a:p>
        </p:txBody>
      </p:sp>
      <p:sp>
        <p:nvSpPr>
          <p:cNvPr id="3" name="Text Placeholder 2"/>
          <p:cNvSpPr>
            <a:spLocks noGrp="1"/>
          </p:cNvSpPr>
          <p:nvPr>
            <p:ph type="body" idx="36" sz="quarter"/>
          </p:nvPr>
        </p:nvSpPr>
        <p:spPr/>
        <p:txBody>
          <a:bodyPr/>
          <a:lstStyle/>
          <a:p>
            <a:r>
              <a:t>WTA IN ACTION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TextBox 20"/>
          <p:cNvSpPr txBox="1"/>
          <p:nvPr/>
        </p:nvSpPr>
        <p:spPr>
          <a:xfrm>
            <a:off x="2514600" y="1965960"/>
            <a:ext cx="3657600" cy="320040"/>
          </a:xfrm>
          <a:prstGeom prst="rect">
            <a:avLst/>
          </a:prstGeom>
          <a:noFill/>
        </p:spPr>
        <p:txBody>
          <a:bodyPr wrap="square" lIns="0" rIns="0" tIns="0" bIns="0" anchor="t"/>
          <a:lstStyle/>
          <a:p>
            <a:pPr algn="l">
              <a:spcAft>
                <a:spcPts val="0"/>
              </a:spcAft>
            </a:pPr>
            <a:r>
              <a:rPr sz="1400" b="0" i="0">
                <a:solidFill>
                  <a:srgbClr val="6B6B6B"/>
                </a:solidFill>
                <a:latin typeface="DM Sans 14pt SemiBold"/>
              </a:rPr>
              <a:t>FROM</a:t>
            </a:r>
          </a:p>
        </p:txBody>
      </p:sp>
      <p:sp>
        <p:nvSpPr>
          <p:cNvPr id="22" name="TextBox 21"/>
          <p:cNvSpPr txBox="1"/>
          <p:nvPr/>
        </p:nvSpPr>
        <p:spPr>
          <a:xfrm>
            <a:off x="7315200" y="1965960"/>
            <a:ext cx="3657600"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TO</a:t>
            </a:r>
          </a:p>
        </p:txBody>
      </p:sp>
      <p:sp>
        <p:nvSpPr>
          <p:cNvPr id="23" name="TextBox 22"/>
          <p:cNvSpPr txBox="1"/>
          <p:nvPr/>
        </p:nvSpPr>
        <p:spPr>
          <a:xfrm>
            <a:off x="475488" y="2377440"/>
            <a:ext cx="1828800" cy="1417320"/>
          </a:xfrm>
          <a:prstGeom prst="rect">
            <a:avLst/>
          </a:prstGeom>
          <a:noFill/>
        </p:spPr>
        <p:txBody>
          <a:bodyPr wrap="square" lIns="0" rIns="0" tIns="0" bIns="0" anchor="ctr"/>
          <a:lstStyle/>
          <a:p>
            <a:pPr algn="l">
              <a:spcAft>
                <a:spcPts val="0"/>
              </a:spcAft>
            </a:pPr>
            <a:r>
              <a:rPr sz="1400" b="0" i="0">
                <a:solidFill>
                  <a:srgbClr val="122A4E"/>
                </a:solidFill>
                <a:latin typeface="DM Sans 14pt SemiBold"/>
              </a:rPr>
              <a:t>ACCOUNT LEADS</a:t>
            </a:r>
          </a:p>
        </p:txBody>
      </p:sp>
      <p:sp>
        <p:nvSpPr>
          <p:cNvPr id="24" name="Rectangle 23"/>
          <p:cNvSpPr/>
          <p:nvPr/>
        </p:nvSpPr>
        <p:spPr>
          <a:xfrm>
            <a:off x="2514600" y="2377440"/>
            <a:ext cx="4114800" cy="14173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788920" y="2377440"/>
            <a:ext cx="3566160" cy="1417320"/>
          </a:xfrm>
          <a:prstGeom prst="rect">
            <a:avLst/>
          </a:prstGeom>
          <a:noFill/>
        </p:spPr>
        <p:txBody>
          <a:bodyPr wrap="square" lIns="0" rIns="0" tIns="0" bIns="0" anchor="ctr"/>
          <a:lstStyle/>
          <a:p>
            <a:pPr algn="l">
              <a:lnSpc>
                <a:spcPct val="110000"/>
              </a:lnSpc>
              <a:spcAft>
                <a:spcPts val="0"/>
              </a:spcAft>
            </a:pPr>
            <a:r>
              <a:rPr sz="1800" b="0" i="0">
                <a:solidFill>
                  <a:srgbClr val="6B6B6B"/>
                </a:solidFill>
                <a:latin typeface="DM Sans 14pt"/>
              </a:rPr>
              <a:t>Passive recipient of quarterly finance reports</a:t>
            </a:r>
          </a:p>
        </p:txBody>
      </p:sp>
      <p:sp>
        <p:nvSpPr>
          <p:cNvPr id="26" name="Right Arrow 25"/>
          <p:cNvSpPr/>
          <p:nvPr/>
        </p:nvSpPr>
        <p:spPr>
          <a:xfrm>
            <a:off x="6720840" y="2880360"/>
            <a:ext cx="411480" cy="411480"/>
          </a:xfrm>
          <a:prstGeom prst="rightArrow">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315200" y="2377440"/>
            <a:ext cx="4398264" cy="14173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589520" y="2377440"/>
            <a:ext cx="3840480" cy="1417320"/>
          </a:xfrm>
          <a:prstGeom prst="rect">
            <a:avLst/>
          </a:prstGeom>
          <a:noFill/>
        </p:spPr>
        <p:txBody>
          <a:bodyPr wrap="square" lIns="0" rIns="0" tIns="0" bIns="0" anchor="ctr"/>
          <a:lstStyle/>
          <a:p>
            <a:pPr algn="l">
              <a:lnSpc>
                <a:spcPct val="110000"/>
              </a:lnSpc>
              <a:spcAft>
                <a:spcPts val="0"/>
              </a:spcAft>
            </a:pPr>
            <a:r>
              <a:rPr sz="1800" b="0" i="0">
                <a:solidFill>
                  <a:srgbClr val="FFFFFF"/>
                </a:solidFill>
                <a:latin typeface="DM Sans 14pt SemiBold"/>
              </a:rPr>
              <a:t>Active general manager of your client portfolio’s margin</a:t>
            </a:r>
          </a:p>
        </p:txBody>
      </p:sp>
      <p:sp>
        <p:nvSpPr>
          <p:cNvPr id="29" name="TextBox 28"/>
          <p:cNvSpPr txBox="1"/>
          <p:nvPr/>
        </p:nvSpPr>
        <p:spPr>
          <a:xfrm>
            <a:off x="475488" y="4069080"/>
            <a:ext cx="1828800" cy="1417320"/>
          </a:xfrm>
          <a:prstGeom prst="rect">
            <a:avLst/>
          </a:prstGeom>
          <a:noFill/>
        </p:spPr>
        <p:txBody>
          <a:bodyPr wrap="square" lIns="0" rIns="0" tIns="0" bIns="0" anchor="ctr"/>
          <a:lstStyle/>
          <a:p>
            <a:pPr algn="l">
              <a:spcAft>
                <a:spcPts val="0"/>
              </a:spcAft>
            </a:pPr>
            <a:r>
              <a:rPr sz="1400" b="0" i="0">
                <a:solidFill>
                  <a:srgbClr val="122A4E"/>
                </a:solidFill>
                <a:latin typeface="DM Sans 14pt SemiBold"/>
              </a:rPr>
              <a:t>FINANCE</a:t>
            </a:r>
          </a:p>
        </p:txBody>
      </p:sp>
      <p:sp>
        <p:nvSpPr>
          <p:cNvPr id="30" name="Rectangle 29"/>
          <p:cNvSpPr/>
          <p:nvPr/>
        </p:nvSpPr>
        <p:spPr>
          <a:xfrm>
            <a:off x="2514600" y="4069080"/>
            <a:ext cx="4114800" cy="14173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788920" y="4069080"/>
            <a:ext cx="3566160" cy="1417320"/>
          </a:xfrm>
          <a:prstGeom prst="rect">
            <a:avLst/>
          </a:prstGeom>
          <a:noFill/>
        </p:spPr>
        <p:txBody>
          <a:bodyPr wrap="square" lIns="0" rIns="0" tIns="0" bIns="0" anchor="ctr"/>
          <a:lstStyle/>
          <a:p>
            <a:pPr algn="l">
              <a:lnSpc>
                <a:spcPct val="110000"/>
              </a:lnSpc>
              <a:spcAft>
                <a:spcPts val="0"/>
              </a:spcAft>
            </a:pPr>
            <a:r>
              <a:rPr sz="1800" b="0" i="0">
                <a:solidFill>
                  <a:srgbClr val="6B6B6B"/>
                </a:solidFill>
                <a:latin typeface="DM Sans 14pt"/>
              </a:rPr>
              <a:t>Auditor checking timesheets after the fact</a:t>
            </a:r>
          </a:p>
        </p:txBody>
      </p:sp>
      <p:sp>
        <p:nvSpPr>
          <p:cNvPr id="32" name="Right Arrow 31"/>
          <p:cNvSpPr/>
          <p:nvPr/>
        </p:nvSpPr>
        <p:spPr>
          <a:xfrm>
            <a:off x="6720840" y="4572000"/>
            <a:ext cx="411480" cy="411480"/>
          </a:xfrm>
          <a:prstGeom prst="rightArrow">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315200" y="4069080"/>
            <a:ext cx="4398264" cy="14173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589520" y="4069080"/>
            <a:ext cx="3840480" cy="1417320"/>
          </a:xfrm>
          <a:prstGeom prst="rect">
            <a:avLst/>
          </a:prstGeom>
          <a:noFill/>
        </p:spPr>
        <p:txBody>
          <a:bodyPr wrap="square" lIns="0" rIns="0" tIns="0" bIns="0" anchor="ctr"/>
          <a:lstStyle/>
          <a:p>
            <a:pPr algn="l">
              <a:lnSpc>
                <a:spcPct val="110000"/>
              </a:lnSpc>
              <a:spcAft>
                <a:spcPts val="0"/>
              </a:spcAft>
            </a:pPr>
            <a:r>
              <a:rPr sz="1800" b="0" i="0">
                <a:solidFill>
                  <a:srgbClr val="FFFFFF"/>
                </a:solidFill>
                <a:latin typeface="DM Sans 14pt SemiBold"/>
              </a:rPr>
              <a:t>Strategic co-pilot helping you price and structure growth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Five levers of client profitability you control</a:t>
            </a:r>
          </a:p>
        </p:txBody>
      </p:sp>
      <p:sp>
        <p:nvSpPr>
          <p:cNvPr id="3" name="Text Placeholder 2"/>
          <p:cNvSpPr>
            <a:spLocks noGrp="1"/>
          </p:cNvSpPr>
          <p:nvPr>
            <p:ph type="body" idx="36" sz="quarter"/>
          </p:nvPr>
        </p:nvSpPr>
        <p:spPr/>
        <p:txBody>
          <a:bodyPr/>
          <a:lstStyle/>
          <a:p>
            <a:r>
              <a:t>WTA IN ACTION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011680"/>
            <a:ext cx="2075688" cy="109728"/>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75488" y="2121408"/>
            <a:ext cx="2075688" cy="3520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6656" y="2286000"/>
            <a:ext cx="914400" cy="548640"/>
          </a:xfrm>
          <a:prstGeom prst="rect">
            <a:avLst/>
          </a:prstGeom>
          <a:noFill/>
        </p:spPr>
        <p:txBody>
          <a:bodyPr wrap="square" lIns="0" rIns="0" tIns="0" bIns="0" anchor="t"/>
          <a:lstStyle/>
          <a:p>
            <a:pPr algn="l">
              <a:spcAft>
                <a:spcPts val="0"/>
              </a:spcAft>
            </a:pPr>
            <a:r>
              <a:rPr sz="3200" b="0" i="0">
                <a:solidFill>
                  <a:srgbClr val="122A4E"/>
                </a:solidFill>
                <a:latin typeface="DM Sans 14pt ExtraLight"/>
              </a:rPr>
              <a:t>01</a:t>
            </a:r>
          </a:p>
        </p:txBody>
      </p:sp>
      <p:sp>
        <p:nvSpPr>
          <p:cNvPr id="24" name="TextBox 23"/>
          <p:cNvSpPr txBox="1"/>
          <p:nvPr/>
        </p:nvSpPr>
        <p:spPr>
          <a:xfrm>
            <a:off x="676656" y="2926080"/>
            <a:ext cx="1709928" cy="685800"/>
          </a:xfrm>
          <a:prstGeom prst="rect">
            <a:avLst/>
          </a:prstGeom>
          <a:noFill/>
        </p:spPr>
        <p:txBody>
          <a:bodyPr wrap="square" lIns="0" rIns="0" tIns="0" bIns="0" anchor="t"/>
          <a:lstStyle/>
          <a:p>
            <a:pPr algn="l">
              <a:lnSpc>
                <a:spcPct val="105000"/>
              </a:lnSpc>
              <a:spcAft>
                <a:spcPts val="0"/>
              </a:spcAft>
            </a:pPr>
            <a:r>
              <a:rPr sz="1700" b="0" i="0">
                <a:solidFill>
                  <a:srgbClr val="122A4E"/>
                </a:solidFill>
                <a:latin typeface="DM Sans 14pt SemiBold"/>
              </a:rPr>
              <a:t>Pricing with buffer</a:t>
            </a:r>
          </a:p>
        </p:txBody>
      </p:sp>
      <p:sp>
        <p:nvSpPr>
          <p:cNvPr id="25" name="TextBox 24"/>
          <p:cNvSpPr txBox="1"/>
          <p:nvPr/>
        </p:nvSpPr>
        <p:spPr>
          <a:xfrm>
            <a:off x="676656" y="3657600"/>
            <a:ext cx="1709928" cy="1874519"/>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Never discount without pulling scope. Fixed fees carry a baseline buffer of 10%+.</a:t>
            </a:r>
          </a:p>
        </p:txBody>
      </p:sp>
      <p:sp>
        <p:nvSpPr>
          <p:cNvPr id="26" name="Rectangle 25"/>
          <p:cNvSpPr/>
          <p:nvPr/>
        </p:nvSpPr>
        <p:spPr>
          <a:xfrm>
            <a:off x="2766060" y="2011680"/>
            <a:ext cx="2075688" cy="109728"/>
          </a:xfrm>
          <a:prstGeom prst="rect">
            <a:avLst/>
          </a:prstGeom>
          <a:solidFill>
            <a:srgbClr val="005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766060" y="2121408"/>
            <a:ext cx="2075688" cy="3520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967228" y="2286000"/>
            <a:ext cx="914400" cy="548640"/>
          </a:xfrm>
          <a:prstGeom prst="rect">
            <a:avLst/>
          </a:prstGeom>
          <a:noFill/>
        </p:spPr>
        <p:txBody>
          <a:bodyPr wrap="square" lIns="0" rIns="0" tIns="0" bIns="0" anchor="t"/>
          <a:lstStyle/>
          <a:p>
            <a:pPr algn="l">
              <a:spcAft>
                <a:spcPts val="0"/>
              </a:spcAft>
            </a:pPr>
            <a:r>
              <a:rPr sz="3200" b="0" i="0">
                <a:solidFill>
                  <a:srgbClr val="00509A"/>
                </a:solidFill>
                <a:latin typeface="DM Sans 14pt ExtraLight"/>
              </a:rPr>
              <a:t>02</a:t>
            </a:r>
          </a:p>
        </p:txBody>
      </p:sp>
      <p:sp>
        <p:nvSpPr>
          <p:cNvPr id="29" name="TextBox 28"/>
          <p:cNvSpPr txBox="1"/>
          <p:nvPr/>
        </p:nvSpPr>
        <p:spPr>
          <a:xfrm>
            <a:off x="2967228" y="2926080"/>
            <a:ext cx="1709928" cy="685800"/>
          </a:xfrm>
          <a:prstGeom prst="rect">
            <a:avLst/>
          </a:prstGeom>
          <a:noFill/>
        </p:spPr>
        <p:txBody>
          <a:bodyPr wrap="square" lIns="0" rIns="0" tIns="0" bIns="0" anchor="t"/>
          <a:lstStyle/>
          <a:p>
            <a:pPr algn="l">
              <a:lnSpc>
                <a:spcPct val="105000"/>
              </a:lnSpc>
              <a:spcAft>
                <a:spcPts val="0"/>
              </a:spcAft>
            </a:pPr>
            <a:r>
              <a:rPr sz="1700" b="0" i="0">
                <a:solidFill>
                  <a:srgbClr val="122A4E"/>
                </a:solidFill>
                <a:latin typeface="DM Sans 14pt SemiBold"/>
              </a:rPr>
              <a:t>Staff mix &amp; seniority</a:t>
            </a:r>
          </a:p>
        </p:txBody>
      </p:sp>
      <p:sp>
        <p:nvSpPr>
          <p:cNvPr id="30" name="TextBox 29"/>
          <p:cNvSpPr txBox="1"/>
          <p:nvPr/>
        </p:nvSpPr>
        <p:spPr>
          <a:xfrm>
            <a:off x="2967228" y="3657600"/>
            <a:ext cx="1709928" cy="1874519"/>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Match talent level to task complexity. No senior burn on commodity production.</a:t>
            </a:r>
          </a:p>
        </p:txBody>
      </p:sp>
      <p:sp>
        <p:nvSpPr>
          <p:cNvPr id="31" name="Rectangle 30"/>
          <p:cNvSpPr/>
          <p:nvPr/>
        </p:nvSpPr>
        <p:spPr>
          <a:xfrm>
            <a:off x="5056631" y="2011680"/>
            <a:ext cx="2075688" cy="109728"/>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056631" y="2121408"/>
            <a:ext cx="2075688" cy="3520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257799" y="2286000"/>
            <a:ext cx="914400" cy="548640"/>
          </a:xfrm>
          <a:prstGeom prst="rect">
            <a:avLst/>
          </a:prstGeom>
          <a:noFill/>
        </p:spPr>
        <p:txBody>
          <a:bodyPr wrap="square" lIns="0" rIns="0" tIns="0" bIns="0" anchor="t"/>
          <a:lstStyle/>
          <a:p>
            <a:pPr algn="l">
              <a:spcAft>
                <a:spcPts val="0"/>
              </a:spcAft>
            </a:pPr>
            <a:r>
              <a:rPr sz="3200" b="0" i="0">
                <a:solidFill>
                  <a:srgbClr val="FF3333"/>
                </a:solidFill>
                <a:latin typeface="DM Sans 14pt ExtraLight"/>
              </a:rPr>
              <a:t>03</a:t>
            </a:r>
          </a:p>
        </p:txBody>
      </p:sp>
      <p:sp>
        <p:nvSpPr>
          <p:cNvPr id="34" name="TextBox 33"/>
          <p:cNvSpPr txBox="1"/>
          <p:nvPr/>
        </p:nvSpPr>
        <p:spPr>
          <a:xfrm>
            <a:off x="5257799" y="2926080"/>
            <a:ext cx="1709928" cy="685800"/>
          </a:xfrm>
          <a:prstGeom prst="rect">
            <a:avLst/>
          </a:prstGeom>
          <a:noFill/>
        </p:spPr>
        <p:txBody>
          <a:bodyPr wrap="square" lIns="0" rIns="0" tIns="0" bIns="0" anchor="t"/>
          <a:lstStyle/>
          <a:p>
            <a:pPr algn="l">
              <a:lnSpc>
                <a:spcPct val="105000"/>
              </a:lnSpc>
              <a:spcAft>
                <a:spcPts val="0"/>
              </a:spcAft>
            </a:pPr>
            <a:r>
              <a:rPr sz="1700" b="0" i="0">
                <a:solidFill>
                  <a:srgbClr val="122A4E"/>
                </a:solidFill>
                <a:latin typeface="DM Sans 14pt SemiBold"/>
              </a:rPr>
              <a:t>Scope-creep control</a:t>
            </a:r>
          </a:p>
        </p:txBody>
      </p:sp>
      <p:sp>
        <p:nvSpPr>
          <p:cNvPr id="35" name="TextBox 34"/>
          <p:cNvSpPr txBox="1"/>
          <p:nvPr/>
        </p:nvSpPr>
        <p:spPr>
          <a:xfrm>
            <a:off x="5257799" y="3657600"/>
            <a:ext cx="1709928" cy="1874519"/>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Flag out-of-scope requests immediately. Swap deliverables, never work unbilled hours.</a:t>
            </a:r>
          </a:p>
        </p:txBody>
      </p:sp>
      <p:sp>
        <p:nvSpPr>
          <p:cNvPr id="36" name="Rectangle 35"/>
          <p:cNvSpPr/>
          <p:nvPr/>
        </p:nvSpPr>
        <p:spPr>
          <a:xfrm>
            <a:off x="7347204" y="2011680"/>
            <a:ext cx="2075688" cy="109728"/>
          </a:xfrm>
          <a:prstGeom prst="rect">
            <a:avLst/>
          </a:prstGeom>
          <a:solidFill>
            <a:srgbClr val="FF6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347204" y="2121408"/>
            <a:ext cx="2075688" cy="3520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548372" y="2286000"/>
            <a:ext cx="914400" cy="548640"/>
          </a:xfrm>
          <a:prstGeom prst="rect">
            <a:avLst/>
          </a:prstGeom>
          <a:noFill/>
        </p:spPr>
        <p:txBody>
          <a:bodyPr wrap="square" lIns="0" rIns="0" tIns="0" bIns="0" anchor="t"/>
          <a:lstStyle/>
          <a:p>
            <a:pPr algn="l">
              <a:spcAft>
                <a:spcPts val="0"/>
              </a:spcAft>
            </a:pPr>
            <a:r>
              <a:rPr sz="3200" b="0" i="0">
                <a:solidFill>
                  <a:srgbClr val="FF6633"/>
                </a:solidFill>
                <a:latin typeface="DM Sans 14pt ExtraLight"/>
              </a:rPr>
              <a:t>04</a:t>
            </a:r>
          </a:p>
        </p:txBody>
      </p:sp>
      <p:sp>
        <p:nvSpPr>
          <p:cNvPr id="39" name="TextBox 38"/>
          <p:cNvSpPr txBox="1"/>
          <p:nvPr/>
        </p:nvSpPr>
        <p:spPr>
          <a:xfrm>
            <a:off x="7548372" y="2926080"/>
            <a:ext cx="1709928" cy="685800"/>
          </a:xfrm>
          <a:prstGeom prst="rect">
            <a:avLst/>
          </a:prstGeom>
          <a:noFill/>
        </p:spPr>
        <p:txBody>
          <a:bodyPr wrap="square" lIns="0" rIns="0" tIns="0" bIns="0" anchor="t"/>
          <a:lstStyle/>
          <a:p>
            <a:pPr algn="l">
              <a:lnSpc>
                <a:spcPct val="105000"/>
              </a:lnSpc>
              <a:spcAft>
                <a:spcPts val="0"/>
              </a:spcAft>
            </a:pPr>
            <a:r>
              <a:rPr sz="1700" b="0" i="0">
                <a:solidFill>
                  <a:srgbClr val="122A4E"/>
                </a:solidFill>
                <a:latin typeface="DM Sans 14pt SemiBold"/>
              </a:rPr>
              <a:t>Contract &amp; terms hygiene</a:t>
            </a:r>
          </a:p>
        </p:txBody>
      </p:sp>
      <p:sp>
        <p:nvSpPr>
          <p:cNvPr id="40" name="TextBox 39"/>
          <p:cNvSpPr txBox="1"/>
          <p:nvPr/>
        </p:nvSpPr>
        <p:spPr>
          <a:xfrm>
            <a:off x="7548372" y="3657600"/>
            <a:ext cx="1709928" cy="1874519"/>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Signed estimates and POs before kickoff. Eliminate WIP write-offs.</a:t>
            </a:r>
          </a:p>
        </p:txBody>
      </p:sp>
      <p:sp>
        <p:nvSpPr>
          <p:cNvPr id="41" name="Rectangle 40"/>
          <p:cNvSpPr/>
          <p:nvPr/>
        </p:nvSpPr>
        <p:spPr>
          <a:xfrm>
            <a:off x="9637776" y="2011680"/>
            <a:ext cx="2075688" cy="109728"/>
          </a:xfrm>
          <a:prstGeom prst="rect">
            <a:avLst/>
          </a:prstGeom>
          <a:solidFill>
            <a:srgbClr val="00A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9637776" y="2121408"/>
            <a:ext cx="2075688" cy="3520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838944" y="2286000"/>
            <a:ext cx="914400" cy="548640"/>
          </a:xfrm>
          <a:prstGeom prst="rect">
            <a:avLst/>
          </a:prstGeom>
          <a:noFill/>
        </p:spPr>
        <p:txBody>
          <a:bodyPr wrap="square" lIns="0" rIns="0" tIns="0" bIns="0" anchor="t"/>
          <a:lstStyle/>
          <a:p>
            <a:pPr algn="l">
              <a:spcAft>
                <a:spcPts val="0"/>
              </a:spcAft>
            </a:pPr>
            <a:r>
              <a:rPr sz="3200" b="0" i="0">
                <a:solidFill>
                  <a:srgbClr val="00509A"/>
                </a:solidFill>
                <a:latin typeface="DM Sans 14pt ExtraLight"/>
              </a:rPr>
              <a:t>05</a:t>
            </a:r>
          </a:p>
        </p:txBody>
      </p:sp>
      <p:sp>
        <p:nvSpPr>
          <p:cNvPr id="44" name="TextBox 43"/>
          <p:cNvSpPr txBox="1"/>
          <p:nvPr/>
        </p:nvSpPr>
        <p:spPr>
          <a:xfrm>
            <a:off x="9838944" y="2926080"/>
            <a:ext cx="1709928" cy="685800"/>
          </a:xfrm>
          <a:prstGeom prst="rect">
            <a:avLst/>
          </a:prstGeom>
          <a:noFill/>
        </p:spPr>
        <p:txBody>
          <a:bodyPr wrap="square" lIns="0" rIns="0" tIns="0" bIns="0" anchor="t"/>
          <a:lstStyle/>
          <a:p>
            <a:pPr algn="l">
              <a:lnSpc>
                <a:spcPct val="105000"/>
              </a:lnSpc>
              <a:spcAft>
                <a:spcPts val="0"/>
              </a:spcAft>
            </a:pPr>
            <a:r>
              <a:rPr sz="1700" b="0" i="0">
                <a:solidFill>
                  <a:srgbClr val="122A4E"/>
                </a:solidFill>
                <a:latin typeface="DM Sans 14pt SemiBold"/>
              </a:rPr>
              <a:t>Utilization planning</a:t>
            </a:r>
          </a:p>
        </p:txBody>
      </p:sp>
      <p:sp>
        <p:nvSpPr>
          <p:cNvPr id="45" name="TextBox 44"/>
          <p:cNvSpPr txBox="1"/>
          <p:nvPr/>
        </p:nvSpPr>
        <p:spPr>
          <a:xfrm>
            <a:off x="9838944" y="3657600"/>
            <a:ext cx="1709928" cy="1874519"/>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Partner with resource management so project gaps don’t become idle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Top-down sets ambition. Bottoms-up delivers it.</a:t>
            </a:r>
          </a:p>
        </p:txBody>
      </p:sp>
      <p:sp>
        <p:nvSpPr>
          <p:cNvPr id="3" name="Text Placeholder 2"/>
          <p:cNvSpPr>
            <a:spLocks noGrp="1"/>
          </p:cNvSpPr>
          <p:nvPr>
            <p:ph type="body" idx="36" sz="quarter"/>
          </p:nvPr>
        </p:nvSpPr>
        <p:spPr/>
        <p:txBody>
          <a:bodyPr/>
          <a:lstStyle/>
          <a:p>
            <a:r>
              <a:t>WTA IN ACTION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011680"/>
            <a:ext cx="5486400" cy="269748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95528" y="2194560"/>
            <a:ext cx="4846320" cy="320040"/>
          </a:xfrm>
          <a:prstGeom prst="rect">
            <a:avLst/>
          </a:prstGeom>
          <a:noFill/>
        </p:spPr>
        <p:txBody>
          <a:bodyPr wrap="square" lIns="0" rIns="0" tIns="0" bIns="0" anchor="t"/>
          <a:lstStyle/>
          <a:p>
            <a:pPr algn="l">
              <a:spcAft>
                <a:spcPts val="0"/>
              </a:spcAft>
            </a:pPr>
            <a:r>
              <a:rPr sz="1400" b="0" i="0">
                <a:solidFill>
                  <a:srgbClr val="66CCCC"/>
                </a:solidFill>
                <a:latin typeface="DM Sans 14pt SemiBold"/>
              </a:rPr>
              <a:t>TOP-DOWN STRATEGY</a:t>
            </a:r>
          </a:p>
        </p:txBody>
      </p:sp>
      <p:sp>
        <p:nvSpPr>
          <p:cNvPr id="23" name="TextBox 22"/>
          <p:cNvSpPr txBox="1"/>
          <p:nvPr/>
        </p:nvSpPr>
        <p:spPr>
          <a:xfrm>
            <a:off x="795528" y="2560320"/>
            <a:ext cx="4846320" cy="411480"/>
          </a:xfrm>
          <a:prstGeom prst="rect">
            <a:avLst/>
          </a:prstGeom>
          <a:noFill/>
        </p:spPr>
        <p:txBody>
          <a:bodyPr wrap="square" lIns="0" rIns="0" tIns="0" bIns="0" anchor="t"/>
          <a:lstStyle/>
          <a:p>
            <a:pPr algn="l">
              <a:spcAft>
                <a:spcPts val="0"/>
              </a:spcAft>
            </a:pPr>
            <a:r>
              <a:rPr sz="2200" b="0" i="0">
                <a:solidFill>
                  <a:srgbClr val="FFFFFF"/>
                </a:solidFill>
                <a:latin typeface="DM Sans 14pt"/>
              </a:rPr>
              <a:t>Leadership &amp; Finance</a:t>
            </a:r>
          </a:p>
        </p:txBody>
      </p:sp>
      <p:sp>
        <p:nvSpPr>
          <p:cNvPr id="24" name="TextBox 23"/>
          <p:cNvSpPr txBox="1"/>
          <p:nvPr/>
        </p:nvSpPr>
        <p:spPr>
          <a:xfrm>
            <a:off x="795528" y="3154680"/>
            <a:ext cx="4846320" cy="1463040"/>
          </a:xfrm>
          <a:prstGeom prst="rect">
            <a:avLst/>
          </a:prstGeom>
          <a:noFill/>
        </p:spPr>
        <p:txBody>
          <a:bodyPr wrap="square" lIns="0" rIns="0" tIns="0" bIns="0" anchor="t"/>
          <a:lstStyle/>
          <a:p>
            <a:pPr algn="l" marL="201168" indent="-201168">
              <a:spcAft>
                <a:spcPts val="400"/>
              </a:spcAft>
              <a:buClr>
                <a:srgbClr val="66CCCC"/>
              </a:buClr>
              <a:buFont typeface="Arial"/>
              <a:buChar char="•"/>
            </a:pPr>
            <a:r>
              <a:rPr sz="1500" b="0" i="0">
                <a:solidFill>
                  <a:srgbClr val="FFFFFF"/>
                </a:solidFill>
                <a:latin typeface="DM Sans 14pt"/>
              </a:rPr>
              <a:t>Annual growth ambition</a:t>
            </a:r>
          </a:p>
          <a:p>
            <a:pPr algn="l" marL="201168" indent="-201168">
              <a:spcAft>
                <a:spcPts val="400"/>
              </a:spcAft>
              <a:buClr>
                <a:srgbClr val="66CCCC"/>
              </a:buClr>
              <a:buFont typeface="Arial"/>
              <a:buChar char="•"/>
            </a:pPr>
            <a:r>
              <a:rPr sz="1500" b="0" i="0">
                <a:solidFill>
                  <a:srgbClr val="FFFFFF"/>
                </a:solidFill>
                <a:latin typeface="DM Sans 14pt"/>
              </a:rPr>
              <a:t>Agency profit targets</a:t>
            </a:r>
          </a:p>
          <a:p>
            <a:pPr algn="l" marL="201168" indent="-201168">
              <a:spcAft>
                <a:spcPts val="400"/>
              </a:spcAft>
              <a:buClr>
                <a:srgbClr val="66CCCC"/>
              </a:buClr>
              <a:buFont typeface="Arial"/>
              <a:buChar char="•"/>
            </a:pPr>
            <a:r>
              <a:rPr sz="1500" b="0" i="0">
                <a:solidFill>
                  <a:srgbClr val="FFFFFF"/>
                </a:solidFill>
                <a:latin typeface="DM Sans 14pt"/>
              </a:rPr>
              <a:t>FY2027 targets set by portfolio</a:t>
            </a:r>
          </a:p>
        </p:txBody>
      </p:sp>
      <p:sp>
        <p:nvSpPr>
          <p:cNvPr id="25" name="Rectangle 24"/>
          <p:cNvSpPr/>
          <p:nvPr/>
        </p:nvSpPr>
        <p:spPr>
          <a:xfrm>
            <a:off x="6227064" y="2011680"/>
            <a:ext cx="5486400" cy="26974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47104" y="2194560"/>
            <a:ext cx="4846320"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BOTTOMS-UP REALITY</a:t>
            </a:r>
          </a:p>
        </p:txBody>
      </p:sp>
      <p:sp>
        <p:nvSpPr>
          <p:cNvPr id="27" name="TextBox 26"/>
          <p:cNvSpPr txBox="1"/>
          <p:nvPr/>
        </p:nvSpPr>
        <p:spPr>
          <a:xfrm>
            <a:off x="6547104" y="2560320"/>
            <a:ext cx="4846320" cy="411480"/>
          </a:xfrm>
          <a:prstGeom prst="rect">
            <a:avLst/>
          </a:prstGeom>
          <a:noFill/>
        </p:spPr>
        <p:txBody>
          <a:bodyPr wrap="square" lIns="0" rIns="0" tIns="0" bIns="0" anchor="t"/>
          <a:lstStyle/>
          <a:p>
            <a:pPr algn="l">
              <a:spcAft>
                <a:spcPts val="0"/>
              </a:spcAft>
            </a:pPr>
            <a:r>
              <a:rPr sz="2200" b="0" i="0">
                <a:solidFill>
                  <a:srgbClr val="122A4E"/>
                </a:solidFill>
                <a:latin typeface="DM Sans 14pt"/>
              </a:rPr>
              <a:t>Account leads</a:t>
            </a:r>
          </a:p>
        </p:txBody>
      </p:sp>
      <p:sp>
        <p:nvSpPr>
          <p:cNvPr id="28" name="TextBox 27"/>
          <p:cNvSpPr txBox="1"/>
          <p:nvPr/>
        </p:nvSpPr>
        <p:spPr>
          <a:xfrm>
            <a:off x="6547104" y="3154680"/>
            <a:ext cx="4846320" cy="1463040"/>
          </a:xfrm>
          <a:prstGeom prst="rect">
            <a:avLst/>
          </a:prstGeom>
          <a:noFill/>
        </p:spPr>
        <p:txBody>
          <a:bodyPr wrap="square" lIns="0" rIns="0" tIns="0" bIns="0" anchor="t"/>
          <a:lstStyle/>
          <a:p>
            <a:pPr algn="l" marL="201168" indent="-201168">
              <a:spcAft>
                <a:spcPts val="400"/>
              </a:spcAft>
              <a:buClr>
                <a:srgbClr val="FF3333"/>
              </a:buClr>
              <a:buFont typeface="Arial"/>
              <a:buChar char="•"/>
            </a:pPr>
            <a:r>
              <a:rPr sz="1500" b="0" i="0">
                <a:solidFill>
                  <a:srgbClr val="122A4E"/>
                </a:solidFill>
                <a:latin typeface="DM Sans 14pt"/>
              </a:rPr>
              <a:t>Pipeline likelihood by client</a:t>
            </a:r>
          </a:p>
          <a:p>
            <a:pPr algn="l" marL="201168" indent="-201168">
              <a:spcAft>
                <a:spcPts val="400"/>
              </a:spcAft>
              <a:buClr>
                <a:srgbClr val="FF3333"/>
              </a:buClr>
              <a:buFont typeface="Arial"/>
              <a:buChar char="•"/>
            </a:pPr>
            <a:r>
              <a:rPr sz="1500" b="0" i="0">
                <a:solidFill>
                  <a:srgbClr val="122A4E"/>
                </a:solidFill>
                <a:latin typeface="DM Sans 14pt"/>
              </a:rPr>
              <a:t>Renewal dates and risks</a:t>
            </a:r>
          </a:p>
          <a:p>
            <a:pPr algn="l" marL="201168" indent="-201168">
              <a:spcAft>
                <a:spcPts val="400"/>
              </a:spcAft>
              <a:buClr>
                <a:srgbClr val="FF3333"/>
              </a:buClr>
              <a:buFont typeface="Arial"/>
              <a:buChar char="•"/>
            </a:pPr>
            <a:r>
              <a:rPr sz="1500" b="0" i="0">
                <a:solidFill>
                  <a:srgbClr val="122A4E"/>
                </a:solidFill>
                <a:latin typeface="DM Sans 14pt"/>
              </a:rPr>
              <a:t>Scope expansions and reductions</a:t>
            </a:r>
          </a:p>
          <a:p>
            <a:pPr algn="l" marL="201168" indent="-201168">
              <a:spcAft>
                <a:spcPts val="400"/>
              </a:spcAft>
              <a:buClr>
                <a:srgbClr val="FF3333"/>
              </a:buClr>
              <a:buFont typeface="Arial"/>
              <a:buChar char="•"/>
            </a:pPr>
            <a:r>
              <a:rPr sz="1500" b="0" i="0">
                <a:solidFill>
                  <a:srgbClr val="122A4E"/>
                </a:solidFill>
                <a:latin typeface="DM Sans 14pt"/>
              </a:rPr>
              <a:t>Monthly forecast updates</a:t>
            </a:r>
          </a:p>
        </p:txBody>
      </p:sp>
      <p:sp>
        <p:nvSpPr>
          <p:cNvPr id="29" name="Rectangle 28"/>
          <p:cNvSpPr/>
          <p:nvPr/>
        </p:nvSpPr>
        <p:spPr>
          <a:xfrm>
            <a:off x="475488" y="4937760"/>
            <a:ext cx="11237976" cy="777240"/>
          </a:xfrm>
          <a:prstGeom prst="rect">
            <a:avLst/>
          </a:prstGeom>
          <a:noFill/>
          <a:ln w="15875">
            <a:solidFill>
              <a:srgbClr val="122A4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4937760"/>
            <a:ext cx="10698480" cy="777240"/>
          </a:xfrm>
          <a:prstGeom prst="rect">
            <a:avLst/>
          </a:prstGeom>
          <a:noFill/>
        </p:spPr>
        <p:txBody>
          <a:bodyPr wrap="square" lIns="0" rIns="0" tIns="0" bIns="0" anchor="ctr"/>
          <a:lstStyle/>
          <a:p>
            <a:pPr algn="l">
              <a:spcAft>
                <a:spcPts val="0"/>
              </a:spcAft>
            </a:pPr>
            <a:r>
              <a:rPr sz="1600" b="0" i="0">
                <a:solidFill>
                  <a:srgbClr val="FF3333"/>
                </a:solidFill>
                <a:latin typeface="DM Sans 14pt SemiBold"/>
              </a:rPr>
              <a:t>The hybrid  </a:t>
            </a:r>
            <a:r>
              <a:rPr sz="1600" b="0" i="0">
                <a:solidFill>
                  <a:srgbClr val="122A4E"/>
                </a:solidFill>
                <a:latin typeface="DM Sans 14pt"/>
              </a:rPr>
              <a:t>FY2027 targets are assigned by portfolio and managed dynamically, month by month, by the accounts within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Segment your FY2027 portfolio</a:t>
            </a:r>
          </a:p>
        </p:txBody>
      </p:sp>
      <p:sp>
        <p:nvSpPr>
          <p:cNvPr id="3" name="Text Placeholder 2"/>
          <p:cNvSpPr>
            <a:spLocks noGrp="1"/>
          </p:cNvSpPr>
          <p:nvPr>
            <p:ph type="body" idx="36" sz="quarter"/>
          </p:nvPr>
        </p:nvSpPr>
        <p:spPr/>
        <p:txBody>
          <a:bodyPr/>
          <a:lstStyle/>
          <a:p>
            <a:r>
              <a:t>WTA IN ACTION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011680"/>
            <a:ext cx="5486400" cy="17373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795528" y="2331720"/>
            <a:ext cx="548640" cy="54864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01</a:t>
            </a:r>
          </a:p>
        </p:txBody>
      </p:sp>
      <p:sp>
        <p:nvSpPr>
          <p:cNvPr id="23" name="TextBox 22"/>
          <p:cNvSpPr txBox="1"/>
          <p:nvPr/>
        </p:nvSpPr>
        <p:spPr>
          <a:xfrm>
            <a:off x="1572768" y="2313432"/>
            <a:ext cx="4114800" cy="548640"/>
          </a:xfrm>
          <a:prstGeom prst="rect">
            <a:avLst/>
          </a:prstGeom>
          <a:noFill/>
        </p:spPr>
        <p:txBody>
          <a:bodyPr wrap="square" lIns="0" rIns="0" tIns="0" bIns="0" anchor="ctr"/>
          <a:lstStyle/>
          <a:p>
            <a:pPr algn="l">
              <a:spcAft>
                <a:spcPts val="0"/>
              </a:spcAft>
            </a:pPr>
            <a:r>
              <a:rPr sz="2400" b="0" i="0">
                <a:solidFill>
                  <a:srgbClr val="122A4E"/>
                </a:solidFill>
                <a:latin typeface="DM Sans 14pt"/>
              </a:rPr>
              <a:t>Growth</a:t>
            </a:r>
          </a:p>
        </p:txBody>
      </p:sp>
      <p:sp>
        <p:nvSpPr>
          <p:cNvPr id="24" name="TextBox 23"/>
          <p:cNvSpPr txBox="1"/>
          <p:nvPr/>
        </p:nvSpPr>
        <p:spPr>
          <a:xfrm>
            <a:off x="1572768" y="2926080"/>
            <a:ext cx="4114800" cy="68580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Proactive upsells; introduce new solution sets</a:t>
            </a:r>
          </a:p>
        </p:txBody>
      </p:sp>
      <p:sp>
        <p:nvSpPr>
          <p:cNvPr id="25" name="Rectangle 24"/>
          <p:cNvSpPr/>
          <p:nvPr/>
        </p:nvSpPr>
        <p:spPr>
          <a:xfrm>
            <a:off x="6227064" y="2011680"/>
            <a:ext cx="5486400" cy="17373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547104" y="2331720"/>
            <a:ext cx="548640" cy="54864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02</a:t>
            </a:r>
          </a:p>
        </p:txBody>
      </p:sp>
      <p:sp>
        <p:nvSpPr>
          <p:cNvPr id="27" name="TextBox 26"/>
          <p:cNvSpPr txBox="1"/>
          <p:nvPr/>
        </p:nvSpPr>
        <p:spPr>
          <a:xfrm>
            <a:off x="7324344" y="2313432"/>
            <a:ext cx="4114800" cy="548640"/>
          </a:xfrm>
          <a:prstGeom prst="rect">
            <a:avLst/>
          </a:prstGeom>
          <a:noFill/>
        </p:spPr>
        <p:txBody>
          <a:bodyPr wrap="square" lIns="0" rIns="0" tIns="0" bIns="0" anchor="ctr"/>
          <a:lstStyle/>
          <a:p>
            <a:pPr algn="l">
              <a:spcAft>
                <a:spcPts val="0"/>
              </a:spcAft>
            </a:pPr>
            <a:r>
              <a:rPr sz="2400" b="0" i="0">
                <a:solidFill>
                  <a:srgbClr val="122A4E"/>
                </a:solidFill>
                <a:latin typeface="DM Sans 14pt"/>
              </a:rPr>
              <a:t>Maintenance</a:t>
            </a:r>
          </a:p>
        </p:txBody>
      </p:sp>
      <p:sp>
        <p:nvSpPr>
          <p:cNvPr id="28" name="TextBox 27"/>
          <p:cNvSpPr txBox="1"/>
          <p:nvPr/>
        </p:nvSpPr>
        <p:spPr>
          <a:xfrm>
            <a:off x="7324344" y="2926080"/>
            <a:ext cx="4114800" cy="68580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Scope standardization, operational efficiency, margin defense</a:t>
            </a:r>
          </a:p>
        </p:txBody>
      </p:sp>
      <p:sp>
        <p:nvSpPr>
          <p:cNvPr id="29" name="Rectangle 28"/>
          <p:cNvSpPr/>
          <p:nvPr/>
        </p:nvSpPr>
        <p:spPr>
          <a:xfrm>
            <a:off x="475488" y="3931920"/>
            <a:ext cx="5486400" cy="17373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795528" y="4251960"/>
            <a:ext cx="548640" cy="548640"/>
          </a:xfrm>
          <a:prstGeom prst="ellipse">
            <a:avLst/>
          </a:prstGeom>
          <a:solidFill>
            <a:srgbClr val="00509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03</a:t>
            </a:r>
          </a:p>
        </p:txBody>
      </p:sp>
      <p:sp>
        <p:nvSpPr>
          <p:cNvPr id="31" name="TextBox 30"/>
          <p:cNvSpPr txBox="1"/>
          <p:nvPr/>
        </p:nvSpPr>
        <p:spPr>
          <a:xfrm>
            <a:off x="1572768" y="4233672"/>
            <a:ext cx="4114800" cy="548640"/>
          </a:xfrm>
          <a:prstGeom prst="rect">
            <a:avLst/>
          </a:prstGeom>
          <a:noFill/>
        </p:spPr>
        <p:txBody>
          <a:bodyPr wrap="square" lIns="0" rIns="0" tIns="0" bIns="0" anchor="ctr"/>
          <a:lstStyle/>
          <a:p>
            <a:pPr algn="l">
              <a:spcAft>
                <a:spcPts val="0"/>
              </a:spcAft>
            </a:pPr>
            <a:r>
              <a:rPr sz="2400" b="0" i="0">
                <a:solidFill>
                  <a:srgbClr val="122A4E"/>
                </a:solidFill>
                <a:latin typeface="DM Sans 14pt"/>
              </a:rPr>
              <a:t>Attrition / declining</a:t>
            </a:r>
          </a:p>
        </p:txBody>
      </p:sp>
      <p:sp>
        <p:nvSpPr>
          <p:cNvPr id="32" name="TextBox 31"/>
          <p:cNvSpPr txBox="1"/>
          <p:nvPr/>
        </p:nvSpPr>
        <p:spPr>
          <a:xfrm>
            <a:off x="1572768" y="4846320"/>
            <a:ext cx="4114800" cy="68580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Managed resource reallocation to protect margin</a:t>
            </a:r>
          </a:p>
        </p:txBody>
      </p:sp>
      <p:sp>
        <p:nvSpPr>
          <p:cNvPr id="33" name="Rectangle 32"/>
          <p:cNvSpPr/>
          <p:nvPr/>
        </p:nvSpPr>
        <p:spPr>
          <a:xfrm>
            <a:off x="6227064" y="3931920"/>
            <a:ext cx="5486400" cy="17373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547104" y="4251960"/>
            <a:ext cx="548640" cy="548640"/>
          </a:xfrm>
          <a:prstGeom prst="ellipse">
            <a:avLst/>
          </a:prstGeom>
          <a:solidFill>
            <a:srgbClr val="FF66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04</a:t>
            </a:r>
          </a:p>
        </p:txBody>
      </p:sp>
      <p:sp>
        <p:nvSpPr>
          <p:cNvPr id="35" name="TextBox 34"/>
          <p:cNvSpPr txBox="1"/>
          <p:nvPr/>
        </p:nvSpPr>
        <p:spPr>
          <a:xfrm>
            <a:off x="7324344" y="4233672"/>
            <a:ext cx="4114800" cy="548640"/>
          </a:xfrm>
          <a:prstGeom prst="rect">
            <a:avLst/>
          </a:prstGeom>
          <a:noFill/>
        </p:spPr>
        <p:txBody>
          <a:bodyPr wrap="square" lIns="0" rIns="0" tIns="0" bIns="0" anchor="ctr"/>
          <a:lstStyle/>
          <a:p>
            <a:pPr algn="l">
              <a:spcAft>
                <a:spcPts val="0"/>
              </a:spcAft>
            </a:pPr>
            <a:r>
              <a:rPr sz="2400" b="0" i="0">
                <a:solidFill>
                  <a:srgbClr val="122A4E"/>
                </a:solidFill>
                <a:latin typeface="DM Sans 14pt"/>
              </a:rPr>
              <a:t>New business</a:t>
            </a:r>
          </a:p>
        </p:txBody>
      </p:sp>
      <p:sp>
        <p:nvSpPr>
          <p:cNvPr id="36" name="TextBox 35"/>
          <p:cNvSpPr txBox="1"/>
          <p:nvPr/>
        </p:nvSpPr>
        <p:spPr>
          <a:xfrm>
            <a:off x="7324344" y="4846320"/>
            <a:ext cx="4114800" cy="68580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Standardized Solution Sets from proposal day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9768" y="2240280"/>
            <a:ext cx="10515600" cy="1371600"/>
          </a:xfrm>
        </p:spPr>
        <p:txBody>
          <a:bodyPr anchor="b" wrap="none"/>
          <a:lstStyle/>
          <a:p>
            <a:r>
              <a:rPr sz="5400" b="0" i="0">
                <a:solidFill>
                  <a:srgbClr val="FFFFFF"/>
                </a:solidFill>
                <a:latin typeface="DM Sans 14pt ExtraLight"/>
              </a:rPr>
              <a:t>The Commercial Operating System</a:t>
            </a:r>
          </a:p>
        </p:txBody>
      </p:sp>
      <p:sp>
        <p:nvSpPr>
          <p:cNvPr id="3" name="Text Placeholder 2"/>
          <p:cNvSpPr>
            <a:spLocks noGrp="1"/>
          </p:cNvSpPr>
          <p:nvPr>
            <p:ph type="body" idx="36" sz="quarter"/>
          </p:nvPr>
        </p:nvSpPr>
        <p:spPr/>
        <p:txBody>
          <a:bodyPr/>
          <a:lstStyle/>
          <a:p>
            <a:r>
              <a:t>PART 3  ·  38:00 – 55:00</a:t>
            </a:r>
          </a:p>
        </p:txBody>
      </p:sp>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WTA Commercial Operating System  |  Leadership Retreat  |  Maple Ranch</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
        <p:nvSpPr>
          <p:cNvPr id="6" name="TextBox 5"/>
          <p:cNvSpPr txBox="1"/>
          <p:nvPr/>
        </p:nvSpPr>
        <p:spPr>
          <a:xfrm>
            <a:off x="448056" y="3794760"/>
            <a:ext cx="7315200" cy="548640"/>
          </a:xfrm>
          <a:prstGeom prst="rect">
            <a:avLst/>
          </a:prstGeom>
          <a:noFill/>
        </p:spPr>
        <p:txBody>
          <a:bodyPr wrap="square" lIns="0" rIns="0" tIns="0" bIns="0" anchor="t"/>
          <a:lstStyle/>
          <a:p>
            <a:pPr algn="l">
              <a:spcAft>
                <a:spcPts val="0"/>
              </a:spcAft>
            </a:pPr>
            <a:r>
              <a:rPr sz="2200" b="0" i="0">
                <a:solidFill>
                  <a:srgbClr val="FFFFFF"/>
                </a:solidFill>
                <a:latin typeface="DM Sans 14pt"/>
              </a:rPr>
              <a:t>Compete on value, not hours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Five pillars, one system</a:t>
            </a:r>
          </a:p>
        </p:txBody>
      </p:sp>
      <p:sp>
        <p:nvSpPr>
          <p:cNvPr id="3" name="Text Placeholder 2"/>
          <p:cNvSpPr>
            <a:spLocks noGrp="1"/>
          </p:cNvSpPr>
          <p:nvPr>
            <p:ph type="body" idx="36" sz="quarter"/>
          </p:nvPr>
        </p:nvSpPr>
        <p:spPr/>
        <p:txBody>
          <a:bodyPr/>
          <a:lstStyle/>
          <a:p>
            <a:r>
              <a:t>THE COMMERCIAL OPERATING SYSTEM</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TextBox 20"/>
          <p:cNvSpPr txBox="1"/>
          <p:nvPr/>
        </p:nvSpPr>
        <p:spPr>
          <a:xfrm>
            <a:off x="475488" y="1783080"/>
            <a:ext cx="11237976" cy="365760"/>
          </a:xfrm>
          <a:prstGeom prst="rect">
            <a:avLst/>
          </a:prstGeom>
          <a:noFill/>
        </p:spPr>
        <p:txBody>
          <a:bodyPr wrap="square" lIns="0" rIns="0" tIns="0" bIns="0" anchor="t"/>
          <a:lstStyle/>
          <a:p>
            <a:pPr algn="l">
              <a:spcAft>
                <a:spcPts val="0"/>
              </a:spcAft>
            </a:pPr>
            <a:r>
              <a:rPr sz="1600" b="0" i="0">
                <a:solidFill>
                  <a:srgbClr val="6B6B6B"/>
                </a:solidFill>
                <a:latin typeface="DM Sans 14pt"/>
              </a:rPr>
              <a:t>How WTA will consistently create, price, sell, contract, deliver and measure value</a:t>
            </a:r>
          </a:p>
        </p:txBody>
      </p:sp>
      <p:sp>
        <p:nvSpPr>
          <p:cNvPr id="22" name="TextBox 21"/>
          <p:cNvSpPr txBox="1"/>
          <p:nvPr/>
        </p:nvSpPr>
        <p:spPr>
          <a:xfrm>
            <a:off x="475488" y="2331720"/>
            <a:ext cx="822960" cy="566928"/>
          </a:xfrm>
          <a:prstGeom prst="rect">
            <a:avLst/>
          </a:prstGeom>
          <a:noFill/>
        </p:spPr>
        <p:txBody>
          <a:bodyPr wrap="square" lIns="0" rIns="0" tIns="0" bIns="0" anchor="ctr"/>
          <a:lstStyle/>
          <a:p>
            <a:pPr algn="l">
              <a:spcAft>
                <a:spcPts val="0"/>
              </a:spcAft>
            </a:pPr>
            <a:r>
              <a:rPr sz="3000" b="0" i="0">
                <a:solidFill>
                  <a:srgbClr val="FF3333"/>
                </a:solidFill>
                <a:latin typeface="DM Sans 14pt ExtraLight"/>
              </a:rPr>
              <a:t>01</a:t>
            </a:r>
          </a:p>
        </p:txBody>
      </p:sp>
      <p:sp>
        <p:nvSpPr>
          <p:cNvPr id="23" name="TextBox 22"/>
          <p:cNvSpPr txBox="1"/>
          <p:nvPr/>
        </p:nvSpPr>
        <p:spPr>
          <a:xfrm>
            <a:off x="1325880" y="2331720"/>
            <a:ext cx="3291840" cy="566928"/>
          </a:xfrm>
          <a:prstGeom prst="rect">
            <a:avLst/>
          </a:prstGeom>
          <a:noFill/>
        </p:spPr>
        <p:txBody>
          <a:bodyPr wrap="square" lIns="0" rIns="0" tIns="0" bIns="0" anchor="ctr"/>
          <a:lstStyle/>
          <a:p>
            <a:pPr algn="l">
              <a:spcAft>
                <a:spcPts val="0"/>
              </a:spcAft>
            </a:pPr>
            <a:r>
              <a:rPr sz="2000" b="0" i="0">
                <a:solidFill>
                  <a:srgbClr val="122A4E"/>
                </a:solidFill>
                <a:latin typeface="DM Sans 14pt SemiBold"/>
              </a:rPr>
              <a:t>Commercial strategy</a:t>
            </a:r>
          </a:p>
        </p:txBody>
      </p:sp>
      <p:sp>
        <p:nvSpPr>
          <p:cNvPr id="24" name="TextBox 23"/>
          <p:cNvSpPr txBox="1"/>
          <p:nvPr/>
        </p:nvSpPr>
        <p:spPr>
          <a:xfrm>
            <a:off x="4709160" y="2331720"/>
            <a:ext cx="7004304" cy="566928"/>
          </a:xfrm>
          <a:prstGeom prst="rect">
            <a:avLst/>
          </a:prstGeom>
          <a:noFill/>
        </p:spPr>
        <p:txBody>
          <a:bodyPr wrap="square" lIns="0" rIns="0" tIns="0" bIns="0" anchor="ctr"/>
          <a:lstStyle/>
          <a:p>
            <a:pPr algn="l">
              <a:lnSpc>
                <a:spcPct val="110000"/>
              </a:lnSpc>
              <a:spcAft>
                <a:spcPts val="0"/>
              </a:spcAft>
            </a:pPr>
            <a:r>
              <a:rPr sz="1400" b="0" i="0">
                <a:solidFill>
                  <a:srgbClr val="333333"/>
                </a:solidFill>
                <a:latin typeface="DM Sans 14pt"/>
              </a:rPr>
              <a:t>Where WTA creates differentiated value, the clients it serves best, and how to position it</a:t>
            </a:r>
          </a:p>
        </p:txBody>
      </p:sp>
      <p:cxnSp>
        <p:nvCxnSpPr>
          <p:cNvPr id="25" name="Connector 24"/>
          <p:cNvCxnSpPr/>
          <p:nvPr/>
        </p:nvCxnSpPr>
        <p:spPr>
          <a:xfrm>
            <a:off x="475488" y="2962656"/>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5488" y="3017520"/>
            <a:ext cx="822960" cy="566928"/>
          </a:xfrm>
          <a:prstGeom prst="rect">
            <a:avLst/>
          </a:prstGeom>
          <a:noFill/>
        </p:spPr>
        <p:txBody>
          <a:bodyPr wrap="square" lIns="0" rIns="0" tIns="0" bIns="0" anchor="ctr"/>
          <a:lstStyle/>
          <a:p>
            <a:pPr algn="l">
              <a:spcAft>
                <a:spcPts val="0"/>
              </a:spcAft>
            </a:pPr>
            <a:r>
              <a:rPr sz="3000" b="0" i="0">
                <a:solidFill>
                  <a:srgbClr val="FF3333"/>
                </a:solidFill>
                <a:latin typeface="DM Sans 14pt ExtraLight"/>
              </a:rPr>
              <a:t>02</a:t>
            </a:r>
          </a:p>
        </p:txBody>
      </p:sp>
      <p:sp>
        <p:nvSpPr>
          <p:cNvPr id="27" name="TextBox 26"/>
          <p:cNvSpPr txBox="1"/>
          <p:nvPr/>
        </p:nvSpPr>
        <p:spPr>
          <a:xfrm>
            <a:off x="1325880" y="3017520"/>
            <a:ext cx="3291840" cy="566928"/>
          </a:xfrm>
          <a:prstGeom prst="rect">
            <a:avLst/>
          </a:prstGeom>
          <a:noFill/>
        </p:spPr>
        <p:txBody>
          <a:bodyPr wrap="square" lIns="0" rIns="0" tIns="0" bIns="0" anchor="ctr"/>
          <a:lstStyle/>
          <a:p>
            <a:pPr algn="l">
              <a:spcAft>
                <a:spcPts val="0"/>
              </a:spcAft>
            </a:pPr>
            <a:r>
              <a:rPr sz="2000" b="0" i="0">
                <a:solidFill>
                  <a:srgbClr val="122A4E"/>
                </a:solidFill>
                <a:latin typeface="DM Sans 14pt SemiBold"/>
              </a:rPr>
              <a:t>Product architecture</a:t>
            </a:r>
          </a:p>
        </p:txBody>
      </p:sp>
      <p:sp>
        <p:nvSpPr>
          <p:cNvPr id="28" name="TextBox 27"/>
          <p:cNvSpPr txBox="1"/>
          <p:nvPr/>
        </p:nvSpPr>
        <p:spPr>
          <a:xfrm>
            <a:off x="4709160" y="3017520"/>
            <a:ext cx="7004304" cy="566928"/>
          </a:xfrm>
          <a:prstGeom prst="rect">
            <a:avLst/>
          </a:prstGeom>
          <a:noFill/>
        </p:spPr>
        <p:txBody>
          <a:bodyPr wrap="square" lIns="0" rIns="0" tIns="0" bIns="0" anchor="ctr"/>
          <a:lstStyle/>
          <a:p>
            <a:pPr algn="l">
              <a:lnSpc>
                <a:spcPct val="110000"/>
              </a:lnSpc>
              <a:spcAft>
                <a:spcPts val="0"/>
              </a:spcAft>
            </a:pPr>
            <a:r>
              <a:rPr sz="1400" b="0" i="0">
                <a:solidFill>
                  <a:srgbClr val="333333"/>
                </a:solidFill>
                <a:latin typeface="DM Sans 14pt"/>
              </a:rPr>
              <a:t>Expertise turned into defined products with standardized scope, pricing logic and contract-ready language</a:t>
            </a:r>
          </a:p>
        </p:txBody>
      </p:sp>
      <p:cxnSp>
        <p:nvCxnSpPr>
          <p:cNvPr id="29" name="Connector 28"/>
          <p:cNvCxnSpPr/>
          <p:nvPr/>
        </p:nvCxnSpPr>
        <p:spPr>
          <a:xfrm>
            <a:off x="475488" y="3648456"/>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75488" y="3703320"/>
            <a:ext cx="822960" cy="566928"/>
          </a:xfrm>
          <a:prstGeom prst="rect">
            <a:avLst/>
          </a:prstGeom>
          <a:noFill/>
        </p:spPr>
        <p:txBody>
          <a:bodyPr wrap="square" lIns="0" rIns="0" tIns="0" bIns="0" anchor="ctr"/>
          <a:lstStyle/>
          <a:p>
            <a:pPr algn="l">
              <a:spcAft>
                <a:spcPts val="0"/>
              </a:spcAft>
            </a:pPr>
            <a:r>
              <a:rPr sz="3000" b="0" i="0">
                <a:solidFill>
                  <a:srgbClr val="FF3333"/>
                </a:solidFill>
                <a:latin typeface="DM Sans 14pt ExtraLight"/>
              </a:rPr>
              <a:t>03</a:t>
            </a:r>
          </a:p>
        </p:txBody>
      </p:sp>
      <p:sp>
        <p:nvSpPr>
          <p:cNvPr id="31" name="TextBox 30"/>
          <p:cNvSpPr txBox="1"/>
          <p:nvPr/>
        </p:nvSpPr>
        <p:spPr>
          <a:xfrm>
            <a:off x="1325880" y="3703320"/>
            <a:ext cx="3291840" cy="566928"/>
          </a:xfrm>
          <a:prstGeom prst="rect">
            <a:avLst/>
          </a:prstGeom>
          <a:noFill/>
        </p:spPr>
        <p:txBody>
          <a:bodyPr wrap="square" lIns="0" rIns="0" tIns="0" bIns="0" anchor="ctr"/>
          <a:lstStyle/>
          <a:p>
            <a:pPr algn="l">
              <a:spcAft>
                <a:spcPts val="0"/>
              </a:spcAft>
            </a:pPr>
            <a:r>
              <a:rPr sz="2000" b="0" i="0">
                <a:solidFill>
                  <a:srgbClr val="122A4E"/>
                </a:solidFill>
                <a:latin typeface="DM Sans 14pt SemiBold"/>
              </a:rPr>
              <a:t>Pricing &amp; revenue model</a:t>
            </a:r>
          </a:p>
        </p:txBody>
      </p:sp>
      <p:sp>
        <p:nvSpPr>
          <p:cNvPr id="32" name="TextBox 31"/>
          <p:cNvSpPr txBox="1"/>
          <p:nvPr/>
        </p:nvSpPr>
        <p:spPr>
          <a:xfrm>
            <a:off x="4709160" y="3703320"/>
            <a:ext cx="7004304" cy="566928"/>
          </a:xfrm>
          <a:prstGeom prst="rect">
            <a:avLst/>
          </a:prstGeom>
          <a:noFill/>
        </p:spPr>
        <p:txBody>
          <a:bodyPr wrap="square" lIns="0" rIns="0" tIns="0" bIns="0" anchor="ctr"/>
          <a:lstStyle/>
          <a:p>
            <a:pPr algn="l">
              <a:lnSpc>
                <a:spcPct val="110000"/>
              </a:lnSpc>
              <a:spcAft>
                <a:spcPts val="0"/>
              </a:spcAft>
            </a:pPr>
            <a:r>
              <a:rPr sz="1400" b="0" i="0">
                <a:solidFill>
                  <a:srgbClr val="333333"/>
                </a:solidFill>
                <a:latin typeface="DM Sans 14pt"/>
              </a:rPr>
              <a:t>A modern pricing methodology that supports profitable growth and simplifies decisions</a:t>
            </a:r>
          </a:p>
        </p:txBody>
      </p:sp>
      <p:cxnSp>
        <p:nvCxnSpPr>
          <p:cNvPr id="33" name="Connector 32"/>
          <p:cNvCxnSpPr/>
          <p:nvPr/>
        </p:nvCxnSpPr>
        <p:spPr>
          <a:xfrm>
            <a:off x="475488" y="4334256"/>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75488" y="4389120"/>
            <a:ext cx="822960" cy="566928"/>
          </a:xfrm>
          <a:prstGeom prst="rect">
            <a:avLst/>
          </a:prstGeom>
          <a:noFill/>
        </p:spPr>
        <p:txBody>
          <a:bodyPr wrap="square" lIns="0" rIns="0" tIns="0" bIns="0" anchor="ctr"/>
          <a:lstStyle/>
          <a:p>
            <a:pPr algn="l">
              <a:spcAft>
                <a:spcPts val="0"/>
              </a:spcAft>
            </a:pPr>
            <a:r>
              <a:rPr sz="3000" b="0" i="0">
                <a:solidFill>
                  <a:srgbClr val="FF3333"/>
                </a:solidFill>
                <a:latin typeface="DM Sans 14pt ExtraLight"/>
              </a:rPr>
              <a:t>04</a:t>
            </a:r>
          </a:p>
        </p:txBody>
      </p:sp>
      <p:sp>
        <p:nvSpPr>
          <p:cNvPr id="35" name="TextBox 34"/>
          <p:cNvSpPr txBox="1"/>
          <p:nvPr/>
        </p:nvSpPr>
        <p:spPr>
          <a:xfrm>
            <a:off x="1325880" y="4389120"/>
            <a:ext cx="3291840" cy="566928"/>
          </a:xfrm>
          <a:prstGeom prst="rect">
            <a:avLst/>
          </a:prstGeom>
          <a:noFill/>
        </p:spPr>
        <p:txBody>
          <a:bodyPr wrap="square" lIns="0" rIns="0" tIns="0" bIns="0" anchor="ctr"/>
          <a:lstStyle/>
          <a:p>
            <a:pPr algn="l">
              <a:spcAft>
                <a:spcPts val="0"/>
              </a:spcAft>
            </a:pPr>
            <a:r>
              <a:rPr sz="2000" b="0" i="0">
                <a:solidFill>
                  <a:srgbClr val="122A4E"/>
                </a:solidFill>
                <a:latin typeface="DM Sans 14pt SemiBold"/>
              </a:rPr>
              <a:t>Organizational readiness</a:t>
            </a:r>
          </a:p>
        </p:txBody>
      </p:sp>
      <p:sp>
        <p:nvSpPr>
          <p:cNvPr id="36" name="TextBox 35"/>
          <p:cNvSpPr txBox="1"/>
          <p:nvPr/>
        </p:nvSpPr>
        <p:spPr>
          <a:xfrm>
            <a:off x="4709160" y="4389120"/>
            <a:ext cx="7004304" cy="566928"/>
          </a:xfrm>
          <a:prstGeom prst="rect">
            <a:avLst/>
          </a:prstGeom>
          <a:noFill/>
        </p:spPr>
        <p:txBody>
          <a:bodyPr wrap="square" lIns="0" rIns="0" tIns="0" bIns="0" anchor="ctr"/>
          <a:lstStyle/>
          <a:p>
            <a:pPr algn="l">
              <a:lnSpc>
                <a:spcPct val="110000"/>
              </a:lnSpc>
              <a:spcAft>
                <a:spcPts val="0"/>
              </a:spcAft>
            </a:pPr>
            <a:r>
              <a:rPr sz="1400" b="0" i="0">
                <a:solidFill>
                  <a:srgbClr val="333333"/>
                </a:solidFill>
                <a:latin typeface="DM Sans 14pt"/>
              </a:rPr>
              <a:t>Growth, Strategy, Account Leadership, Operations and Finance able to sell and deliver it</a:t>
            </a:r>
          </a:p>
        </p:txBody>
      </p:sp>
      <p:cxnSp>
        <p:nvCxnSpPr>
          <p:cNvPr id="37" name="Connector 36"/>
          <p:cNvCxnSpPr/>
          <p:nvPr/>
        </p:nvCxnSpPr>
        <p:spPr>
          <a:xfrm>
            <a:off x="475488" y="5020056"/>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75488" y="5074920"/>
            <a:ext cx="822960" cy="566928"/>
          </a:xfrm>
          <a:prstGeom prst="rect">
            <a:avLst/>
          </a:prstGeom>
          <a:noFill/>
        </p:spPr>
        <p:txBody>
          <a:bodyPr wrap="square" lIns="0" rIns="0" tIns="0" bIns="0" anchor="ctr"/>
          <a:lstStyle/>
          <a:p>
            <a:pPr algn="l">
              <a:spcAft>
                <a:spcPts val="0"/>
              </a:spcAft>
            </a:pPr>
            <a:r>
              <a:rPr sz="3000" b="0" i="0">
                <a:solidFill>
                  <a:srgbClr val="FF3333"/>
                </a:solidFill>
                <a:latin typeface="DM Sans 14pt ExtraLight"/>
              </a:rPr>
              <a:t>05</a:t>
            </a:r>
          </a:p>
        </p:txBody>
      </p:sp>
      <p:sp>
        <p:nvSpPr>
          <p:cNvPr id="39" name="TextBox 38"/>
          <p:cNvSpPr txBox="1"/>
          <p:nvPr/>
        </p:nvSpPr>
        <p:spPr>
          <a:xfrm>
            <a:off x="1325880" y="5074920"/>
            <a:ext cx="3291840" cy="566928"/>
          </a:xfrm>
          <a:prstGeom prst="rect">
            <a:avLst/>
          </a:prstGeom>
          <a:noFill/>
        </p:spPr>
        <p:txBody>
          <a:bodyPr wrap="square" lIns="0" rIns="0" tIns="0" bIns="0" anchor="ctr"/>
          <a:lstStyle/>
          <a:p>
            <a:pPr algn="l">
              <a:spcAft>
                <a:spcPts val="0"/>
              </a:spcAft>
            </a:pPr>
            <a:r>
              <a:rPr sz="2000" b="0" i="0">
                <a:solidFill>
                  <a:srgbClr val="122A4E"/>
                </a:solidFill>
                <a:latin typeface="DM Sans 14pt SemiBold"/>
              </a:rPr>
              <a:t>Commercial governance</a:t>
            </a:r>
          </a:p>
        </p:txBody>
      </p:sp>
      <p:sp>
        <p:nvSpPr>
          <p:cNvPr id="40" name="TextBox 39"/>
          <p:cNvSpPr txBox="1"/>
          <p:nvPr/>
        </p:nvSpPr>
        <p:spPr>
          <a:xfrm>
            <a:off x="4709160" y="5074920"/>
            <a:ext cx="7004304" cy="566928"/>
          </a:xfrm>
          <a:prstGeom prst="rect">
            <a:avLst/>
          </a:prstGeom>
          <a:noFill/>
        </p:spPr>
        <p:txBody>
          <a:bodyPr wrap="square" lIns="0" rIns="0" tIns="0" bIns="0" anchor="ctr"/>
          <a:lstStyle/>
          <a:p>
            <a:pPr algn="l">
              <a:lnSpc>
                <a:spcPct val="110000"/>
              </a:lnSpc>
              <a:spcAft>
                <a:spcPts val="0"/>
              </a:spcAft>
            </a:pPr>
            <a:r>
              <a:rPr sz="1400" b="0" i="0">
                <a:solidFill>
                  <a:srgbClr val="333333"/>
                </a:solidFill>
                <a:latin typeface="DM Sans 14pt"/>
              </a:rPr>
              <a:t>Reporting, decision frameworks and dashboards that keep the system evolving</a:t>
            </a:r>
          </a:p>
        </p:txBody>
      </p:sp>
      <p:cxnSp>
        <p:nvCxnSpPr>
          <p:cNvPr id="41" name="Connector 40"/>
          <p:cNvCxnSpPr/>
          <p:nvPr/>
        </p:nvCxnSpPr>
        <p:spPr>
          <a:xfrm>
            <a:off x="475488" y="5705856"/>
            <a:ext cx="11237976"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Sell products, not headcount</a:t>
            </a:r>
          </a:p>
        </p:txBody>
      </p:sp>
      <p:sp>
        <p:nvSpPr>
          <p:cNvPr id="3" name="Text Placeholder 2"/>
          <p:cNvSpPr>
            <a:spLocks noGrp="1"/>
          </p:cNvSpPr>
          <p:nvPr>
            <p:ph type="body" idx="36" sz="quarter"/>
          </p:nvPr>
        </p:nvSpPr>
        <p:spPr/>
        <p:txBody>
          <a:bodyPr/>
          <a:lstStyle/>
          <a:p>
            <a:r>
              <a:t>THE COMMERCIAL OPERATING SYSTEM</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011680"/>
            <a:ext cx="5486400" cy="20116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7240" y="2194560"/>
            <a:ext cx="4937760" cy="320040"/>
          </a:xfrm>
          <a:prstGeom prst="rect">
            <a:avLst/>
          </a:prstGeom>
          <a:noFill/>
        </p:spPr>
        <p:txBody>
          <a:bodyPr wrap="square" lIns="0" rIns="0" tIns="0" bIns="0" anchor="t"/>
          <a:lstStyle/>
          <a:p>
            <a:pPr algn="l">
              <a:spcAft>
                <a:spcPts val="0"/>
              </a:spcAft>
            </a:pPr>
            <a:r>
              <a:rPr sz="1400" b="0" i="0">
                <a:solidFill>
                  <a:srgbClr val="6B6B6B"/>
                </a:solidFill>
                <a:latin typeface="DM Sans 14pt SemiBold"/>
              </a:rPr>
              <a:t>OLD MODEL  ·  SELLING INPUTS</a:t>
            </a:r>
          </a:p>
        </p:txBody>
      </p:sp>
      <p:sp>
        <p:nvSpPr>
          <p:cNvPr id="23" name="TextBox 22"/>
          <p:cNvSpPr txBox="1"/>
          <p:nvPr/>
        </p:nvSpPr>
        <p:spPr>
          <a:xfrm>
            <a:off x="777240" y="2606040"/>
            <a:ext cx="4937760" cy="1280160"/>
          </a:xfrm>
          <a:prstGeom prst="rect">
            <a:avLst/>
          </a:prstGeom>
          <a:noFill/>
        </p:spPr>
        <p:txBody>
          <a:bodyPr wrap="square" lIns="0" rIns="0" tIns="0" bIns="0" anchor="t"/>
          <a:lstStyle/>
          <a:p>
            <a:pPr algn="l">
              <a:lnSpc>
                <a:spcPct val="110000"/>
              </a:lnSpc>
              <a:spcAft>
                <a:spcPts val="0"/>
              </a:spcAft>
            </a:pPr>
            <a:r>
              <a:rPr sz="2000" b="0" i="0">
                <a:solidFill>
                  <a:srgbClr val="333333"/>
                </a:solidFill>
                <a:latin typeface="DM Sans 14pt ExtraLight"/>
              </a:rPr>
              <a:t>“Here is a grid of 17 FTEs across 5 departments at a $190 blended rate.”</a:t>
            </a:r>
          </a:p>
        </p:txBody>
      </p:sp>
      <p:sp>
        <p:nvSpPr>
          <p:cNvPr id="24" name="Rectangle 23"/>
          <p:cNvSpPr/>
          <p:nvPr/>
        </p:nvSpPr>
        <p:spPr>
          <a:xfrm>
            <a:off x="6227064" y="2011680"/>
            <a:ext cx="5486400" cy="201168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28816" y="2194560"/>
            <a:ext cx="4937760" cy="320040"/>
          </a:xfrm>
          <a:prstGeom prst="rect">
            <a:avLst/>
          </a:prstGeom>
          <a:noFill/>
        </p:spPr>
        <p:txBody>
          <a:bodyPr wrap="square" lIns="0" rIns="0" tIns="0" bIns="0" anchor="t"/>
          <a:lstStyle/>
          <a:p>
            <a:pPr algn="l">
              <a:spcAft>
                <a:spcPts val="0"/>
              </a:spcAft>
            </a:pPr>
            <a:r>
              <a:rPr sz="1400" b="0" i="0">
                <a:solidFill>
                  <a:srgbClr val="66CCCC"/>
                </a:solidFill>
                <a:latin typeface="DM Sans 14pt SemiBold"/>
              </a:rPr>
              <a:t>NEW MODEL  ·  PRICING IMPACT</a:t>
            </a:r>
          </a:p>
        </p:txBody>
      </p:sp>
      <p:sp>
        <p:nvSpPr>
          <p:cNvPr id="26" name="TextBox 25"/>
          <p:cNvSpPr txBox="1"/>
          <p:nvPr/>
        </p:nvSpPr>
        <p:spPr>
          <a:xfrm>
            <a:off x="6528816" y="2606040"/>
            <a:ext cx="4937760" cy="1280160"/>
          </a:xfrm>
          <a:prstGeom prst="rect">
            <a:avLst/>
          </a:prstGeom>
          <a:noFill/>
        </p:spPr>
        <p:txBody>
          <a:bodyPr wrap="square" lIns="0" rIns="0" tIns="0" bIns="0" anchor="t"/>
          <a:lstStyle/>
          <a:p>
            <a:pPr algn="l">
              <a:lnSpc>
                <a:spcPct val="110000"/>
              </a:lnSpc>
              <a:spcAft>
                <a:spcPts val="0"/>
              </a:spcAft>
            </a:pPr>
            <a:r>
              <a:rPr sz="2000" b="0" i="0">
                <a:solidFill>
                  <a:srgbClr val="FFFFFF"/>
                </a:solidFill>
                <a:latin typeface="DM Sans 14pt"/>
              </a:rPr>
              <a:t>“Here are three standardized, modular Solution Sets with defined outcomes and fixed pricing.”</a:t>
            </a:r>
          </a:p>
        </p:txBody>
      </p:sp>
      <p:sp>
        <p:nvSpPr>
          <p:cNvPr id="27" name="Rectangle 26"/>
          <p:cNvSpPr/>
          <p:nvPr/>
        </p:nvSpPr>
        <p:spPr>
          <a:xfrm>
            <a:off x="475488" y="4297680"/>
            <a:ext cx="3593592" cy="1371600"/>
          </a:xfrm>
          <a:prstGeom prst="rect">
            <a:avLst/>
          </a:prstGeom>
          <a:noFill/>
          <a:ln w="1587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49808" y="4553712"/>
            <a:ext cx="457200" cy="45720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600" b="0" i="0">
                <a:solidFill>
                  <a:srgbClr val="FFFFFF"/>
                </a:solidFill>
                <a:latin typeface="DM Sans 14pt SemiBold"/>
              </a:rPr>
              <a:t>✕</a:t>
            </a:r>
          </a:p>
        </p:txBody>
      </p:sp>
      <p:sp>
        <p:nvSpPr>
          <p:cNvPr id="29" name="TextBox 28"/>
          <p:cNvSpPr txBox="1"/>
          <p:nvPr/>
        </p:nvSpPr>
        <p:spPr>
          <a:xfrm>
            <a:off x="1389888" y="4434840"/>
            <a:ext cx="2496312" cy="1143000"/>
          </a:xfrm>
          <a:prstGeom prst="rect">
            <a:avLst/>
          </a:prstGeom>
          <a:noFill/>
        </p:spPr>
        <p:txBody>
          <a:bodyPr wrap="square" lIns="0" rIns="0" tIns="0" bIns="0" anchor="t"/>
          <a:lstStyle/>
          <a:p>
            <a:pPr algn="l">
              <a:lnSpc>
                <a:spcPct val="110000"/>
              </a:lnSpc>
              <a:spcAft>
                <a:spcPts val="200"/>
              </a:spcAft>
            </a:pPr>
            <a:r>
              <a:rPr sz="1600" b="0" i="0">
                <a:solidFill>
                  <a:srgbClr val="122A4E"/>
                </a:solidFill>
                <a:latin typeface="DM Sans 14pt SemiBold"/>
              </a:rPr>
              <a:t>It is NOT</a:t>
            </a:r>
          </a:p>
          <a:p>
            <a:pPr algn="l">
              <a:lnSpc>
                <a:spcPct val="110000"/>
              </a:lnSpc>
              <a:spcAft>
                <a:spcPts val="0"/>
              </a:spcAft>
            </a:pPr>
            <a:r>
              <a:rPr sz="1400" b="0" i="0">
                <a:solidFill>
                  <a:srgbClr val="333333"/>
                </a:solidFill>
                <a:latin typeface="DM Sans 14pt"/>
              </a:rPr>
              <a:t>pay-for-performance or contingency risk</a:t>
            </a:r>
          </a:p>
        </p:txBody>
      </p:sp>
      <p:sp>
        <p:nvSpPr>
          <p:cNvPr id="30" name="Rectangle 29"/>
          <p:cNvSpPr/>
          <p:nvPr/>
        </p:nvSpPr>
        <p:spPr>
          <a:xfrm>
            <a:off x="4297679" y="4297680"/>
            <a:ext cx="3593592" cy="1371600"/>
          </a:xfrm>
          <a:prstGeom prst="rect">
            <a:avLst/>
          </a:prstGeom>
          <a:noFill/>
          <a:ln w="1587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71999" y="4553712"/>
            <a:ext cx="457200" cy="45720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600" b="0" i="0">
                <a:solidFill>
                  <a:srgbClr val="FFFFFF"/>
                </a:solidFill>
                <a:latin typeface="DM Sans 14pt SemiBold"/>
              </a:rPr>
              <a:t>✕</a:t>
            </a:r>
          </a:p>
        </p:txBody>
      </p:sp>
      <p:sp>
        <p:nvSpPr>
          <p:cNvPr id="32" name="TextBox 31"/>
          <p:cNvSpPr txBox="1"/>
          <p:nvPr/>
        </p:nvSpPr>
        <p:spPr>
          <a:xfrm>
            <a:off x="5212079" y="4434840"/>
            <a:ext cx="2496312" cy="1143000"/>
          </a:xfrm>
          <a:prstGeom prst="rect">
            <a:avLst/>
          </a:prstGeom>
          <a:noFill/>
        </p:spPr>
        <p:txBody>
          <a:bodyPr wrap="square" lIns="0" rIns="0" tIns="0" bIns="0" anchor="t"/>
          <a:lstStyle/>
          <a:p>
            <a:pPr algn="l">
              <a:lnSpc>
                <a:spcPct val="110000"/>
              </a:lnSpc>
              <a:spcAft>
                <a:spcPts val="200"/>
              </a:spcAft>
            </a:pPr>
            <a:r>
              <a:rPr sz="1600" b="0" i="0">
                <a:solidFill>
                  <a:srgbClr val="122A4E"/>
                </a:solidFill>
                <a:latin typeface="DM Sans 14pt SemiBold"/>
              </a:rPr>
              <a:t>It is NOT</a:t>
            </a:r>
          </a:p>
          <a:p>
            <a:pPr algn="l">
              <a:lnSpc>
                <a:spcPct val="110000"/>
              </a:lnSpc>
              <a:spcAft>
                <a:spcPts val="0"/>
              </a:spcAft>
            </a:pPr>
            <a:r>
              <a:rPr sz="1400" b="0" i="0">
                <a:solidFill>
                  <a:srgbClr val="333333"/>
                </a:solidFill>
                <a:latin typeface="DM Sans 14pt"/>
              </a:rPr>
              <a:t>an unbundled, discounted à la carte menu</a:t>
            </a:r>
          </a:p>
        </p:txBody>
      </p:sp>
      <p:sp>
        <p:nvSpPr>
          <p:cNvPr id="33" name="Rectangle 32"/>
          <p:cNvSpPr/>
          <p:nvPr/>
        </p:nvSpPr>
        <p:spPr>
          <a:xfrm>
            <a:off x="8119871" y="4297680"/>
            <a:ext cx="3593592" cy="1371600"/>
          </a:xfrm>
          <a:prstGeom prst="rect">
            <a:avLst/>
          </a:prstGeom>
          <a:noFill/>
          <a:ln w="15875">
            <a:solidFill>
              <a:srgbClr val="FF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394192" y="4553712"/>
            <a:ext cx="457200" cy="45720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600" b="0" i="0">
                <a:solidFill>
                  <a:srgbClr val="FFFFFF"/>
                </a:solidFill>
                <a:latin typeface="DM Sans 14pt SemiBold"/>
              </a:rPr>
              <a:t>✓</a:t>
            </a:r>
          </a:p>
        </p:txBody>
      </p:sp>
      <p:sp>
        <p:nvSpPr>
          <p:cNvPr id="35" name="TextBox 34"/>
          <p:cNvSpPr txBox="1"/>
          <p:nvPr/>
        </p:nvSpPr>
        <p:spPr>
          <a:xfrm>
            <a:off x="9034272" y="4434840"/>
            <a:ext cx="2496312" cy="1143000"/>
          </a:xfrm>
          <a:prstGeom prst="rect">
            <a:avLst/>
          </a:prstGeom>
          <a:noFill/>
        </p:spPr>
        <p:txBody>
          <a:bodyPr wrap="square" lIns="0" rIns="0" tIns="0" bIns="0" anchor="t"/>
          <a:lstStyle/>
          <a:p>
            <a:pPr algn="l">
              <a:lnSpc>
                <a:spcPct val="110000"/>
              </a:lnSpc>
              <a:spcAft>
                <a:spcPts val="200"/>
              </a:spcAft>
            </a:pPr>
            <a:r>
              <a:rPr sz="1600" b="0" i="0">
                <a:solidFill>
                  <a:srgbClr val="FF3333"/>
                </a:solidFill>
                <a:latin typeface="DM Sans 14pt SemiBold"/>
              </a:rPr>
              <a:t>It IS</a:t>
            </a:r>
          </a:p>
          <a:p>
            <a:pPr algn="l">
              <a:lnSpc>
                <a:spcPct val="110000"/>
              </a:lnSpc>
              <a:spcAft>
                <a:spcPts val="0"/>
              </a:spcAft>
            </a:pPr>
            <a:r>
              <a:rPr sz="1400" b="0" i="0">
                <a:solidFill>
                  <a:srgbClr val="333333"/>
                </a:solidFill>
                <a:latin typeface="DM Sans 14pt"/>
              </a:rPr>
              <a:t>pre-packaged agency expertise with explicit boundaries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The four-step productization framework</a:t>
            </a:r>
          </a:p>
        </p:txBody>
      </p:sp>
      <p:sp>
        <p:nvSpPr>
          <p:cNvPr id="3" name="Text Placeholder 2"/>
          <p:cNvSpPr>
            <a:spLocks noGrp="1"/>
          </p:cNvSpPr>
          <p:nvPr>
            <p:ph type="body" idx="36" sz="quarter"/>
          </p:nvPr>
        </p:nvSpPr>
        <p:spPr/>
        <p:txBody>
          <a:bodyPr/>
          <a:lstStyle/>
          <a:p>
            <a:r>
              <a:t>THE COMMERCIAL OPERATING SYSTEM</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cxnSp>
        <p:nvCxnSpPr>
          <p:cNvPr id="21" name="Connector 20"/>
          <p:cNvCxnSpPr/>
          <p:nvPr/>
        </p:nvCxnSpPr>
        <p:spPr>
          <a:xfrm>
            <a:off x="841248" y="2423160"/>
            <a:ext cx="8586216" cy="0"/>
          </a:xfrm>
          <a:prstGeom prst="line">
            <a:avLst/>
          </a:prstGeom>
          <a:ln w="1905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75488" y="2057400"/>
            <a:ext cx="731520" cy="73152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800" b="0" i="0">
                <a:solidFill>
                  <a:srgbClr val="FFFFFF"/>
                </a:solidFill>
                <a:latin typeface="DM Sans 14pt SemiBold"/>
              </a:rPr>
              <a:t>01</a:t>
            </a:r>
          </a:p>
        </p:txBody>
      </p:sp>
      <p:sp>
        <p:nvSpPr>
          <p:cNvPr id="23" name="TextBox 22"/>
          <p:cNvSpPr txBox="1"/>
          <p:nvPr/>
        </p:nvSpPr>
        <p:spPr>
          <a:xfrm>
            <a:off x="475488" y="3017520"/>
            <a:ext cx="265176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Define the unit</a:t>
            </a:r>
          </a:p>
        </p:txBody>
      </p:sp>
      <p:sp>
        <p:nvSpPr>
          <p:cNvPr id="24" name="TextBox 23"/>
          <p:cNvSpPr txBox="1"/>
          <p:nvPr/>
        </p:nvSpPr>
        <p:spPr>
          <a:xfrm>
            <a:off x="475488" y="3474720"/>
            <a:ext cx="2514600" cy="128016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Identify what the client is actually buying: a campaign, a platform, a monthly stewardship.</a:t>
            </a:r>
          </a:p>
        </p:txBody>
      </p:sp>
      <p:sp>
        <p:nvSpPr>
          <p:cNvPr id="25" name="Oval 24"/>
          <p:cNvSpPr/>
          <p:nvPr/>
        </p:nvSpPr>
        <p:spPr>
          <a:xfrm>
            <a:off x="3337560" y="2057400"/>
            <a:ext cx="731520" cy="73152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800" b="0" i="0">
                <a:solidFill>
                  <a:srgbClr val="FFFFFF"/>
                </a:solidFill>
                <a:latin typeface="DM Sans 14pt SemiBold"/>
              </a:rPr>
              <a:t>02</a:t>
            </a:r>
          </a:p>
        </p:txBody>
      </p:sp>
      <p:sp>
        <p:nvSpPr>
          <p:cNvPr id="26" name="TextBox 25"/>
          <p:cNvSpPr txBox="1"/>
          <p:nvPr/>
        </p:nvSpPr>
        <p:spPr>
          <a:xfrm>
            <a:off x="3337560" y="3017520"/>
            <a:ext cx="265176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Define the product</a:t>
            </a:r>
          </a:p>
        </p:txBody>
      </p:sp>
      <p:sp>
        <p:nvSpPr>
          <p:cNvPr id="27" name="TextBox 26"/>
          <p:cNvSpPr txBox="1"/>
          <p:nvPr/>
        </p:nvSpPr>
        <p:spPr>
          <a:xfrm>
            <a:off x="3337560" y="3474720"/>
            <a:ext cx="2514600" cy="128016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Document exact inclusions and explicit exclusions.</a:t>
            </a:r>
          </a:p>
        </p:txBody>
      </p:sp>
      <p:sp>
        <p:nvSpPr>
          <p:cNvPr id="28" name="Oval 27"/>
          <p:cNvSpPr/>
          <p:nvPr/>
        </p:nvSpPr>
        <p:spPr>
          <a:xfrm>
            <a:off x="6199631" y="2057400"/>
            <a:ext cx="731520" cy="73152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800" b="0" i="0">
                <a:solidFill>
                  <a:srgbClr val="FFFFFF"/>
                </a:solidFill>
                <a:latin typeface="DM Sans 14pt SemiBold"/>
              </a:rPr>
              <a:t>03</a:t>
            </a:r>
          </a:p>
        </p:txBody>
      </p:sp>
      <p:sp>
        <p:nvSpPr>
          <p:cNvPr id="29" name="TextBox 28"/>
          <p:cNvSpPr txBox="1"/>
          <p:nvPr/>
        </p:nvSpPr>
        <p:spPr>
          <a:xfrm>
            <a:off x="6199631" y="3017520"/>
            <a:ext cx="265176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Price the product</a:t>
            </a:r>
          </a:p>
        </p:txBody>
      </p:sp>
      <p:sp>
        <p:nvSpPr>
          <p:cNvPr id="30" name="TextBox 29"/>
          <p:cNvSpPr txBox="1"/>
          <p:nvPr/>
        </p:nvSpPr>
        <p:spPr>
          <a:xfrm>
            <a:off x="6199631" y="3474720"/>
            <a:ext cx="2514600" cy="128016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Historical effort informs cost; market value and client impact set price.</a:t>
            </a:r>
          </a:p>
        </p:txBody>
      </p:sp>
      <p:sp>
        <p:nvSpPr>
          <p:cNvPr id="31" name="Oval 30"/>
          <p:cNvSpPr/>
          <p:nvPr/>
        </p:nvSpPr>
        <p:spPr>
          <a:xfrm>
            <a:off x="9061704" y="2057400"/>
            <a:ext cx="731520" cy="73152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800" b="0" i="0">
                <a:solidFill>
                  <a:srgbClr val="FFFFFF"/>
                </a:solidFill>
                <a:latin typeface="DM Sans 14pt SemiBold"/>
              </a:rPr>
              <a:t>04</a:t>
            </a:r>
          </a:p>
        </p:txBody>
      </p:sp>
      <p:sp>
        <p:nvSpPr>
          <p:cNvPr id="32" name="TextBox 31"/>
          <p:cNvSpPr txBox="1"/>
          <p:nvPr/>
        </p:nvSpPr>
        <p:spPr>
          <a:xfrm>
            <a:off x="9061704" y="3017520"/>
            <a:ext cx="265176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Build the offering</a:t>
            </a:r>
          </a:p>
        </p:txBody>
      </p:sp>
      <p:sp>
        <p:nvSpPr>
          <p:cNvPr id="33" name="TextBox 32"/>
          <p:cNvSpPr txBox="1"/>
          <p:nvPr/>
        </p:nvSpPr>
        <p:spPr>
          <a:xfrm>
            <a:off x="9061704" y="3474720"/>
            <a:ext cx="2514600" cy="128016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Present clear, decision-ready, menu-style proposals.</a:t>
            </a:r>
          </a:p>
        </p:txBody>
      </p:sp>
      <p:sp>
        <p:nvSpPr>
          <p:cNvPr id="34" name="Rectangle 33"/>
          <p:cNvSpPr/>
          <p:nvPr/>
        </p:nvSpPr>
        <p:spPr>
          <a:xfrm>
            <a:off x="475488" y="4892040"/>
            <a:ext cx="11237976" cy="8229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77240" y="4892040"/>
            <a:ext cx="10698480" cy="822960"/>
          </a:xfrm>
          <a:prstGeom prst="rect">
            <a:avLst/>
          </a:prstGeom>
          <a:noFill/>
        </p:spPr>
        <p:txBody>
          <a:bodyPr wrap="square" lIns="0" rIns="0" tIns="0" bIns="0" anchor="ctr"/>
          <a:lstStyle/>
          <a:p>
            <a:pPr algn="l">
              <a:spcAft>
                <a:spcPts val="0"/>
              </a:spcAft>
            </a:pPr>
            <a:r>
              <a:rPr sz="1800" b="0" i="0">
                <a:solidFill>
                  <a:srgbClr val="FF3333"/>
                </a:solidFill>
                <a:latin typeface="DM Sans 14pt SemiBold"/>
              </a:rPr>
              <a:t>Ambiguity is where margin bleeds. </a:t>
            </a:r>
            <a:r>
              <a:rPr sz="1800" b="0" i="0">
                <a:solidFill>
                  <a:srgbClr val="122A4E"/>
                </a:solidFill>
                <a:latin typeface="DM Sans 14pt"/>
              </a:rPr>
              <a:t>Every undefined element is a future scope dispute.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How it started: three staffing grids</a:t>
            </a:r>
          </a:p>
        </p:txBody>
      </p:sp>
      <p:sp>
        <p:nvSpPr>
          <p:cNvPr id="3" name="Text Placeholder 2"/>
          <p:cNvSpPr>
            <a:spLocks noGrp="1"/>
          </p:cNvSpPr>
          <p:nvPr>
            <p:ph type="body" idx="36" sz="quarter"/>
          </p:nvPr>
        </p:nvSpPr>
        <p:spPr/>
        <p:txBody>
          <a:bodyPr/>
          <a:lstStyle/>
          <a:p>
            <a:r>
              <a:t>CASE STUDY  ·  THE RETAIL PITCH WIN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011680"/>
            <a:ext cx="3593592" cy="25146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9808" y="2176272"/>
            <a:ext cx="3044952" cy="320040"/>
          </a:xfrm>
          <a:prstGeom prst="rect">
            <a:avLst/>
          </a:prstGeom>
          <a:noFill/>
        </p:spPr>
        <p:txBody>
          <a:bodyPr wrap="square" lIns="0" rIns="0" tIns="0" bIns="0" anchor="t"/>
          <a:lstStyle/>
          <a:p>
            <a:pPr algn="l">
              <a:spcAft>
                <a:spcPts val="0"/>
              </a:spcAft>
            </a:pPr>
            <a:r>
              <a:rPr sz="1400" b="0" i="0">
                <a:solidFill>
                  <a:srgbClr val="6B6B6B"/>
                </a:solidFill>
                <a:latin typeface="DM Sans 14pt SemiBold"/>
              </a:rPr>
              <a:t>ESSENTIAL OPTION</a:t>
            </a:r>
          </a:p>
        </p:txBody>
      </p:sp>
      <p:sp>
        <p:nvSpPr>
          <p:cNvPr id="23" name="TextBox 22"/>
          <p:cNvSpPr txBox="1"/>
          <p:nvPr/>
        </p:nvSpPr>
        <p:spPr>
          <a:xfrm>
            <a:off x="749808" y="2560320"/>
            <a:ext cx="3044952" cy="822960"/>
          </a:xfrm>
          <a:prstGeom prst="rect">
            <a:avLst/>
          </a:prstGeom>
          <a:noFill/>
        </p:spPr>
        <p:txBody>
          <a:bodyPr wrap="square" lIns="0" rIns="0" tIns="0" bIns="0" anchor="t"/>
          <a:lstStyle/>
          <a:p>
            <a:pPr algn="l">
              <a:spcAft>
                <a:spcPts val="0"/>
              </a:spcAft>
            </a:pPr>
            <a:r>
              <a:rPr sz="4800" b="0" i="0">
                <a:solidFill>
                  <a:srgbClr val="122A4E"/>
                </a:solidFill>
                <a:latin typeface="DM Sans 14pt ExtraLight"/>
              </a:rPr>
              <a:t>$7.4M</a:t>
            </a:r>
          </a:p>
        </p:txBody>
      </p:sp>
      <p:cxnSp>
        <p:nvCxnSpPr>
          <p:cNvPr id="24" name="Connector 23"/>
          <p:cNvCxnSpPr/>
          <p:nvPr/>
        </p:nvCxnSpPr>
        <p:spPr>
          <a:xfrm>
            <a:off x="749808" y="3520440"/>
            <a:ext cx="3044952"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49808" y="3657600"/>
            <a:ext cx="3044952" cy="731520"/>
          </a:xfrm>
          <a:prstGeom prst="rect">
            <a:avLst/>
          </a:prstGeom>
          <a:noFill/>
        </p:spPr>
        <p:txBody>
          <a:bodyPr wrap="square" lIns="0" rIns="0" tIns="0" bIns="0" anchor="t"/>
          <a:lstStyle/>
          <a:p>
            <a:pPr algn="l">
              <a:lnSpc>
                <a:spcPct val="115000"/>
              </a:lnSpc>
              <a:spcAft>
                <a:spcPts val="0"/>
              </a:spcAft>
            </a:pPr>
            <a:r>
              <a:rPr sz="1400" b="0" i="0">
                <a:solidFill>
                  <a:srgbClr val="122A4E"/>
                </a:solidFill>
                <a:latin typeface="DM Sans 14pt SemiBold"/>
              </a:rPr>
              <a:t>17 FTEs  ·  48,450 hours</a:t>
            </a:r>
          </a:p>
          <a:p>
            <a:pPr algn="l">
              <a:lnSpc>
                <a:spcPct val="115000"/>
              </a:lnSpc>
              <a:spcAft>
                <a:spcPts val="0"/>
              </a:spcAft>
            </a:pPr>
            <a:r>
              <a:rPr sz="1400" b="0" i="0">
                <a:solidFill>
                  <a:srgbClr val="6B6B6B"/>
                </a:solidFill>
                <a:latin typeface="DM Sans 14pt"/>
              </a:rPr>
              <a:t>$190 blended rate  ·  19 months</a:t>
            </a:r>
          </a:p>
        </p:txBody>
      </p:sp>
      <p:sp>
        <p:nvSpPr>
          <p:cNvPr id="26" name="Rectangle 25"/>
          <p:cNvSpPr/>
          <p:nvPr/>
        </p:nvSpPr>
        <p:spPr>
          <a:xfrm>
            <a:off x="4297679" y="2011680"/>
            <a:ext cx="3593592" cy="25146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1999" y="2176272"/>
            <a:ext cx="3044952" cy="320040"/>
          </a:xfrm>
          <a:prstGeom prst="rect">
            <a:avLst/>
          </a:prstGeom>
          <a:noFill/>
        </p:spPr>
        <p:txBody>
          <a:bodyPr wrap="square" lIns="0" rIns="0" tIns="0" bIns="0" anchor="t"/>
          <a:lstStyle/>
          <a:p>
            <a:pPr algn="l">
              <a:spcAft>
                <a:spcPts val="0"/>
              </a:spcAft>
            </a:pPr>
            <a:r>
              <a:rPr sz="1400" b="0" i="0">
                <a:solidFill>
                  <a:srgbClr val="6B6B6B"/>
                </a:solidFill>
                <a:latin typeface="DM Sans 14pt SemiBold"/>
              </a:rPr>
              <a:t>SIGNATURE OPTION</a:t>
            </a:r>
          </a:p>
        </p:txBody>
      </p:sp>
      <p:sp>
        <p:nvSpPr>
          <p:cNvPr id="28" name="TextBox 27"/>
          <p:cNvSpPr txBox="1"/>
          <p:nvPr/>
        </p:nvSpPr>
        <p:spPr>
          <a:xfrm>
            <a:off x="4571999" y="2560320"/>
            <a:ext cx="3044952" cy="822960"/>
          </a:xfrm>
          <a:prstGeom prst="rect">
            <a:avLst/>
          </a:prstGeom>
          <a:noFill/>
        </p:spPr>
        <p:txBody>
          <a:bodyPr wrap="square" lIns="0" rIns="0" tIns="0" bIns="0" anchor="t"/>
          <a:lstStyle/>
          <a:p>
            <a:pPr algn="l">
              <a:spcAft>
                <a:spcPts val="0"/>
              </a:spcAft>
            </a:pPr>
            <a:r>
              <a:rPr sz="4800" b="0" i="0">
                <a:solidFill>
                  <a:srgbClr val="122A4E"/>
                </a:solidFill>
                <a:latin typeface="DM Sans 14pt ExtraLight"/>
              </a:rPr>
              <a:t>$8.4M</a:t>
            </a:r>
          </a:p>
        </p:txBody>
      </p:sp>
      <p:cxnSp>
        <p:nvCxnSpPr>
          <p:cNvPr id="29" name="Connector 28"/>
          <p:cNvCxnSpPr/>
          <p:nvPr/>
        </p:nvCxnSpPr>
        <p:spPr>
          <a:xfrm>
            <a:off x="4571999" y="3520440"/>
            <a:ext cx="3044952"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1999" y="3657600"/>
            <a:ext cx="3044952" cy="731520"/>
          </a:xfrm>
          <a:prstGeom prst="rect">
            <a:avLst/>
          </a:prstGeom>
          <a:noFill/>
        </p:spPr>
        <p:txBody>
          <a:bodyPr wrap="square" lIns="0" rIns="0" tIns="0" bIns="0" anchor="t"/>
          <a:lstStyle/>
          <a:p>
            <a:pPr algn="l">
              <a:lnSpc>
                <a:spcPct val="115000"/>
              </a:lnSpc>
              <a:spcAft>
                <a:spcPts val="0"/>
              </a:spcAft>
            </a:pPr>
            <a:r>
              <a:rPr sz="1400" b="0" i="0">
                <a:solidFill>
                  <a:srgbClr val="122A4E"/>
                </a:solidFill>
                <a:latin typeface="DM Sans 14pt SemiBold"/>
              </a:rPr>
              <a:t>21 FTEs  ·  59,850 hours</a:t>
            </a:r>
          </a:p>
          <a:p>
            <a:pPr algn="l">
              <a:lnSpc>
                <a:spcPct val="115000"/>
              </a:lnSpc>
              <a:spcAft>
                <a:spcPts val="0"/>
              </a:spcAft>
            </a:pPr>
            <a:r>
              <a:rPr sz="1400" b="0" i="0">
                <a:solidFill>
                  <a:srgbClr val="6B6B6B"/>
                </a:solidFill>
                <a:latin typeface="DM Sans 14pt"/>
              </a:rPr>
              <a:t>$190 blended rate  ·  19 months</a:t>
            </a:r>
          </a:p>
        </p:txBody>
      </p:sp>
      <p:sp>
        <p:nvSpPr>
          <p:cNvPr id="31" name="Rectangle 30"/>
          <p:cNvSpPr/>
          <p:nvPr/>
        </p:nvSpPr>
        <p:spPr>
          <a:xfrm>
            <a:off x="8119871" y="2011680"/>
            <a:ext cx="3593592" cy="25146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94192" y="2176272"/>
            <a:ext cx="3044952" cy="320040"/>
          </a:xfrm>
          <a:prstGeom prst="rect">
            <a:avLst/>
          </a:prstGeom>
          <a:noFill/>
        </p:spPr>
        <p:txBody>
          <a:bodyPr wrap="square" lIns="0" rIns="0" tIns="0" bIns="0" anchor="t"/>
          <a:lstStyle/>
          <a:p>
            <a:pPr algn="l">
              <a:spcAft>
                <a:spcPts val="0"/>
              </a:spcAft>
            </a:pPr>
            <a:r>
              <a:rPr sz="1400" b="0" i="0">
                <a:solidFill>
                  <a:srgbClr val="6B6B6B"/>
                </a:solidFill>
                <a:latin typeface="DM Sans 14pt SemiBold"/>
              </a:rPr>
              <a:t>FULL-SCALE OPTION</a:t>
            </a:r>
          </a:p>
        </p:txBody>
      </p:sp>
      <p:sp>
        <p:nvSpPr>
          <p:cNvPr id="33" name="TextBox 32"/>
          <p:cNvSpPr txBox="1"/>
          <p:nvPr/>
        </p:nvSpPr>
        <p:spPr>
          <a:xfrm>
            <a:off x="8394192" y="2560320"/>
            <a:ext cx="3044952" cy="822960"/>
          </a:xfrm>
          <a:prstGeom prst="rect">
            <a:avLst/>
          </a:prstGeom>
          <a:noFill/>
        </p:spPr>
        <p:txBody>
          <a:bodyPr wrap="square" lIns="0" rIns="0" tIns="0" bIns="0" anchor="t"/>
          <a:lstStyle/>
          <a:p>
            <a:pPr algn="l">
              <a:spcAft>
                <a:spcPts val="0"/>
              </a:spcAft>
            </a:pPr>
            <a:r>
              <a:rPr sz="4800" b="0" i="0">
                <a:solidFill>
                  <a:srgbClr val="122A4E"/>
                </a:solidFill>
                <a:latin typeface="DM Sans 14pt ExtraLight"/>
              </a:rPr>
              <a:t>$10.1M</a:t>
            </a:r>
          </a:p>
        </p:txBody>
      </p:sp>
      <p:cxnSp>
        <p:nvCxnSpPr>
          <p:cNvPr id="34" name="Connector 33"/>
          <p:cNvCxnSpPr/>
          <p:nvPr/>
        </p:nvCxnSpPr>
        <p:spPr>
          <a:xfrm>
            <a:off x="8394192" y="3520440"/>
            <a:ext cx="3044951"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394192" y="3657600"/>
            <a:ext cx="3044952" cy="731520"/>
          </a:xfrm>
          <a:prstGeom prst="rect">
            <a:avLst/>
          </a:prstGeom>
          <a:noFill/>
        </p:spPr>
        <p:txBody>
          <a:bodyPr wrap="square" lIns="0" rIns="0" tIns="0" bIns="0" anchor="t"/>
          <a:lstStyle/>
          <a:p>
            <a:pPr algn="l">
              <a:lnSpc>
                <a:spcPct val="115000"/>
              </a:lnSpc>
              <a:spcAft>
                <a:spcPts val="0"/>
              </a:spcAft>
            </a:pPr>
            <a:r>
              <a:rPr sz="1400" b="0" i="0">
                <a:solidFill>
                  <a:srgbClr val="122A4E"/>
                </a:solidFill>
                <a:latin typeface="DM Sans 14pt SemiBold"/>
              </a:rPr>
              <a:t>26 FTEs  ·  74,100 hours</a:t>
            </a:r>
          </a:p>
          <a:p>
            <a:pPr algn="l">
              <a:lnSpc>
                <a:spcPct val="115000"/>
              </a:lnSpc>
              <a:spcAft>
                <a:spcPts val="0"/>
              </a:spcAft>
            </a:pPr>
            <a:r>
              <a:rPr sz="1400" b="0" i="0">
                <a:solidFill>
                  <a:srgbClr val="6B6B6B"/>
                </a:solidFill>
                <a:latin typeface="DM Sans 14pt"/>
              </a:rPr>
              <a:t>$190 blended rate  ·  19 months</a:t>
            </a:r>
          </a:p>
        </p:txBody>
      </p:sp>
      <p:sp>
        <p:nvSpPr>
          <p:cNvPr id="36" name="Rectangle 35"/>
          <p:cNvSpPr/>
          <p:nvPr/>
        </p:nvSpPr>
        <p:spPr>
          <a:xfrm>
            <a:off x="475488" y="4754880"/>
            <a:ext cx="11237976" cy="960120"/>
          </a:xfrm>
          <a:prstGeom prst="rect">
            <a:avLst/>
          </a:prstGeom>
          <a:noFill/>
          <a:ln w="15875">
            <a:solidFill>
              <a:srgbClr val="FF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 y="4754880"/>
            <a:ext cx="10698480" cy="960120"/>
          </a:xfrm>
          <a:prstGeom prst="rect">
            <a:avLst/>
          </a:prstGeom>
          <a:noFill/>
        </p:spPr>
        <p:txBody>
          <a:bodyPr wrap="square" lIns="0" rIns="0" tIns="0" bIns="0" anchor="ctr"/>
          <a:lstStyle/>
          <a:p>
            <a:pPr algn="l">
              <a:lnSpc>
                <a:spcPct val="110000"/>
              </a:lnSpc>
              <a:spcAft>
                <a:spcPts val="0"/>
              </a:spcAft>
            </a:pPr>
            <a:r>
              <a:rPr sz="1600" b="0" i="0">
                <a:solidFill>
                  <a:srgbClr val="FF3333"/>
                </a:solidFill>
                <a:latin typeface="DM Sans 14pt SemiBold"/>
              </a:rPr>
              <a:t>The trap  </a:t>
            </a:r>
            <a:r>
              <a:rPr sz="1600" b="0" i="0">
                <a:solidFill>
                  <a:srgbClr val="122A4E"/>
                </a:solidFill>
                <a:latin typeface="DM Sans 14pt"/>
              </a:rPr>
              <a:t>No defined outcomes, no scope guardrails, no way for the client to know what they were buying. Procurement bogged down in hourly audits.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The productized breakthrough</a:t>
            </a:r>
          </a:p>
        </p:txBody>
      </p:sp>
      <p:sp>
        <p:nvSpPr>
          <p:cNvPr id="3" name="Text Placeholder 2"/>
          <p:cNvSpPr>
            <a:spLocks noGrp="1"/>
          </p:cNvSpPr>
          <p:nvPr>
            <p:ph type="body" idx="36" sz="quarter"/>
          </p:nvPr>
        </p:nvSpPr>
        <p:spPr/>
        <p:txBody>
          <a:bodyPr/>
          <a:lstStyle/>
          <a:p>
            <a:r>
              <a:t>CASE STUDY  ·  THE RETAIL PITCH WIN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011680"/>
            <a:ext cx="3593592" cy="45720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9808" y="2011680"/>
            <a:ext cx="3044952" cy="457200"/>
          </a:xfrm>
          <a:prstGeom prst="rect">
            <a:avLst/>
          </a:prstGeom>
          <a:noFill/>
        </p:spPr>
        <p:txBody>
          <a:bodyPr wrap="square" lIns="0" rIns="0" tIns="0" bIns="0" anchor="ctr"/>
          <a:lstStyle/>
          <a:p>
            <a:pPr algn="l">
              <a:spcAft>
                <a:spcPts val="0"/>
              </a:spcAft>
            </a:pPr>
            <a:r>
              <a:rPr sz="1400" b="0" i="0">
                <a:solidFill>
                  <a:srgbClr val="FFFFFF"/>
                </a:solidFill>
                <a:latin typeface="DM Sans 14pt SemiBold"/>
              </a:rPr>
              <a:t>PULSE CAMPAIGNS</a:t>
            </a:r>
          </a:p>
        </p:txBody>
      </p:sp>
      <p:sp>
        <p:nvSpPr>
          <p:cNvPr id="23" name="Rectangle 22"/>
          <p:cNvSpPr/>
          <p:nvPr/>
        </p:nvSpPr>
        <p:spPr>
          <a:xfrm>
            <a:off x="475488" y="2468880"/>
            <a:ext cx="3593592" cy="2148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2606040"/>
            <a:ext cx="3044952" cy="822960"/>
          </a:xfrm>
          <a:prstGeom prst="rect">
            <a:avLst/>
          </a:prstGeom>
          <a:noFill/>
        </p:spPr>
        <p:txBody>
          <a:bodyPr wrap="square" lIns="0" rIns="0" tIns="0" bIns="0" anchor="t"/>
          <a:lstStyle/>
          <a:p>
            <a:pPr algn="l">
              <a:spcAft>
                <a:spcPts val="0"/>
              </a:spcAft>
            </a:pPr>
            <a:r>
              <a:rPr sz="4400" b="0" i="0">
                <a:solidFill>
                  <a:srgbClr val="122A4E"/>
                </a:solidFill>
                <a:latin typeface="DM Sans 14pt ExtraLight"/>
              </a:rPr>
              <a:t>$75K</a:t>
            </a:r>
            <a:r>
              <a:rPr sz="1400" b="0" i="0">
                <a:solidFill>
                  <a:srgbClr val="6B6B6B"/>
                </a:solidFill>
                <a:latin typeface="DM Sans 14pt"/>
              </a:rPr>
              <a:t>  per campaign</a:t>
            </a:r>
          </a:p>
        </p:txBody>
      </p:sp>
      <p:sp>
        <p:nvSpPr>
          <p:cNvPr id="25" name="TextBox 24"/>
          <p:cNvSpPr txBox="1"/>
          <p:nvPr/>
        </p:nvSpPr>
        <p:spPr>
          <a:xfrm>
            <a:off x="749808" y="3520440"/>
            <a:ext cx="3044952" cy="100584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Targeted 2-platform digital activations. Client dials volume up or down with zero hourly renegotiation.</a:t>
            </a:r>
          </a:p>
        </p:txBody>
      </p:sp>
      <p:sp>
        <p:nvSpPr>
          <p:cNvPr id="26" name="Rectangle 25"/>
          <p:cNvSpPr/>
          <p:nvPr/>
        </p:nvSpPr>
        <p:spPr>
          <a:xfrm>
            <a:off x="4297679" y="2011680"/>
            <a:ext cx="3593592" cy="457200"/>
          </a:xfrm>
          <a:prstGeom prst="rect">
            <a:avLst/>
          </a:prstGeom>
          <a:solidFill>
            <a:srgbClr val="005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1999" y="2011680"/>
            <a:ext cx="3044952" cy="457200"/>
          </a:xfrm>
          <a:prstGeom prst="rect">
            <a:avLst/>
          </a:prstGeom>
          <a:noFill/>
        </p:spPr>
        <p:txBody>
          <a:bodyPr wrap="square" lIns="0" rIns="0" tIns="0" bIns="0" anchor="ctr"/>
          <a:lstStyle/>
          <a:p>
            <a:pPr algn="l">
              <a:spcAft>
                <a:spcPts val="0"/>
              </a:spcAft>
            </a:pPr>
            <a:r>
              <a:rPr sz="1400" b="0" i="0">
                <a:solidFill>
                  <a:srgbClr val="FFFFFF"/>
                </a:solidFill>
                <a:latin typeface="DM Sans 14pt SemiBold"/>
              </a:rPr>
              <a:t>MILESTONE ACTIVATIONS</a:t>
            </a:r>
          </a:p>
        </p:txBody>
      </p:sp>
      <p:sp>
        <p:nvSpPr>
          <p:cNvPr id="28" name="Rectangle 27"/>
          <p:cNvSpPr/>
          <p:nvPr/>
        </p:nvSpPr>
        <p:spPr>
          <a:xfrm>
            <a:off x="4297679" y="2468880"/>
            <a:ext cx="3593592" cy="2148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571999" y="2606040"/>
            <a:ext cx="3044952" cy="822960"/>
          </a:xfrm>
          <a:prstGeom prst="rect">
            <a:avLst/>
          </a:prstGeom>
          <a:noFill/>
        </p:spPr>
        <p:txBody>
          <a:bodyPr wrap="square" lIns="0" rIns="0" tIns="0" bIns="0" anchor="t"/>
          <a:lstStyle/>
          <a:p>
            <a:pPr algn="l">
              <a:spcAft>
                <a:spcPts val="0"/>
              </a:spcAft>
            </a:pPr>
            <a:r>
              <a:rPr sz="4400" b="0" i="0">
                <a:solidFill>
                  <a:srgbClr val="122A4E"/>
                </a:solidFill>
                <a:latin typeface="DM Sans 14pt ExtraLight"/>
              </a:rPr>
              <a:t>$500K</a:t>
            </a:r>
            <a:r>
              <a:rPr sz="1400" b="0" i="0">
                <a:solidFill>
                  <a:srgbClr val="6B6B6B"/>
                </a:solidFill>
                <a:latin typeface="DM Sans 14pt"/>
              </a:rPr>
              <a:t>  per activation</a:t>
            </a:r>
          </a:p>
        </p:txBody>
      </p:sp>
      <p:sp>
        <p:nvSpPr>
          <p:cNvPr id="30" name="TextBox 29"/>
          <p:cNvSpPr txBox="1"/>
          <p:nvPr/>
        </p:nvSpPr>
        <p:spPr>
          <a:xfrm>
            <a:off x="4571999" y="3520440"/>
            <a:ext cx="3044952" cy="100584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Full multi-channel brand moments, full creative production included.</a:t>
            </a:r>
          </a:p>
        </p:txBody>
      </p:sp>
      <p:sp>
        <p:nvSpPr>
          <p:cNvPr id="31" name="Rectangle 30"/>
          <p:cNvSpPr/>
          <p:nvPr/>
        </p:nvSpPr>
        <p:spPr>
          <a:xfrm>
            <a:off x="8119871" y="2011680"/>
            <a:ext cx="3593592" cy="457200"/>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94192" y="2011680"/>
            <a:ext cx="3044952" cy="457200"/>
          </a:xfrm>
          <a:prstGeom prst="rect">
            <a:avLst/>
          </a:prstGeom>
          <a:noFill/>
        </p:spPr>
        <p:txBody>
          <a:bodyPr wrap="square" lIns="0" rIns="0" tIns="0" bIns="0" anchor="ctr"/>
          <a:lstStyle/>
          <a:p>
            <a:pPr algn="l">
              <a:spcAft>
                <a:spcPts val="0"/>
              </a:spcAft>
            </a:pPr>
            <a:r>
              <a:rPr sz="1400" b="0" i="0">
                <a:solidFill>
                  <a:srgbClr val="FFFFFF"/>
                </a:solidFill>
                <a:latin typeface="DM Sans 14pt SemiBold"/>
              </a:rPr>
              <a:t>STRATEGIC STEWARDSHIP</a:t>
            </a:r>
          </a:p>
        </p:txBody>
      </p:sp>
      <p:sp>
        <p:nvSpPr>
          <p:cNvPr id="33" name="Rectangle 32"/>
          <p:cNvSpPr/>
          <p:nvPr/>
        </p:nvSpPr>
        <p:spPr>
          <a:xfrm>
            <a:off x="8119871" y="2468880"/>
            <a:ext cx="3593592" cy="2148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94192" y="2606040"/>
            <a:ext cx="3044952" cy="822960"/>
          </a:xfrm>
          <a:prstGeom prst="rect">
            <a:avLst/>
          </a:prstGeom>
          <a:noFill/>
        </p:spPr>
        <p:txBody>
          <a:bodyPr wrap="square" lIns="0" rIns="0" tIns="0" bIns="0" anchor="t"/>
          <a:lstStyle/>
          <a:p>
            <a:pPr algn="l">
              <a:spcAft>
                <a:spcPts val="0"/>
              </a:spcAft>
            </a:pPr>
            <a:r>
              <a:rPr sz="4400" b="0" i="0">
                <a:solidFill>
                  <a:srgbClr val="122A4E"/>
                </a:solidFill>
                <a:latin typeface="DM Sans 14pt ExtraLight"/>
              </a:rPr>
              <a:t>$25K</a:t>
            </a:r>
            <a:r>
              <a:rPr sz="1400" b="0" i="0">
                <a:solidFill>
                  <a:srgbClr val="6B6B6B"/>
                </a:solidFill>
                <a:latin typeface="DM Sans 14pt"/>
              </a:rPr>
              <a:t>  per month</a:t>
            </a:r>
          </a:p>
        </p:txBody>
      </p:sp>
      <p:sp>
        <p:nvSpPr>
          <p:cNvPr id="35" name="TextBox 34"/>
          <p:cNvSpPr txBox="1"/>
          <p:nvPr/>
        </p:nvSpPr>
        <p:spPr>
          <a:xfrm>
            <a:off x="8394192" y="3520440"/>
            <a:ext cx="3044952" cy="100584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Ongoing continuity, reporting and strategic advisory.</a:t>
            </a:r>
          </a:p>
        </p:txBody>
      </p:sp>
      <p:sp>
        <p:nvSpPr>
          <p:cNvPr id="36" name="Rectangle 35"/>
          <p:cNvSpPr/>
          <p:nvPr/>
        </p:nvSpPr>
        <p:spPr>
          <a:xfrm>
            <a:off x="475488" y="4846320"/>
            <a:ext cx="11237976" cy="86868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 y="4846320"/>
            <a:ext cx="10698480" cy="868680"/>
          </a:xfrm>
          <a:prstGeom prst="rect">
            <a:avLst/>
          </a:prstGeom>
          <a:noFill/>
        </p:spPr>
        <p:txBody>
          <a:bodyPr wrap="square" lIns="0" rIns="0" tIns="0" bIns="0" anchor="ctr"/>
          <a:lstStyle/>
          <a:p>
            <a:pPr algn="l">
              <a:spcAft>
                <a:spcPts val="0"/>
              </a:spcAft>
            </a:pPr>
            <a:r>
              <a:rPr sz="2000" b="0" i="0">
                <a:solidFill>
                  <a:srgbClr val="FFFFFF"/>
                </a:solidFill>
                <a:latin typeface="DM Sans 14pt SemiBold"/>
              </a:rPr>
              <a:t>The underdog won.  </a:t>
            </a:r>
            <a:r>
              <a:rPr sz="2000" b="0" i="0">
                <a:solidFill>
                  <a:srgbClr val="FFFFFF"/>
                </a:solidFill>
                <a:latin typeface="DM Sans 14pt ExtraLight"/>
              </a:rPr>
              <a:t>Creative mattered, but the commercial model was the deciding factor.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What we gain: speed, margin and sanity</a:t>
            </a:r>
          </a:p>
        </p:txBody>
      </p:sp>
      <p:sp>
        <p:nvSpPr>
          <p:cNvPr id="3" name="Text Placeholder 2"/>
          <p:cNvSpPr>
            <a:spLocks noGrp="1"/>
          </p:cNvSpPr>
          <p:nvPr>
            <p:ph type="body" idx="36" sz="quarter"/>
          </p:nvPr>
        </p:nvSpPr>
        <p:spPr/>
        <p:txBody>
          <a:bodyPr/>
          <a:lstStyle/>
          <a:p>
            <a:r>
              <a:t>THE COMMERCIAL OPERATING SYSTEM</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011680"/>
            <a:ext cx="5486400" cy="22402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95528" y="2176272"/>
            <a:ext cx="4846320"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FOR THE CLIENT</a:t>
            </a:r>
          </a:p>
        </p:txBody>
      </p:sp>
      <p:sp>
        <p:nvSpPr>
          <p:cNvPr id="23" name="TextBox 22"/>
          <p:cNvSpPr txBox="1"/>
          <p:nvPr/>
        </p:nvSpPr>
        <p:spPr>
          <a:xfrm>
            <a:off x="795528" y="2606040"/>
            <a:ext cx="4846320" cy="1600200"/>
          </a:xfrm>
          <a:prstGeom prst="rect">
            <a:avLst/>
          </a:prstGeom>
          <a:noFill/>
        </p:spPr>
        <p:txBody>
          <a:bodyPr wrap="square" lIns="0" rIns="0" tIns="0" bIns="0" anchor="t"/>
          <a:lstStyle/>
          <a:p>
            <a:pPr algn="l" marL="201168" indent="-201168">
              <a:spcAft>
                <a:spcPts val="300"/>
              </a:spcAft>
              <a:buClr>
                <a:srgbClr val="FF3333"/>
              </a:buClr>
              <a:buFont typeface="Arial"/>
              <a:buChar char="•"/>
            </a:pPr>
            <a:r>
              <a:rPr sz="1600" b="0" i="0">
                <a:solidFill>
                  <a:srgbClr val="122A4E"/>
                </a:solidFill>
                <a:latin typeface="DM Sans 14pt"/>
              </a:rPr>
              <a:t>Total clarity on deliverables</a:t>
            </a:r>
          </a:p>
          <a:p>
            <a:pPr algn="l" marL="201168" indent="-201168">
              <a:spcAft>
                <a:spcPts val="300"/>
              </a:spcAft>
              <a:buClr>
                <a:srgbClr val="FF3333"/>
              </a:buClr>
              <a:buFont typeface="Arial"/>
              <a:buChar char="•"/>
            </a:pPr>
            <a:r>
              <a:rPr sz="1600" b="0" i="0">
                <a:solidFill>
                  <a:srgbClr val="122A4E"/>
                </a:solidFill>
                <a:latin typeface="DM Sans 14pt"/>
              </a:rPr>
              <a:t>Flexibility without re-contracting</a:t>
            </a:r>
          </a:p>
          <a:p>
            <a:pPr algn="l" marL="201168" indent="-201168">
              <a:spcAft>
                <a:spcPts val="300"/>
              </a:spcAft>
              <a:buClr>
                <a:srgbClr val="FF3333"/>
              </a:buClr>
              <a:buFont typeface="Arial"/>
              <a:buChar char="•"/>
            </a:pPr>
            <a:r>
              <a:rPr sz="1600" b="0" i="0">
                <a:solidFill>
                  <a:srgbClr val="122A4E"/>
                </a:solidFill>
                <a:latin typeface="DM Sans 14pt"/>
              </a:rPr>
              <a:t>Budget certainty</a:t>
            </a:r>
          </a:p>
        </p:txBody>
      </p:sp>
      <p:sp>
        <p:nvSpPr>
          <p:cNvPr id="24" name="Rectangle 23"/>
          <p:cNvSpPr/>
          <p:nvPr/>
        </p:nvSpPr>
        <p:spPr>
          <a:xfrm>
            <a:off x="6227064" y="2011680"/>
            <a:ext cx="5486400" cy="224028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47104" y="2176272"/>
            <a:ext cx="4846320" cy="320040"/>
          </a:xfrm>
          <a:prstGeom prst="rect">
            <a:avLst/>
          </a:prstGeom>
          <a:noFill/>
        </p:spPr>
        <p:txBody>
          <a:bodyPr wrap="square" lIns="0" rIns="0" tIns="0" bIns="0" anchor="t"/>
          <a:lstStyle/>
          <a:p>
            <a:pPr algn="l">
              <a:spcAft>
                <a:spcPts val="0"/>
              </a:spcAft>
            </a:pPr>
            <a:r>
              <a:rPr sz="1400" b="0" i="0">
                <a:solidFill>
                  <a:srgbClr val="66CCCC"/>
                </a:solidFill>
                <a:latin typeface="DM Sans 14pt SemiBold"/>
              </a:rPr>
              <a:t>FOR WTA ACCOUNT LEADS</a:t>
            </a:r>
          </a:p>
        </p:txBody>
      </p:sp>
      <p:sp>
        <p:nvSpPr>
          <p:cNvPr id="26" name="TextBox 25"/>
          <p:cNvSpPr txBox="1"/>
          <p:nvPr/>
        </p:nvSpPr>
        <p:spPr>
          <a:xfrm>
            <a:off x="6547104" y="2606040"/>
            <a:ext cx="4846320" cy="1600200"/>
          </a:xfrm>
          <a:prstGeom prst="rect">
            <a:avLst/>
          </a:prstGeom>
          <a:noFill/>
        </p:spPr>
        <p:txBody>
          <a:bodyPr wrap="square" lIns="0" rIns="0" tIns="0" bIns="0" anchor="t"/>
          <a:lstStyle/>
          <a:p>
            <a:pPr algn="l" marL="201168" indent="-201168">
              <a:spcAft>
                <a:spcPts val="300"/>
              </a:spcAft>
              <a:buClr>
                <a:srgbClr val="66CCCC"/>
              </a:buClr>
              <a:buFont typeface="Arial"/>
              <a:buChar char="•"/>
            </a:pPr>
            <a:r>
              <a:rPr sz="1600" b="0" i="0">
                <a:solidFill>
                  <a:srgbClr val="FFFFFF"/>
                </a:solidFill>
                <a:latin typeface="DM Sans 14pt"/>
              </a:rPr>
              <a:t>Faster speed to sale</a:t>
            </a:r>
          </a:p>
          <a:p>
            <a:pPr algn="l" marL="201168" indent="-201168">
              <a:spcAft>
                <a:spcPts val="300"/>
              </a:spcAft>
              <a:buClr>
                <a:srgbClr val="66CCCC"/>
              </a:buClr>
              <a:buFont typeface="Arial"/>
              <a:buChar char="•"/>
            </a:pPr>
            <a:r>
              <a:rPr sz="1600" b="0" i="0">
                <a:solidFill>
                  <a:srgbClr val="FFFFFF"/>
                </a:solidFill>
                <a:latin typeface="DM Sans 14pt"/>
              </a:rPr>
              <a:t>No timesheet arguments with clients</a:t>
            </a:r>
          </a:p>
          <a:p>
            <a:pPr algn="l" marL="201168" indent="-201168">
              <a:spcAft>
                <a:spcPts val="300"/>
              </a:spcAft>
              <a:buClr>
                <a:srgbClr val="66CCCC"/>
              </a:buClr>
              <a:buFont typeface="Arial"/>
              <a:buChar char="•"/>
            </a:pPr>
            <a:r>
              <a:rPr sz="1600" b="0" i="0">
                <a:solidFill>
                  <a:srgbClr val="FFFFFF"/>
                </a:solidFill>
                <a:latin typeface="DM Sans 14pt"/>
              </a:rPr>
              <a:t>Clear, simple change orders</a:t>
            </a:r>
          </a:p>
          <a:p>
            <a:pPr algn="l" marL="201168" indent="-201168">
              <a:spcAft>
                <a:spcPts val="300"/>
              </a:spcAft>
              <a:buClr>
                <a:srgbClr val="66CCCC"/>
              </a:buClr>
              <a:buFont typeface="Arial"/>
              <a:buChar char="•"/>
            </a:pPr>
            <a:r>
              <a:rPr sz="1600" b="0" i="0">
                <a:solidFill>
                  <a:srgbClr val="FFFFFF"/>
                </a:solidFill>
                <a:latin typeface="DM Sans 14pt"/>
              </a:rPr>
              <a:t>Delivery runs proven solution sets</a:t>
            </a:r>
          </a:p>
        </p:txBody>
      </p:sp>
      <p:sp>
        <p:nvSpPr>
          <p:cNvPr id="27" name="Rectangle 26"/>
          <p:cNvSpPr/>
          <p:nvPr/>
        </p:nvSpPr>
        <p:spPr>
          <a:xfrm>
            <a:off x="475488" y="4480560"/>
            <a:ext cx="11237976" cy="1234440"/>
          </a:xfrm>
          <a:prstGeom prst="rect">
            <a:avLst/>
          </a:prstGeom>
          <a:no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7240" y="4480560"/>
            <a:ext cx="10698480" cy="1234440"/>
          </a:xfrm>
          <a:prstGeom prst="rect">
            <a:avLst/>
          </a:prstGeom>
          <a:noFill/>
        </p:spPr>
        <p:txBody>
          <a:bodyPr wrap="square" lIns="0" rIns="0" tIns="0" bIns="0" anchor="ctr"/>
          <a:lstStyle/>
          <a:p>
            <a:pPr algn="l">
              <a:spcAft>
                <a:spcPts val="400"/>
              </a:spcAft>
            </a:pPr>
            <a:r>
              <a:rPr sz="1200" b="0" i="0">
                <a:solidFill>
                  <a:srgbClr val="6B6B6B"/>
                </a:solidFill>
                <a:latin typeface="DM Sans 14pt SemiBold"/>
              </a:rPr>
              <a:t>CASE STUDY PLACEHOLDER</a:t>
            </a:r>
          </a:p>
          <a:p>
            <a:pPr algn="l">
              <a:spcAft>
                <a:spcPts val="0"/>
              </a:spcAft>
            </a:pPr>
            <a:r>
              <a:rPr sz="1800" b="0" i="0">
                <a:solidFill>
                  <a:srgbClr val="6B6B6B"/>
                </a:solidFill>
                <a:latin typeface="DM Sans 14pt ExtraLight"/>
              </a:rPr>
              <a:t>Supporting case study and results to be added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1237976" cy="0"/>
          </a:xfrm>
        </p:spPr>
        <p:txBody>
          <a:bodyPr/>
          <a:lstStyle/>
          <a:p>
            <a:r>
              <a:rPr sz="4000"/>
              <a:t>The WTA phased rollout</a:t>
            </a:r>
          </a:p>
        </p:txBody>
      </p:sp>
      <p:sp>
        <p:nvSpPr>
          <p:cNvPr id="3" name="Text Placeholder 2"/>
          <p:cNvSpPr>
            <a:spLocks noGrp="1"/>
          </p:cNvSpPr>
          <p:nvPr>
            <p:ph type="body" idx="36" sz="quarter"/>
          </p:nvPr>
        </p:nvSpPr>
        <p:spPr/>
        <p:txBody>
          <a:bodyPr/>
          <a:lstStyle/>
          <a:p>
            <a:r>
              <a:t>THE COMMERCIAL OPERATING SYSTEM</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WTA Commercial Operating System  |  Leadership Retreat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011680"/>
            <a:ext cx="3593592" cy="109728"/>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75488" y="2121408"/>
            <a:ext cx="3593592" cy="2377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9808" y="2286000"/>
            <a:ext cx="3044952" cy="320040"/>
          </a:xfrm>
          <a:prstGeom prst="rect">
            <a:avLst/>
          </a:prstGeom>
          <a:noFill/>
        </p:spPr>
        <p:txBody>
          <a:bodyPr wrap="square" lIns="0" rIns="0" tIns="0" bIns="0" anchor="t"/>
          <a:lstStyle/>
          <a:p>
            <a:pPr algn="l">
              <a:spcAft>
                <a:spcPts val="0"/>
              </a:spcAft>
            </a:pPr>
            <a:r>
              <a:rPr sz="1400" b="0" i="0">
                <a:solidFill>
                  <a:srgbClr val="122A4E"/>
                </a:solidFill>
                <a:latin typeface="DM Sans 14pt SemiBold"/>
              </a:rPr>
              <a:t>PHASE 1</a:t>
            </a:r>
          </a:p>
        </p:txBody>
      </p:sp>
      <p:sp>
        <p:nvSpPr>
          <p:cNvPr id="24" name="TextBox 23"/>
          <p:cNvSpPr txBox="1"/>
          <p:nvPr/>
        </p:nvSpPr>
        <p:spPr>
          <a:xfrm>
            <a:off x="749808" y="2606040"/>
            <a:ext cx="3044952"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Immediate / Q4</a:t>
            </a:r>
          </a:p>
        </p:txBody>
      </p:sp>
      <p:sp>
        <p:nvSpPr>
          <p:cNvPr id="25" name="TextBox 24"/>
          <p:cNvSpPr txBox="1"/>
          <p:nvPr/>
        </p:nvSpPr>
        <p:spPr>
          <a:xfrm>
            <a:off x="749808" y="3108960"/>
            <a:ext cx="3044952" cy="118872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Inbound RFPs and new business lead with Solution Sets</a:t>
            </a:r>
          </a:p>
        </p:txBody>
      </p:sp>
      <p:sp>
        <p:nvSpPr>
          <p:cNvPr id="26" name="Rectangle 25"/>
          <p:cNvSpPr/>
          <p:nvPr/>
        </p:nvSpPr>
        <p:spPr>
          <a:xfrm>
            <a:off x="4297679" y="2011680"/>
            <a:ext cx="3593592" cy="109728"/>
          </a:xfrm>
          <a:prstGeom prst="rect">
            <a:avLst/>
          </a:prstGeom>
          <a:solidFill>
            <a:srgbClr val="005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297679" y="2121408"/>
            <a:ext cx="3593592" cy="2377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571999" y="2286000"/>
            <a:ext cx="3044952" cy="320040"/>
          </a:xfrm>
          <a:prstGeom prst="rect">
            <a:avLst/>
          </a:prstGeom>
          <a:noFill/>
        </p:spPr>
        <p:txBody>
          <a:bodyPr wrap="square" lIns="0" rIns="0" tIns="0" bIns="0" anchor="t"/>
          <a:lstStyle/>
          <a:p>
            <a:pPr algn="l">
              <a:spcAft>
                <a:spcPts val="0"/>
              </a:spcAft>
            </a:pPr>
            <a:r>
              <a:rPr sz="1400" b="0" i="0">
                <a:solidFill>
                  <a:srgbClr val="00509A"/>
                </a:solidFill>
                <a:latin typeface="DM Sans 14pt SemiBold"/>
              </a:rPr>
              <a:t>PHASE 2</a:t>
            </a:r>
          </a:p>
        </p:txBody>
      </p:sp>
      <p:sp>
        <p:nvSpPr>
          <p:cNvPr id="29" name="TextBox 28"/>
          <p:cNvSpPr txBox="1"/>
          <p:nvPr/>
        </p:nvSpPr>
        <p:spPr>
          <a:xfrm>
            <a:off x="4571999" y="2606040"/>
            <a:ext cx="3044952"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FY2027 planning</a:t>
            </a:r>
          </a:p>
        </p:txBody>
      </p:sp>
      <p:sp>
        <p:nvSpPr>
          <p:cNvPr id="30" name="TextBox 29"/>
          <p:cNvSpPr txBox="1"/>
          <p:nvPr/>
        </p:nvSpPr>
        <p:spPr>
          <a:xfrm>
            <a:off x="4571999" y="3108960"/>
            <a:ext cx="3044952" cy="118872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Identify existing client contracts to transition at annual renewal, with a plan per client</a:t>
            </a:r>
          </a:p>
        </p:txBody>
      </p:sp>
      <p:sp>
        <p:nvSpPr>
          <p:cNvPr id="31" name="Rectangle 30"/>
          <p:cNvSpPr/>
          <p:nvPr/>
        </p:nvSpPr>
        <p:spPr>
          <a:xfrm>
            <a:off x="8119871" y="2011680"/>
            <a:ext cx="3593592" cy="109728"/>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119871" y="2121408"/>
            <a:ext cx="3593592" cy="2377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94192" y="2286000"/>
            <a:ext cx="3044952"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PHASE 3</a:t>
            </a:r>
          </a:p>
        </p:txBody>
      </p:sp>
      <p:sp>
        <p:nvSpPr>
          <p:cNvPr id="34" name="TextBox 33"/>
          <p:cNvSpPr txBox="1"/>
          <p:nvPr/>
        </p:nvSpPr>
        <p:spPr>
          <a:xfrm>
            <a:off x="8394192" y="2606040"/>
            <a:ext cx="3044952"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January 1, 2027</a:t>
            </a:r>
          </a:p>
        </p:txBody>
      </p:sp>
      <p:sp>
        <p:nvSpPr>
          <p:cNvPr id="35" name="TextBox 34"/>
          <p:cNvSpPr txBox="1"/>
          <p:nvPr/>
        </p:nvSpPr>
        <p:spPr>
          <a:xfrm>
            <a:off x="8394192" y="3108960"/>
            <a:ext cx="3044952" cy="118872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Full adoption across budgeting, forecasting and portfolio management</a:t>
            </a:r>
          </a:p>
        </p:txBody>
      </p:sp>
      <p:sp>
        <p:nvSpPr>
          <p:cNvPr id="36" name="Rectangle 35"/>
          <p:cNvSpPr/>
          <p:nvPr/>
        </p:nvSpPr>
        <p:spPr>
          <a:xfrm>
            <a:off x="475488" y="4754880"/>
            <a:ext cx="11237976" cy="9601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 y="4754880"/>
            <a:ext cx="10698480" cy="960120"/>
          </a:xfrm>
          <a:prstGeom prst="rect">
            <a:avLst/>
          </a:prstGeom>
          <a:noFill/>
        </p:spPr>
        <p:txBody>
          <a:bodyPr wrap="square" lIns="0" rIns="0" tIns="0" bIns="0" anchor="ctr"/>
          <a:lstStyle/>
          <a:p>
            <a:pPr algn="l">
              <a:lnSpc>
                <a:spcPct val="110000"/>
              </a:lnSpc>
              <a:spcAft>
                <a:spcPts val="0"/>
              </a:spcAft>
            </a:pPr>
            <a:r>
              <a:rPr sz="1600" b="0" i="0">
                <a:solidFill>
                  <a:srgbClr val="66CCCC"/>
                </a:solidFill>
                <a:latin typeface="DM Sans 14pt SemiBold"/>
              </a:rPr>
              <a:t>Where we start  </a:t>
            </a:r>
            <a:r>
              <a:rPr sz="1600" b="0" i="0">
                <a:solidFill>
                  <a:srgbClr val="FFFFFF"/>
                </a:solidFill>
                <a:latin typeface="DM Sans 14pt"/>
              </a:rPr>
              <a:t>New business first. Existing clients follow, each with a plan for when and how the model is introduced.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36" sz="quarter"/>
          </p:nvPr>
        </p:nvSpPr>
        <p:spPr/>
        <p:txBody>
          <a:bodyPr/>
          <a:lstStyle/>
          <a:p>
            <a:r>
              <a:t>THE COMMERCIAL GOLDEN RULES</a:t>
            </a:r>
          </a:p>
        </p:txBody>
      </p:sp>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WTA Commercial Operating System  |  Leadership Retreat  |  Maple Ranch</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sp>
        <p:nvSpPr>
          <p:cNvPr id="9" name="TextBox 8"/>
          <p:cNvSpPr txBox="1"/>
          <p:nvPr/>
        </p:nvSpPr>
        <p:spPr>
          <a:xfrm>
            <a:off x="475488" y="1234440"/>
            <a:ext cx="1280160" cy="1097280"/>
          </a:xfrm>
          <a:prstGeom prst="rect">
            <a:avLst/>
          </a:prstGeom>
          <a:noFill/>
        </p:spPr>
        <p:txBody>
          <a:bodyPr wrap="square" lIns="0" rIns="0" tIns="0" bIns="0" anchor="ctr"/>
          <a:lstStyle/>
          <a:p>
            <a:pPr algn="l">
              <a:spcAft>
                <a:spcPts val="0"/>
              </a:spcAft>
            </a:pPr>
            <a:r>
              <a:rPr sz="6000" b="0" i="0">
                <a:solidFill>
                  <a:srgbClr val="FFFFFF"/>
                </a:solidFill>
                <a:latin typeface="DM Sans 14pt ExtraLight"/>
              </a:rPr>
              <a:t>01</a:t>
            </a:r>
          </a:p>
        </p:txBody>
      </p:sp>
      <p:sp>
        <p:nvSpPr>
          <p:cNvPr id="10" name="TextBox 9"/>
          <p:cNvSpPr txBox="1"/>
          <p:nvPr/>
        </p:nvSpPr>
        <p:spPr>
          <a:xfrm>
            <a:off x="1920240" y="1234440"/>
            <a:ext cx="9601200" cy="1097280"/>
          </a:xfrm>
          <a:prstGeom prst="rect">
            <a:avLst/>
          </a:prstGeom>
          <a:noFill/>
        </p:spPr>
        <p:txBody>
          <a:bodyPr wrap="square" lIns="0" rIns="0" tIns="0" bIns="0" anchor="ctr"/>
          <a:lstStyle/>
          <a:p>
            <a:pPr algn="l">
              <a:lnSpc>
                <a:spcPct val="100000"/>
              </a:lnSpc>
              <a:spcAft>
                <a:spcPts val="200"/>
              </a:spcAft>
            </a:pPr>
            <a:r>
              <a:rPr sz="3000" b="0" i="0">
                <a:solidFill>
                  <a:srgbClr val="FFFFFF"/>
                </a:solidFill>
                <a:latin typeface="DM Sans 14pt SemiBold"/>
              </a:rPr>
              <a:t>Direct Margin of 55–62%</a:t>
            </a:r>
          </a:p>
          <a:p>
            <a:pPr algn="l">
              <a:lnSpc>
                <a:spcPct val="100000"/>
              </a:lnSpc>
              <a:spcAft>
                <a:spcPts val="0"/>
              </a:spcAft>
            </a:pPr>
            <a:r>
              <a:rPr sz="2600" b="0" i="0">
                <a:solidFill>
                  <a:srgbClr val="FFFFFF"/>
                </a:solidFill>
                <a:latin typeface="DM Sans 14pt ExtraLight"/>
              </a:rPr>
              <a:t>is your primary health metric.</a:t>
            </a:r>
          </a:p>
        </p:txBody>
      </p:sp>
      <p:cxnSp>
        <p:nvCxnSpPr>
          <p:cNvPr id="11" name="Connector 10"/>
          <p:cNvCxnSpPr/>
          <p:nvPr/>
        </p:nvCxnSpPr>
        <p:spPr>
          <a:xfrm>
            <a:off x="1920240" y="2532888"/>
            <a:ext cx="9793224" cy="0"/>
          </a:xfrm>
          <a:prstGeom prst="line">
            <a:avLst/>
          </a:prstGeom>
          <a:ln w="6350">
            <a:solidFill>
              <a:srgbClr val="FFFFF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2743200"/>
            <a:ext cx="1280160" cy="1097280"/>
          </a:xfrm>
          <a:prstGeom prst="rect">
            <a:avLst/>
          </a:prstGeom>
          <a:noFill/>
        </p:spPr>
        <p:txBody>
          <a:bodyPr wrap="square" lIns="0" rIns="0" tIns="0" bIns="0" anchor="ctr"/>
          <a:lstStyle/>
          <a:p>
            <a:pPr algn="l">
              <a:spcAft>
                <a:spcPts val="0"/>
              </a:spcAft>
            </a:pPr>
            <a:r>
              <a:rPr sz="6000" b="0" i="0">
                <a:solidFill>
                  <a:srgbClr val="FFFFFF"/>
                </a:solidFill>
                <a:latin typeface="DM Sans 14pt ExtraLight"/>
              </a:rPr>
              <a:t>02</a:t>
            </a:r>
          </a:p>
        </p:txBody>
      </p:sp>
      <p:sp>
        <p:nvSpPr>
          <p:cNvPr id="13" name="TextBox 12"/>
          <p:cNvSpPr txBox="1"/>
          <p:nvPr/>
        </p:nvSpPr>
        <p:spPr>
          <a:xfrm>
            <a:off x="1920240" y="2743200"/>
            <a:ext cx="9601200" cy="1097280"/>
          </a:xfrm>
          <a:prstGeom prst="rect">
            <a:avLst/>
          </a:prstGeom>
          <a:noFill/>
        </p:spPr>
        <p:txBody>
          <a:bodyPr wrap="square" lIns="0" rIns="0" tIns="0" bIns="0" anchor="ctr"/>
          <a:lstStyle/>
          <a:p>
            <a:pPr algn="l">
              <a:lnSpc>
                <a:spcPct val="100000"/>
              </a:lnSpc>
              <a:spcAft>
                <a:spcPts val="200"/>
              </a:spcAft>
            </a:pPr>
            <a:r>
              <a:rPr sz="3000" b="0" i="0">
                <a:solidFill>
                  <a:srgbClr val="FFFFFF"/>
                </a:solidFill>
                <a:latin typeface="DM Sans 14pt SemiBold"/>
              </a:rPr>
              <a:t>Time informs our cost.</a:t>
            </a:r>
          </a:p>
          <a:p>
            <a:pPr algn="l">
              <a:lnSpc>
                <a:spcPct val="100000"/>
              </a:lnSpc>
              <a:spcAft>
                <a:spcPts val="0"/>
              </a:spcAft>
            </a:pPr>
            <a:r>
              <a:rPr sz="2600" b="0" i="0">
                <a:solidFill>
                  <a:srgbClr val="FFFFFF"/>
                </a:solidFill>
                <a:latin typeface="DM Sans 14pt ExtraLight"/>
              </a:rPr>
              <a:t>It does not define our price.</a:t>
            </a:r>
          </a:p>
        </p:txBody>
      </p:sp>
      <p:cxnSp>
        <p:nvCxnSpPr>
          <p:cNvPr id="14" name="Connector 13"/>
          <p:cNvCxnSpPr/>
          <p:nvPr/>
        </p:nvCxnSpPr>
        <p:spPr>
          <a:xfrm>
            <a:off x="1920240" y="4041648"/>
            <a:ext cx="9793224" cy="0"/>
          </a:xfrm>
          <a:prstGeom prst="line">
            <a:avLst/>
          </a:prstGeom>
          <a:ln w="6350">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75488" y="4251960"/>
            <a:ext cx="1280160" cy="1097280"/>
          </a:xfrm>
          <a:prstGeom prst="rect">
            <a:avLst/>
          </a:prstGeom>
          <a:noFill/>
        </p:spPr>
        <p:txBody>
          <a:bodyPr wrap="square" lIns="0" rIns="0" tIns="0" bIns="0" anchor="ctr"/>
          <a:lstStyle/>
          <a:p>
            <a:pPr algn="l">
              <a:spcAft>
                <a:spcPts val="0"/>
              </a:spcAft>
            </a:pPr>
            <a:r>
              <a:rPr sz="6000" b="0" i="0">
                <a:solidFill>
                  <a:srgbClr val="FFFFFF"/>
                </a:solidFill>
                <a:latin typeface="DM Sans 14pt ExtraLight"/>
              </a:rPr>
              <a:t>03</a:t>
            </a:r>
          </a:p>
        </p:txBody>
      </p:sp>
      <p:sp>
        <p:nvSpPr>
          <p:cNvPr id="16" name="TextBox 15"/>
          <p:cNvSpPr txBox="1"/>
          <p:nvPr/>
        </p:nvSpPr>
        <p:spPr>
          <a:xfrm>
            <a:off x="1920240" y="4251960"/>
            <a:ext cx="9601200" cy="1097280"/>
          </a:xfrm>
          <a:prstGeom prst="rect">
            <a:avLst/>
          </a:prstGeom>
          <a:noFill/>
        </p:spPr>
        <p:txBody>
          <a:bodyPr wrap="square" lIns="0" rIns="0" tIns="0" bIns="0" anchor="ctr"/>
          <a:lstStyle/>
          <a:p>
            <a:pPr algn="l">
              <a:lnSpc>
                <a:spcPct val="100000"/>
              </a:lnSpc>
              <a:spcAft>
                <a:spcPts val="200"/>
              </a:spcAft>
            </a:pPr>
            <a:r>
              <a:rPr sz="3000" b="0" i="0">
                <a:solidFill>
                  <a:srgbClr val="FFFFFF"/>
                </a:solidFill>
                <a:latin typeface="DM Sans 14pt SemiBold"/>
              </a:rPr>
              <a:t>Just because we can doesn’t mean we should</a:t>
            </a:r>
          </a:p>
          <a:p>
            <a:pPr algn="l">
              <a:lnSpc>
                <a:spcPct val="100000"/>
              </a:lnSpc>
              <a:spcAft>
                <a:spcPts val="0"/>
              </a:spcAft>
            </a:pPr>
            <a:r>
              <a:rPr sz="2600" b="0" i="0">
                <a:solidFill>
                  <a:srgbClr val="FFFFFF"/>
                </a:solidFill>
                <a:latin typeface="DM Sans 14pt ExtraLight"/>
              </a:rPr>
              <a:t>sell it without a defined scope.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75488" y="2011680"/>
            <a:ext cx="11237976" cy="1097280"/>
          </a:xfrm>
        </p:spPr>
        <p:txBody>
          <a:bodyPr/>
          <a:lstStyle/>
          <a:p>
            <a:r>
              <a:rPr sz="5400"/>
              <a:t>Let’s build FY2027 together</a:t>
            </a:r>
          </a:p>
        </p:txBody>
      </p:sp>
      <p:sp>
        <p:nvSpPr>
          <p:cNvPr id="3" name="Text Placeholder 2"/>
          <p:cNvSpPr>
            <a:spLocks noGrp="1"/>
          </p:cNvSpPr>
          <p:nvPr>
            <p:ph type="body" idx="16" sz="quarter"/>
          </p:nvPr>
        </p:nvSpPr>
        <p:spPr/>
        <p:txBody>
          <a:bodyPr/>
          <a:lstStyle/>
          <a:p>
            <a:pPr algn="ctr"/>
            <a:r>
              <a:rPr sz="1800" b="0" i="0">
                <a:solidFill>
                  <a:srgbClr val="FFFFFF"/>
                </a:solidFill>
                <a:latin typeface="DM Sans 14pt SemiBold"/>
              </a:rPr>
              <a:t>Closing remarks  </a:t>
            </a:r>
            <a:r>
              <a:rPr sz="1800" b="0" i="0">
                <a:solidFill>
                  <a:srgbClr val="FFFFFF"/>
                </a:solidFill>
                <a:latin typeface="DM Sans 14pt"/>
              </a:rPr>
              <a:t>Eric, CFO, and commercial leadership</a:t>
            </a:r>
          </a:p>
          <a:p>
            <a:pPr algn="ctr"/>
            <a:r>
              <a:rPr sz="1800" b="0" i="0">
                <a:solidFill>
                  <a:srgbClr val="FFFFFF"/>
                </a:solidFill>
                <a:latin typeface="DM Sans 14pt SemiBold"/>
              </a:rPr>
              <a:t>Open floor  </a:t>
            </a:r>
            <a:r>
              <a:rPr sz="1800" b="0" i="0">
                <a:solidFill>
                  <a:srgbClr val="FFFFFF"/>
                </a:solidFill>
                <a:latin typeface="DM Sans 14pt"/>
              </a:rPr>
              <a:t>Your tactical questions</a:t>
            </a:r>
          </a:p>
        </p:txBody>
      </p:sp>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WTA Commercial Operating System  |  Leadership Retreat  |  Maple Ranch</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spTree>
  </p:cSld>
  <p:clrMapOvr>
    <a:masterClrMapping/>
  </p:clrMapOvr>
</p:sld>
</file>

<file path=ppt/theme/theme1.xml><?xml version="1.0" encoding="utf-8"?>
<a:theme xmlns:a="http://schemas.openxmlformats.org/drawingml/2006/main" name="Office Theme">
  <a:themeElements>
    <a:clrScheme name="WTA Colors">
      <a:dk1>
        <a:srgbClr val="333333"/>
      </a:dk1>
      <a:lt1>
        <a:srgbClr val="F1F1F1"/>
      </a:lt1>
      <a:dk2>
        <a:srgbClr val="122A4E"/>
      </a:dk2>
      <a:lt2>
        <a:srgbClr val="FFFFFF"/>
      </a:lt2>
      <a:accent1>
        <a:srgbClr val="122A4E"/>
      </a:accent1>
      <a:accent2>
        <a:srgbClr val="00509A"/>
      </a:accent2>
      <a:accent3>
        <a:srgbClr val="FF3333"/>
      </a:accent3>
      <a:accent4>
        <a:srgbClr val="FF6633"/>
      </a:accent4>
      <a:accent5>
        <a:srgbClr val="66CCCC"/>
      </a:accent5>
      <a:accent6>
        <a:srgbClr val="FDB924"/>
      </a:accent6>
      <a:hlink>
        <a:srgbClr val="00A3DA"/>
      </a:hlink>
      <a:folHlink>
        <a:srgbClr val="FF333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spcAft>
            <a:spcPts val="600"/>
          </a:spcAft>
          <a:defRPr sz="2000" dirty="0" smtClean="0">
            <a:latin typeface="DM Sans 14pt" pitchFamily="2" charset="77"/>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2782</TotalTime>
  <Words>1360</Words>
  <Application>Microsoft Macintosh PowerPoint</Application>
  <PresentationFormat>Widescreen</PresentationFormat>
  <Paragraphs>256</Paragraphs>
  <Slides>42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DM Sans 14pt SemiBold</vt:lpstr>
      <vt:lpstr>DM Sans 14pt</vt:lpstr>
      <vt:lpstr>Arial</vt:lpstr>
      <vt:lpstr>DM Sans 14pt ExtraLight</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Selling Hours: The WTA Commercial Operating System</dc:title>
  <dc:creator>Erin Jemas, Price It Right</dc:creator>
  <cp:lastModifiedBy>Kelli Oestreich</cp:lastModifiedBy>
  <cp:revision>37</cp:revision>
  <dcterms:created xsi:type="dcterms:W3CDTF">2026-01-01T19:54:48Z</dcterms:created>
  <dcterms:modified xsi:type="dcterms:W3CDTF">2026-03-12T15:55:05Z</dcterms:modified>
  <dc:subject>Maple Ranch account leadership session</dc:subject>
</cp:coreProperties>
</file>